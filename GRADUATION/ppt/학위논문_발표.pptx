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5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. 도입" id="{4b8f54b5-0779-be3e-96a6-6ca19edcaa09}">
          <p14:sldIdLst>
            <p14:sldId id="256"/>
            <p14:sldId id="257"/>
            <p14:sldId id="258"/>
            <p14:sldId id="259"/>
          </p14:sldIdLst>
        </p14:section>
        <p14:section name="II. 관련 연구·실험 환경" id="{258f107f-aa8a-bbc8-04ba-6a9407593b3a}">
          <p14:sldIdLst>
            <p14:sldId id="260"/>
            <p14:sldId id="261"/>
          </p14:sldIdLst>
        </p14:section>
        <p14:section name="III. 제3장 PCB 결함 패치 증강" id="{858a4fd0-f930-83a1-dccf-149712ed1119}">
          <p14:sldIdLst>
            <p14:sldId id="262"/>
            <p14:sldId id="263"/>
            <p14:sldId id="264"/>
          </p14:sldIdLst>
        </p14:section>
        <p14:section name="IV. 제4장 ControlNet + ROI + Poisson" id="{6eae4a05-c37d-0fbd-0134-3d04139dbc78}">
          <p14:sldIdLst>
            <p14:sldId id="265"/>
            <p14:sldId id="266"/>
            <p14:sldId id="267"/>
          </p14:sldIdLst>
        </p14:section>
        <p14:section name="V. 제5장 AROMA" id="{9e60ed86-eecb-fdba-5ecf-4de029613ba9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VI. 제6장 CASDA" id="{f731905a-b18d-faca-250a-5da385709feb}">
          <p14:sldIdLst>
            <p14:sldId id="280"/>
            <p14:sldId id="281"/>
            <p14:sldId id="282"/>
            <p14:sldId id="283"/>
            <p14:sldId id="284"/>
          </p14:sldIdLst>
        </p14:section>
        <p14:section name="VII. 결론" id="{3e2ef6f3-c926-a1b4-b615-f15d5e0275df}">
          <p14:sldIdLst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15815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8s Basic</c:v>
                  </c:pt>
                  <c:pt idx="1">
                    <c:v>8s GAN</c:v>
                  </c:pt>
                  <c:pt idx="2">
                    <c:v>8s Diffusion</c:v>
                  </c:pt>
                  <c:pt idx="3">
                    <c:v>8m Basic</c:v>
                  </c:pt>
                  <c:pt idx="4">
                    <c:v>8m GAN</c:v>
                  </c:pt>
                  <c:pt idx="5">
                    <c:v>8m Diffusion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0.94</c:v>
                </c:pt>
                <c:pt idx="1">
                  <c:v>0.94</c:v>
                </c:pt>
                <c:pt idx="2">
                  <c:v>0.96</c:v>
                </c:pt>
                <c:pt idx="3">
                  <c:v>0.97</c:v>
                </c:pt>
                <c:pt idx="4">
                  <c:v>0.96</c:v>
                </c:pt>
                <c:pt idx="5">
                  <c:v>0.96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mAP50-95</c:v>
                </c:pt>
              </c:strCache>
            </c:strRef>
          </c:tx>
          <c:spPr>
            <a:solidFill>
              <a:srgbClr val="ED561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8s Basic</c:v>
                  </c:pt>
                  <c:pt idx="1">
                    <c:v>8s GAN</c:v>
                  </c:pt>
                  <c:pt idx="2">
                    <c:v>8s Diffusion</c:v>
                  </c:pt>
                  <c:pt idx="3">
                    <c:v>8m Basic</c:v>
                  </c:pt>
                  <c:pt idx="4">
                    <c:v>8m GAN</c:v>
                  </c:pt>
                  <c:pt idx="5">
                    <c:v>8m Diffusion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0.49</c:v>
                </c:pt>
                <c:pt idx="1">
                  <c:v>0.49</c:v>
                </c:pt>
                <c:pt idx="2">
                  <c:v>0.51</c:v>
                </c:pt>
                <c:pt idx="3">
                  <c:v>0.54</c:v>
                </c:pt>
                <c:pt idx="4">
                  <c:v>0.52</c:v>
                </c:pt>
                <c:pt idx="5">
                  <c:v>0.53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Basic_s</c:v>
                  </c:pt>
                  <c:pt idx="1">
                    <c:v>Diffusion_s</c:v>
                  </c:pt>
                  <c:pt idx="2">
                    <c:v>Gan_s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1.61</c:v>
                </c:pt>
                <c:pt idx="1">
                  <c:v>1.17</c:v>
                </c:pt>
                <c:pt idx="2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Loss</c:v>
                </c:pt>
              </c:strCache>
            </c:strRef>
          </c:tx>
          <c:spPr>
            <a:solidFill>
              <a:srgbClr val="ED561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Basic_s</c:v>
                  </c:pt>
                  <c:pt idx="1">
                    <c:v>Diffusion_s</c:v>
                  </c:pt>
                  <c:pt idx="2">
                    <c:v>Gan_s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1.63</c:v>
                </c:pt>
                <c:pt idx="1">
                  <c:v>1.7</c:v>
                </c:pt>
                <c:pt idx="2">
                  <c:v>1.72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DD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ResNet34 mIoU</c:v>
                </c:pt>
              </c:strCache>
            </c:strRef>
          </c:tx>
          <c:spPr>
            <a:solidFill>
              <a:srgbClr val="ED561B"/>
            </a:solidFill>
            <a:ln w="25400" cap="flat">
              <a:solidFill>
                <a:srgbClr val="ED561B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D561B"/>
              </a:solidFill>
              <a:ln w="9525" cap="flat">
                <a:solidFill>
                  <a:srgbClr val="ED56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Real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0.5667</c:v>
                </c:pt>
                <c:pt idx="1">
                  <c:v>0.8069</c:v>
                </c:pt>
                <c:pt idx="2">
                  <c:v>0.8919</c:v>
                </c:pt>
                <c:pt idx="3">
                  <c:v>0.8071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EfficientNet mIoU</c:v>
                </c:pt>
              </c:strCache>
            </c:strRef>
          </c:tx>
          <c:spPr>
            <a:solidFill>
              <a:srgbClr val="158158"/>
            </a:solidFill>
            <a:ln w="25400" cap="flat">
              <a:solidFill>
                <a:srgbClr val="158158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58158"/>
              </a:solidFill>
              <a:ln w="9525" cap="flat">
                <a:solidFill>
                  <a:srgbClr val="1581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Real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0.1682</c:v>
                </c:pt>
                <c:pt idx="1">
                  <c:v>0.5378</c:v>
                </c:pt>
                <c:pt idx="2">
                  <c:v>0.5347</c:v>
                </c:pt>
                <c:pt idx="3">
                  <c:v>0.686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ResNet34 Dice</c:v>
                </c:pt>
              </c:strCache>
            </c:strRef>
          </c:tx>
          <c:spPr>
            <a:solidFill>
              <a:srgbClr val="F3A86B"/>
            </a:solidFill>
            <a:ln w="25400" cap="flat">
              <a:solidFill>
                <a:srgbClr val="F3A86B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3A86B"/>
              </a:solidFill>
              <a:ln w="9525" cap="flat">
                <a:solidFill>
                  <a:srgbClr val="F3A8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Real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0.7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0.6766</c:v>
                </c:pt>
                <c:pt idx="1">
                  <c:v>0.8799</c:v>
                </c:pt>
                <c:pt idx="2">
                  <c:v>0.94</c:v>
                </c:pt>
                <c:pt idx="3">
                  <c:v>0.8813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EfficientNet Dice</c:v>
                </c:pt>
              </c:strCache>
            </c:strRef>
          </c:tx>
          <c:spPr>
            <a:solidFill>
              <a:srgbClr val="8C8C8C"/>
            </a:solidFill>
            <a:ln w="25400" cap="flat">
              <a:solidFill>
                <a:srgbClr val="8C8C8C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Real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0.7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0.2531</c:v>
                </c:pt>
                <c:pt idx="1">
                  <c:v>0.607</c:v>
                </c:pt>
                <c:pt idx="2">
                  <c:v>0.5862</c:v>
                </c:pt>
                <c:pt idx="3">
                  <c:v>0.777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AITeX</c:v>
                  </c:pt>
                  <c:pt idx="1">
                    <c:v>Kolektor</c:v>
                  </c:pt>
                  <c:pt idx="2">
                    <c:v>Severstal</c:v>
                  </c:pt>
                  <c:pt idx="3">
                    <c:v>MTD</c:v>
                  </c:pt>
                  <c:pt idx="4">
                    <c:v>MVTec Leather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0.2039</c:v>
                </c:pt>
                <c:pt idx="1">
                  <c:v>0.974</c:v>
                </c:pt>
                <c:pt idx="2">
                  <c:v>0.4959</c:v>
                </c:pt>
                <c:pt idx="3">
                  <c:v>0.9094</c:v>
                </c:pt>
                <c:pt idx="4">
                  <c:v>0.8321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15815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AITeX</c:v>
                  </c:pt>
                  <c:pt idx="1">
                    <c:v>Kolektor</c:v>
                  </c:pt>
                  <c:pt idx="2">
                    <c:v>Severstal</c:v>
                  </c:pt>
                  <c:pt idx="3">
                    <c:v>MTD</c:v>
                  </c:pt>
                  <c:pt idx="4">
                    <c:v>MVTec Leather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0.4187</c:v>
                </c:pt>
                <c:pt idx="1">
                  <c:v>0.9938</c:v>
                </c:pt>
                <c:pt idx="2">
                  <c:v>0.4935</c:v>
                </c:pt>
                <c:pt idx="3">
                  <c:v>0.9465</c:v>
                </c:pt>
                <c:pt idx="4">
                  <c:v>0.8543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AROMA</c:v>
                </c:pt>
              </c:strCache>
            </c:strRef>
          </c:tx>
          <c:spPr>
            <a:solidFill>
              <a:srgbClr val="ED561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AITeX</c:v>
                  </c:pt>
                  <c:pt idx="1">
                    <c:v>Kolektor</c:v>
                  </c:pt>
                  <c:pt idx="2">
                    <c:v>Severstal</c:v>
                  </c:pt>
                  <c:pt idx="3">
                    <c:v>MTD</c:v>
                  </c:pt>
                  <c:pt idx="4">
                    <c:v>MVTec Leather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0.4683</c:v>
                </c:pt>
                <c:pt idx="1">
                  <c:v>0.987</c:v>
                </c:pt>
                <c:pt idx="2">
                  <c:v>0.5041</c:v>
                </c:pt>
                <c:pt idx="3">
                  <c:v>0.944</c:v>
                </c:pt>
                <c:pt idx="4">
                  <c:v>0.8052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(Raw)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mAP@0.5</c:v>
                  </c:pt>
                  <c:pt idx="1">
                    <c:v>Class 1</c:v>
                  </c:pt>
                  <c:pt idx="2">
                    <c:v>Class 2</c:v>
                  </c:pt>
                  <c:pt idx="3">
                    <c:v>Class 3</c:v>
                  </c:pt>
                  <c:pt idx="4">
                    <c:v>Class 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0.2936</c:v>
                </c:pt>
                <c:pt idx="1">
                  <c:v>0.149</c:v>
                </c:pt>
                <c:pt idx="2">
                  <c:v>0.2548</c:v>
                </c:pt>
                <c:pt idx="3">
                  <c:v>0.3966</c:v>
                </c:pt>
                <c:pt idx="4">
                  <c:v>0.3739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Copy-Paste</c:v>
                </c:pt>
              </c:strCache>
            </c:strRef>
          </c:tx>
          <c:spPr>
            <a:solidFill>
              <a:srgbClr val="15815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mAP@0.5</c:v>
                  </c:pt>
                  <c:pt idx="1">
                    <c:v>Class 1</c:v>
                  </c:pt>
                  <c:pt idx="2">
                    <c:v>Class 2</c:v>
                  </c:pt>
                  <c:pt idx="3">
                    <c:v>Class 3</c:v>
                  </c:pt>
                  <c:pt idx="4">
                    <c:v>Class 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0.2722</c:v>
                </c:pt>
                <c:pt idx="1">
                  <c:v>0.1479</c:v>
                </c:pt>
                <c:pt idx="2">
                  <c:v>0.055</c:v>
                </c:pt>
                <c:pt idx="3">
                  <c:v>0.4594</c:v>
                </c:pt>
                <c:pt idx="4">
                  <c:v>0.4266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CASDA</c:v>
                </c:pt>
              </c:strCache>
            </c:strRef>
          </c:tx>
          <c:spPr>
            <a:solidFill>
              <a:srgbClr val="ED561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mAP@0.5</c:v>
                  </c:pt>
                  <c:pt idx="1">
                    <c:v>Class 1</c:v>
                  </c:pt>
                  <c:pt idx="2">
                    <c:v>Class 2</c:v>
                  </c:pt>
                  <c:pt idx="3">
                    <c:v>Class 3</c:v>
                  </c:pt>
                  <c:pt idx="4">
                    <c:v>Class 4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0.3196</c:v>
                </c:pt>
                <c:pt idx="1">
                  <c:v>0.2493</c:v>
                </c:pt>
                <c:pt idx="2">
                  <c:v>0.2759</c:v>
                </c:pt>
                <c:pt idx="3">
                  <c:v>0.4287</c:v>
                </c:pt>
                <c:pt idx="4">
                  <c:v>0.3246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D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83080"/>
            <a:ext cx="384048" cy="45720"/>
          </a:xfrm>
          <a:prstGeom prst="rect">
            <a:avLst/>
          </a:prstGeom>
          <a:solidFill>
            <a:srgbClr val="158158"/>
          </a:solidFill>
          <a:ln w="12700">
            <a:solidFill>
              <a:srgbClr val="1581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" y="1783080"/>
            <a:ext cx="384048" cy="45720"/>
          </a:xfrm>
          <a:prstGeom prst="rect">
            <a:avLst/>
          </a:prstGeom>
          <a:solidFill>
            <a:srgbClr val="ED561B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965960"/>
            <a:ext cx="1109167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931920"/>
            <a:ext cx="11091672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595959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261872"/>
            <a:ext cx="384048" cy="45720"/>
          </a:xfrm>
          <a:prstGeom prst="rect">
            <a:avLst/>
          </a:prstGeom>
          <a:solidFill>
            <a:srgbClr val="158158"/>
          </a:solidFill>
          <a:ln w="12700">
            <a:solidFill>
              <a:srgbClr val="15815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" y="1261872"/>
            <a:ext cx="384048" cy="45720"/>
          </a:xfrm>
          <a:prstGeom prst="rect">
            <a:avLst/>
          </a:prstGeom>
          <a:solidFill>
            <a:srgbClr val="ED561B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jp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96596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Context-Aware 데이터 증강 기반 산업용 결함 검출 연구</a:t>
            </a:r>
            <a:endParaRPr lang="en-US" sz="34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595959"/>
                </a:solidFill>
              </a:rPr>
              <a:t>A Study on Context-Aware Data Augmentation for Industrial Defect Detection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93192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결함 생성(What to place)과 배치(Where to place)로 이어지는 4편 연구의 발전 궤적</a:t>
            </a:r>
            <a:endParaRPr lang="en-US" sz="16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한호준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학위논문 심사 발표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제1장 서론 · 연구 배경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연구 배경: 결함은 희소하고, 데이터는 불균형하다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6" name="1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자동 외관 검사(AVI)"/>
          <p:cNvSpPr txBox="1"/>
          <p:nvPr/>
        </p:nvSpPr>
        <p:spPr>
          <a:xfrm>
            <a:off x="1737360" y="1645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자동 외관 검사(AVI)</a:t>
            </a:r>
            <a:endParaRPr lang="en-US" sz="1700" dirty="0"/>
          </a:p>
        </p:txBody>
      </p:sp>
      <p:sp>
        <p:nvSpPr>
          <p:cNvPr id="8" name="딥러닝 도입으로 검사 효율·정확도 향"/>
          <p:cNvSpPr txBox="1"/>
          <p:nvPr/>
        </p:nvSpPr>
        <p:spPr>
          <a:xfrm>
            <a:off x="1737360" y="20574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딥러닝 도입으로 검사 효율·정확도 향상. 그러나 성능은 학습 데이터 양과 질에 종속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88036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1" name="2"/>
          <p:cNvSpPr txBox="1"/>
          <p:nvPr/>
        </p:nvSpPr>
        <p:spPr>
          <a:xfrm>
            <a:off x="8229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결함 샘플의 희소성"/>
          <p:cNvSpPr txBox="1"/>
          <p:nvPr/>
        </p:nvSpPr>
        <p:spPr>
          <a:xfrm>
            <a:off x="1737360" y="3063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결함 샘플의 희소성</a:t>
            </a:r>
            <a:endParaRPr lang="en-US" sz="1700" dirty="0"/>
          </a:p>
        </p:txBody>
      </p:sp>
      <p:sp>
        <p:nvSpPr>
          <p:cNvPr id="13" name="실제 공정의 결함 발생률이 낮아 결함"/>
          <p:cNvSpPr txBox="1"/>
          <p:nvPr/>
        </p:nvSpPr>
        <p:spPr>
          <a:xfrm>
            <a:off x="1737360" y="3474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실제 공정의 결함 발생률이 낮아 결함 이미지 자체를 충분히 확보하기 어려움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429768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822960" y="45720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6" name="3"/>
          <p:cNvSpPr txBox="1"/>
          <p:nvPr/>
        </p:nvSpPr>
        <p:spPr>
          <a:xfrm>
            <a:off x="8229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클래스 불균형"/>
          <p:cNvSpPr txBox="1"/>
          <p:nvPr/>
        </p:nvSpPr>
        <p:spPr>
          <a:xfrm>
            <a:off x="1737360" y="4480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클래스 불균형</a:t>
            </a:r>
            <a:endParaRPr lang="en-US" sz="1700" dirty="0"/>
          </a:p>
        </p:txBody>
      </p:sp>
      <p:sp>
        <p:nvSpPr>
          <p:cNvPr id="18" name="정상 ≫ 결함, 결함 간에도 편중 →"/>
          <p:cNvSpPr txBox="1"/>
          <p:nvPr/>
        </p:nvSpPr>
        <p:spPr>
          <a:xfrm>
            <a:off x="1737360" y="4892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정상 ≫ 결함, 결함 간에도 편중 → 소수 결함 클래스에 과소적합 반복</a:t>
            </a:r>
            <a:endParaRPr lang="en-US" sz="1400" dirty="0"/>
          </a:p>
        </p:txBody>
      </p:sp>
      <p:sp>
        <p:nvSpPr>
          <p:cNvPr id="19" name="→ 데이터 증강으로 희소성·불균형을 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→ 데이터 증강으로 희소성·불균형을 완화하는 것이 본 논문의 출발점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제1장 서론 · 문제 정의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문제 정의: 결함 이미지 증강 = What to place + Where to place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362956" cy="3749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pill"/>
          <p:cNvSpPr/>
          <p:nvPr/>
        </p:nvSpPr>
        <p:spPr>
          <a:xfrm>
            <a:off x="822960" y="1737360"/>
            <a:ext cx="481431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pill-text"/>
          <p:cNvSpPr txBox="1"/>
          <p:nvPr/>
        </p:nvSpPr>
        <p:spPr>
          <a:xfrm>
            <a:off x="822960" y="173736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P1  생성 문제 (What to place)</a:t>
            </a:r>
            <a:endParaRPr lang="en-US" sz="1400" dirty="0"/>
          </a:p>
        </p:txBody>
      </p:sp>
      <p:sp>
        <p:nvSpPr>
          <p:cNvPr id="7" name="어떤 결함 패치를 생성·증강할 것인가"/>
          <p:cNvSpPr txBox="1"/>
          <p:nvPr/>
        </p:nvSpPr>
        <p:spPr>
          <a:xfrm>
            <a:off x="822960" y="233172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어떤 결함 패치를 생성·증강할 것인가</a:t>
            </a:r>
            <a:endParaRPr lang="en-US" sz="1400" dirty="0"/>
          </a:p>
        </p:txBody>
      </p:sp>
      <p:sp>
        <p:nvSpPr>
          <p:cNvPr id="8" name="bullets"/>
          <p:cNvSpPr txBox="1"/>
          <p:nvPr/>
        </p:nvSpPr>
        <p:spPr>
          <a:xfrm>
            <a:off x="822960" y="2971800"/>
            <a:ext cx="48143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실제 결함의 형태·구조 특성 보존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학습에 유효한 다양성 확보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품질이 낮으면 비현실적 데이터가 검출 성능 저하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277356" y="1463040"/>
            <a:ext cx="5362956" cy="3749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pill"/>
          <p:cNvSpPr/>
          <p:nvPr/>
        </p:nvSpPr>
        <p:spPr>
          <a:xfrm>
            <a:off x="6551676" y="1737360"/>
            <a:ext cx="4814316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ill-text"/>
          <p:cNvSpPr txBox="1"/>
          <p:nvPr/>
        </p:nvSpPr>
        <p:spPr>
          <a:xfrm>
            <a:off x="6551676" y="173736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P2  배치 문제 (Where to place)</a:t>
            </a:r>
            <a:endParaRPr lang="en-US" sz="1400" dirty="0"/>
          </a:p>
        </p:txBody>
      </p:sp>
      <p:sp>
        <p:nvSpPr>
          <p:cNvPr id="12" name="생성·재사용한 패치를 정상 이미지의 "/>
          <p:cNvSpPr txBox="1"/>
          <p:nvPr/>
        </p:nvSpPr>
        <p:spPr>
          <a:xfrm>
            <a:off x="6551676" y="233172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생성·재사용한 패치를 정상 이미지의 어느 ROI에 합성할 것인가</a:t>
            </a:r>
            <a:endParaRPr lang="en-US" sz="1400" dirty="0"/>
          </a:p>
        </p:txBody>
      </p:sp>
      <p:sp>
        <p:nvSpPr>
          <p:cNvPr id="13" name="bullets"/>
          <p:cNvSpPr txBox="1"/>
          <p:nvPr/>
        </p:nvSpPr>
        <p:spPr>
          <a:xfrm>
            <a:off x="6551676" y="2971800"/>
            <a:ext cx="48143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결함 발생 양상은 배경 표면의 통계·형태 특성과 연관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호환성 낮은 영역에 합성 → 실제 분포와 괴리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기존 연구: 원위치 재사용·무작위·수작업 규칙 → 일반화 한계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5" name="본 논문의 초점: 기존 연구가 P1에"/>
          <p:cNvSpPr txBox="1"/>
          <p:nvPr/>
        </p:nvSpPr>
        <p:spPr>
          <a:xfrm>
            <a:off x="822960" y="53492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본 논문의 초점: 기존 연구가 P1에 집중한 반면, P2(배치)를 데이터로부터 자동 도출하는 방향으로 고도화하고, 최종적으로 P1과 P2를 하나의 프레임워크로 통합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제1장 서론 · 연구의 발전 서사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연구 궤적: 4편의 논문이 이루는 단계적 발전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2567178" cy="329184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num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6" name="1"/>
          <p:cNvSpPr txBox="1"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제3장"/>
          <p:cNvSpPr txBox="1"/>
          <p:nvPr/>
        </p:nvSpPr>
        <p:spPr>
          <a:xfrm>
            <a:off x="1463040" y="1965960"/>
            <a:ext cx="146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제3장</a:t>
            </a:r>
            <a:endParaRPr lang="en-US" sz="1200" dirty="0"/>
          </a:p>
        </p:txBody>
      </p:sp>
      <p:sp>
        <p:nvSpPr>
          <p:cNvPr id="8" name="결함 패치 생성"/>
          <p:cNvSpPr txBox="1"/>
          <p:nvPr/>
        </p:nvSpPr>
        <p:spPr>
          <a:xfrm>
            <a:off x="777240" y="260604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결함 패치 생성</a:t>
            </a:r>
            <a:endParaRPr lang="en-US" sz="1600" dirty="0"/>
          </a:p>
        </p:txBody>
      </p:sp>
      <p:sp>
        <p:nvSpPr>
          <p:cNvPr id="9" name="YOLOv8 + GAN/Diffusi"/>
          <p:cNvSpPr txBox="1"/>
          <p:nvPr/>
        </p:nvSpPr>
        <p:spPr>
          <a:xfrm>
            <a:off x="777240" y="3383280"/>
            <a:ext cx="210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YOLOv8 + GAN/Diffusion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Copy-Paste (원위치)</a:t>
            </a:r>
            <a:endParaRPr lang="en-US" sz="1200" dirty="0"/>
          </a:p>
        </p:txBody>
      </p:sp>
      <p:sp>
        <p:nvSpPr>
          <p:cNvPr id="10" name="pill"/>
          <p:cNvSpPr/>
          <p:nvPr/>
        </p:nvSpPr>
        <p:spPr>
          <a:xfrm>
            <a:off x="777240" y="4389120"/>
            <a:ext cx="2109978" cy="347472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pill-text"/>
          <p:cNvSpPr txBox="1"/>
          <p:nvPr/>
        </p:nvSpPr>
        <p:spPr>
          <a:xfrm>
            <a:off x="777240" y="4389120"/>
            <a:ext cx="21099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P1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3134106" y="3108960"/>
            <a:ext cx="23774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3390138" y="1645920"/>
            <a:ext cx="2567178" cy="329184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num"/>
          <p:cNvSpPr/>
          <p:nvPr/>
        </p:nvSpPr>
        <p:spPr>
          <a:xfrm>
            <a:off x="3618738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5" name="2"/>
          <p:cNvSpPr txBox="1"/>
          <p:nvPr/>
        </p:nvSpPr>
        <p:spPr>
          <a:xfrm>
            <a:off x="361873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제4장"/>
          <p:cNvSpPr txBox="1"/>
          <p:nvPr/>
        </p:nvSpPr>
        <p:spPr>
          <a:xfrm>
            <a:off x="4304538" y="1965960"/>
            <a:ext cx="146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제4장</a:t>
            </a:r>
            <a:endParaRPr lang="en-US" sz="1200" dirty="0"/>
          </a:p>
        </p:txBody>
      </p:sp>
      <p:sp>
        <p:nvSpPr>
          <p:cNvPr id="17" name="ROI 탐색 도입"/>
          <p:cNvSpPr txBox="1"/>
          <p:nvPr/>
        </p:nvSpPr>
        <p:spPr>
          <a:xfrm>
            <a:off x="3618738" y="260604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ROI 탐색 도입</a:t>
            </a:r>
            <a:endParaRPr lang="en-US" sz="1600" dirty="0"/>
          </a:p>
        </p:txBody>
      </p:sp>
      <p:sp>
        <p:nvSpPr>
          <p:cNvPr id="18" name="ControlNet 생성 + 밝기 유"/>
          <p:cNvSpPr txBox="1"/>
          <p:nvPr/>
        </p:nvSpPr>
        <p:spPr>
          <a:xfrm>
            <a:off x="3618738" y="3383280"/>
            <a:ext cx="210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ControlNet 생성 + 밝기 유사도 ROI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+ Poisson blending</a:t>
            </a:r>
            <a:endParaRPr lang="en-US" sz="1200" dirty="0"/>
          </a:p>
        </p:txBody>
      </p:sp>
      <p:sp>
        <p:nvSpPr>
          <p:cNvPr id="19" name="pill"/>
          <p:cNvSpPr/>
          <p:nvPr/>
        </p:nvSpPr>
        <p:spPr>
          <a:xfrm>
            <a:off x="3618738" y="4389120"/>
            <a:ext cx="2109978" cy="347472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pill-text"/>
          <p:cNvSpPr txBox="1"/>
          <p:nvPr/>
        </p:nvSpPr>
        <p:spPr>
          <a:xfrm>
            <a:off x="3618738" y="4389120"/>
            <a:ext cx="21099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P1 + P2(휴리스틱)</a:t>
            </a:r>
            <a:endParaRPr lang="en-US" sz="1100" dirty="0"/>
          </a:p>
        </p:txBody>
      </p:sp>
      <p:sp>
        <p:nvSpPr>
          <p:cNvPr id="21" name="arrow"/>
          <p:cNvSpPr/>
          <p:nvPr/>
        </p:nvSpPr>
        <p:spPr>
          <a:xfrm>
            <a:off x="5975604" y="3108960"/>
            <a:ext cx="23774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6231636" y="1645920"/>
            <a:ext cx="2567178" cy="329184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num"/>
          <p:cNvSpPr/>
          <p:nvPr/>
        </p:nvSpPr>
        <p:spPr>
          <a:xfrm>
            <a:off x="6460236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24" name="3"/>
          <p:cNvSpPr txBox="1"/>
          <p:nvPr/>
        </p:nvSpPr>
        <p:spPr>
          <a:xfrm>
            <a:off x="646023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제5장 AROMA"/>
          <p:cNvSpPr txBox="1"/>
          <p:nvPr/>
        </p:nvSpPr>
        <p:spPr>
          <a:xfrm>
            <a:off x="7146036" y="1965960"/>
            <a:ext cx="146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제5장 AROMA</a:t>
            </a:r>
            <a:endParaRPr lang="en-US" sz="1200" dirty="0"/>
          </a:p>
        </p:txBody>
      </p:sp>
      <p:sp>
        <p:nvSpPr>
          <p:cNvPr id="26" name="데이터 기반 ROI 자동화"/>
          <p:cNvSpPr txBox="1"/>
          <p:nvPr/>
        </p:nvSpPr>
        <p:spPr>
          <a:xfrm>
            <a:off x="6460236" y="260604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데이터 기반 ROI 자동화</a:t>
            </a:r>
            <a:endParaRPr lang="en-US" sz="1600" dirty="0"/>
          </a:p>
        </p:txBody>
      </p:sp>
      <p:sp>
        <p:nvSpPr>
          <p:cNvPr id="27" name="형태·맥락 호환성 게이트 5개 도메인"/>
          <p:cNvSpPr txBox="1"/>
          <p:nvPr/>
        </p:nvSpPr>
        <p:spPr>
          <a:xfrm>
            <a:off x="6460236" y="3383280"/>
            <a:ext cx="210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형태·맥락 호환성 게이트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5개 도메인 재설계 없이 적용</a:t>
            </a:r>
            <a:endParaRPr lang="en-US" sz="1200" dirty="0"/>
          </a:p>
        </p:txBody>
      </p:sp>
      <p:sp>
        <p:nvSpPr>
          <p:cNvPr id="28" name="pill"/>
          <p:cNvSpPr/>
          <p:nvPr/>
        </p:nvSpPr>
        <p:spPr>
          <a:xfrm>
            <a:off x="6460236" y="4389120"/>
            <a:ext cx="2109978" cy="347472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pill-text"/>
          <p:cNvSpPr txBox="1"/>
          <p:nvPr/>
        </p:nvSpPr>
        <p:spPr>
          <a:xfrm>
            <a:off x="6460236" y="4389120"/>
            <a:ext cx="21099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P2(데이터 드리븐)</a:t>
            </a:r>
            <a:endParaRPr lang="en-US" sz="1100" dirty="0"/>
          </a:p>
        </p:txBody>
      </p:sp>
      <p:sp>
        <p:nvSpPr>
          <p:cNvPr id="30" name="arrow"/>
          <p:cNvSpPr/>
          <p:nvPr/>
        </p:nvSpPr>
        <p:spPr>
          <a:xfrm>
            <a:off x="8817102" y="3108960"/>
            <a:ext cx="23774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31" name="card"/>
          <p:cNvSpPr/>
          <p:nvPr/>
        </p:nvSpPr>
        <p:spPr>
          <a:xfrm>
            <a:off x="9073134" y="1645920"/>
            <a:ext cx="2567178" cy="329184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2" name="num"/>
          <p:cNvSpPr/>
          <p:nvPr/>
        </p:nvSpPr>
        <p:spPr>
          <a:xfrm>
            <a:off x="9301734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33" name="4"/>
          <p:cNvSpPr txBox="1"/>
          <p:nvPr/>
        </p:nvSpPr>
        <p:spPr>
          <a:xfrm>
            <a:off x="930173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4" name="제6장 CASDA"/>
          <p:cNvSpPr txBox="1"/>
          <p:nvPr/>
        </p:nvSpPr>
        <p:spPr>
          <a:xfrm>
            <a:off x="9987534" y="1965960"/>
            <a:ext cx="146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제6장 CASDA</a:t>
            </a:r>
            <a:endParaRPr lang="en-US" sz="1200" dirty="0"/>
          </a:p>
        </p:txBody>
      </p:sp>
      <p:sp>
        <p:nvSpPr>
          <p:cNvPr id="35" name="도메인 특화 + 생성 통합"/>
          <p:cNvSpPr txBox="1"/>
          <p:nvPr/>
        </p:nvSpPr>
        <p:spPr>
          <a:xfrm>
            <a:off x="9301734" y="260604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도메인 특화 + 생성 통합</a:t>
            </a:r>
            <a:endParaRPr lang="en-US" sz="1600" dirty="0"/>
          </a:p>
        </p:txBody>
      </p:sp>
      <p:sp>
        <p:nvSpPr>
          <p:cNvPr id="36" name="철강 특화 호환성 + ControlN"/>
          <p:cNvSpPr txBox="1"/>
          <p:nvPr/>
        </p:nvSpPr>
        <p:spPr>
          <a:xfrm>
            <a:off x="9301734" y="3383280"/>
            <a:ext cx="210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철강 특화 호환성 + ControlNet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결함 자체를 새로 생성</a:t>
            </a:r>
            <a:endParaRPr lang="en-US" sz="1200" dirty="0"/>
          </a:p>
        </p:txBody>
      </p:sp>
      <p:sp>
        <p:nvSpPr>
          <p:cNvPr id="37" name="pill"/>
          <p:cNvSpPr/>
          <p:nvPr/>
        </p:nvSpPr>
        <p:spPr>
          <a:xfrm>
            <a:off x="9301734" y="4389120"/>
            <a:ext cx="2109978" cy="347472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pill-text"/>
          <p:cNvSpPr txBox="1"/>
          <p:nvPr/>
        </p:nvSpPr>
        <p:spPr>
          <a:xfrm>
            <a:off x="9301734" y="4389120"/>
            <a:ext cx="21099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P1 + P2 통합</a:t>
            </a:r>
            <a:endParaRPr lang="en-US" sz="1100" dirty="0"/>
          </a:p>
        </p:txBody>
      </p:sp>
      <p:sp>
        <p:nvSpPr>
          <p:cNvPr id="39" name="공통 질문: &amp;quot;결함 후보 영역(ROI"/>
          <p:cNvSpPr txBox="1"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공통 질문: "결함 후보 영역(ROI)을 어떻게 찾고, 무엇을 그 자리에 배치할 것인가" — 각 단계는 이전 단계의 한계를 이어받아 범위를 좁히거나 확장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제2장 관련 연구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관련 연구: 세 갈래 접근과 각각의 한계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514344" cy="393192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pill"/>
          <p:cNvSpPr/>
          <p:nvPr/>
        </p:nvSpPr>
        <p:spPr>
          <a:xfrm>
            <a:off x="777240" y="1691640"/>
            <a:ext cx="3057144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pill-text"/>
          <p:cNvSpPr txBox="1"/>
          <p:nvPr/>
        </p:nvSpPr>
        <p:spPr>
          <a:xfrm>
            <a:off x="777240" y="16916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전통적 데이터 증강</a:t>
            </a:r>
            <a:endParaRPr lang="en-US" sz="1300" dirty="0"/>
          </a:p>
        </p:txBody>
      </p:sp>
      <p:sp>
        <p:nvSpPr>
          <p:cNvPr id="7" name="bullets"/>
          <p:cNvSpPr txBox="1"/>
          <p:nvPr/>
        </p:nvSpPr>
        <p:spPr>
          <a:xfrm>
            <a:off x="777240" y="2377440"/>
            <a:ext cx="3057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회전·반전·크기·밝기·대비 변환 [12–14]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기존 결함의 외형 변형에 의존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새로운 형태·구조 특성을 반영하기 어려움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337304" y="1463040"/>
            <a:ext cx="3514344" cy="393192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pill"/>
          <p:cNvSpPr/>
          <p:nvPr/>
        </p:nvSpPr>
        <p:spPr>
          <a:xfrm>
            <a:off x="4565904" y="1691640"/>
            <a:ext cx="3057144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ill-text"/>
          <p:cNvSpPr txBox="1"/>
          <p:nvPr/>
        </p:nvSpPr>
        <p:spPr>
          <a:xfrm>
            <a:off x="4565904" y="16916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생성모델 기반 합성</a:t>
            </a:r>
            <a:endParaRPr lang="en-US" sz="1300" dirty="0"/>
          </a:p>
        </p:txBody>
      </p:sp>
      <p:sp>
        <p:nvSpPr>
          <p:cNvPr id="11" name="bullets"/>
          <p:cNvSpPr txBox="1"/>
          <p:nvPr/>
        </p:nvSpPr>
        <p:spPr>
          <a:xfrm>
            <a:off x="4565904" y="2377440"/>
            <a:ext cx="3057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GAN [17] — Defect-GAN 등 결함 합성 [19–21]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모드 붕괴·학습 불안정으로 다양성 제한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Diffusion·ControlNet [24, 30] — 조건부 생성으로 제어성 향상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8125968" y="1463040"/>
            <a:ext cx="3514344" cy="393192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pill"/>
          <p:cNvSpPr/>
          <p:nvPr/>
        </p:nvSpPr>
        <p:spPr>
          <a:xfrm>
            <a:off x="8354568" y="1691640"/>
            <a:ext cx="3057144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ill-text"/>
          <p:cNvSpPr txBox="1"/>
          <p:nvPr/>
        </p:nvSpPr>
        <p:spPr>
          <a:xfrm>
            <a:off x="8354568" y="16916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Context-Aware · Copy-Paste</a:t>
            </a:r>
            <a:endParaRPr lang="en-US" sz="1300" dirty="0"/>
          </a:p>
        </p:txBody>
      </p:sp>
      <p:sp>
        <p:nvSpPr>
          <p:cNvPr id="15" name="bullets"/>
          <p:cNvSpPr txBox="1"/>
          <p:nvPr/>
        </p:nvSpPr>
        <p:spPr>
          <a:xfrm>
            <a:off x="8354568" y="2377440"/>
            <a:ext cx="3057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Copy-Paste 계열: 패치 재배치, 배치는 무작위가 많음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일부 연구는 배치 규칙 고려 — 수작업·도메인 종속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데이터셋 변경 시 규칙 재설계 필요 → 본 논문의 공백</a:t>
            </a:r>
            <a:endParaRPr lang="en-US" sz="1300" dirty="0"/>
          </a:p>
        </p:txBody>
      </p:sp>
      <p:sp>
        <p:nvSpPr>
          <p:cNvPr id="16" name="평가: 검출 mAP·분할 mIoU/D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평가: 검출 mAP·분할 mIoU/Dice, 합성 품질 FID·KID·LPIPS — 2장 7절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제2장 관련 연구 · 8~9절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벤치마크 데이터셋 6종과 공통 실험 환경</a:t>
            </a:r>
            <a:endParaRPr lang="en-US" sz="2400" dirty="0"/>
          </a:p>
        </p:txBody>
      </p:sp>
      <p:graphicFrame>
        <p:nvGraphicFramePr>
          <p:cNvPr id="7" name="datase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Dataset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도메인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규모(이미지)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사용 장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PCB_DATASET (PKU-HRI)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PCB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693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제3장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KolektorSDD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금속 정류기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399 (결함 52)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제4장, 제5장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AITeX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섬유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7,169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제5장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Severstal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철강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5,902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제5장, 제6장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MTD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자기 타일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956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제5장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MVTec Leather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가죽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245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제5장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8229600" y="1463040"/>
            <a:ext cx="3410712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" name="공통 실험 환경"/>
          <p:cNvSpPr txBox="1"/>
          <p:nvPr/>
        </p:nvSpPr>
        <p:spPr>
          <a:xfrm>
            <a:off x="8503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공통 실험 환경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8503920" y="2148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Google Colab · Ubuntu 20.04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NVIDIA Tesla L4 GPU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Python 3.12.8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PyTorch 2.x (CUDA 11.8)</a:t>
            </a:r>
            <a:endParaRPr lang="en-US" sz="1300" dirty="0"/>
          </a:p>
        </p:txBody>
      </p:sp>
      <p:sp>
        <p:nvSpPr>
          <p:cNvPr id="8" name="PCB·전기부품·직물·철강·자기타일·"/>
          <p:cNvSpPr txBox="1"/>
          <p:nvPr/>
        </p:nvSpPr>
        <p:spPr>
          <a:xfrm>
            <a:off x="548640" y="4572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PCB·전기부품·직물·철강·자기타일·가죽 — 서로 다른 표면 특성에 걸쳐 제안 기법을 평가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제3장 · 방법론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제3장: YOLOv8 + GAN / Diffusion 기반 PCB 결함 패치 증강</a:t>
            </a:r>
            <a:endParaRPr lang="en-US" sz="2400" dirty="0"/>
          </a:p>
        </p:txBody>
      </p:sp>
      <p:pic>
        <p:nvPicPr>
          <p:cNvPr id="4" name="fig3-1.jpg" descr="D:\project\aroma\GRADUATION\figures\fig3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377440" cy="23774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3-1  PCB 6종 결함</a:t>
            </a:r>
            <a:endParaRPr lang="en-US" sz="1000" dirty="0"/>
          </a:p>
        </p:txBody>
      </p:sp>
      <p:sp>
        <p:nvSpPr>
          <p:cNvPr id="6" name="open · short · mouse"/>
          <p:cNvSpPr txBox="1"/>
          <p:nvPr/>
        </p:nvSpPr>
        <p:spPr>
          <a:xfrm>
            <a:off x="3200400" y="1463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open · short · mouse bite · spur · pinhole/missing hole · spurious copper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PKU-HRI PCB_DATASET 693장 → YOLOv8s/m 실시간 검출</a:t>
            </a:r>
            <a:endParaRPr lang="en-US" sz="1200" dirty="0"/>
          </a:p>
        </p:txBody>
      </p:sp>
      <p:pic>
        <p:nvPicPr>
          <p:cNvPr id="7" name="fig3-3.jpg" descr="D:\project\aroma\GRADUATION\figures\fig3-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425" y="2651760"/>
            <a:ext cx="3735870" cy="14630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20040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3-3  GAN 학습 흐름</a:t>
            </a:r>
            <a:endParaRPr lang="en-US" sz="1000" dirty="0"/>
          </a:p>
        </p:txBody>
      </p:sp>
      <p:pic>
        <p:nvPicPr>
          <p:cNvPr id="9" name="fig3-5.jpg" descr="D:\project\aroma\GRADUATION\figures\fig3-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539" y="1463040"/>
            <a:ext cx="4009881" cy="201168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749808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3-5  Diffusion 학습 흐름</a:t>
            </a:r>
            <a:endParaRPr lang="en-US" sz="1000" dirty="0"/>
          </a:p>
        </p:txBody>
      </p:sp>
      <p:pic>
        <p:nvPicPr>
          <p:cNvPr id="11" name="fig3-6.jpg" descr="D:\project\aroma\GRADUATION\figures\fig3-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869" y="3931920"/>
            <a:ext cx="3579223" cy="914400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7498080" y="4892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3-6  Diffusion 생성 결함 패치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증강 방식: 생성된 결함 패치를 원본"/>
          <p:cNvSpPr txBox="1"/>
          <p:nvPr/>
        </p:nvSpPr>
        <p:spPr>
          <a:xfrm>
            <a:off x="822960" y="52120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증강 방식: 생성된 결함 패치를 원본 결함과 동일한 위치에 재배치(Copy-Paste). Basic / GAN / Diffusion 세 조건으로 검출 성능과 일반화 안정성 비교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제3장 · 실험 결과 (표 3-2)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3장 결과: Diffusion 증강이 mAP에서 우세, YOLOv8m이 전반적 최고</a:t>
            </a:r>
            <a:endParaRPr lang="en-US" sz="2400" dirty="0"/>
          </a:p>
        </p:txBody>
      </p:sp>
      <p:graphicFrame>
        <p:nvGraphicFramePr>
          <p:cNvPr id="4" name="chart-ch3" descr=""/>
          <p:cNvGraphicFramePr/>
          <p:nvPr/>
        </p:nvGraphicFramePr>
        <p:xfrm>
          <a:off x="548640" y="14630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7772400" y="1463040"/>
            <a:ext cx="3867912" cy="4206240"/>
          </a:xfrm>
          <a:prstGeom prst="roundRect">
            <a:avLst>
              <a:gd name="adj" fmla="val 189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" name="bullets"/>
          <p:cNvSpPr txBox="1"/>
          <p:nvPr/>
        </p:nvSpPr>
        <p:spPr>
          <a:xfrm>
            <a:off x="8046720" y="1737360"/>
            <a:ext cx="33192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YOLOv8m Basic: P 0.96 · R 0.96 · mAP50 0.97 · mAP50-95 0.54 — 전 지표 최고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Diffusion 증강: 8s·8m 모두 mAP50 0.96, mAP50-95 0.51/0.53 — GAN 대비 우세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Diffusion 8s: Precision 0.97로 전체 최고 정밀도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GAN 증강: Precision·Recall 소폭 하락, mAP50은 준수(0.94/0.96)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제3장 · 표 3-3 · 한계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3장 과적합 분석과 한계: 성능과 일반화의 트레이드오프</a:t>
            </a:r>
            <a:endParaRPr lang="en-US" sz="2400" dirty="0"/>
          </a:p>
        </p:txBody>
      </p:sp>
      <p:graphicFrame>
        <p:nvGraphicFramePr>
          <p:cNvPr id="4" name="chart-loss" descr=""/>
          <p:cNvGraphicFramePr/>
          <p:nvPr/>
        </p:nvGraphicFramePr>
        <p:xfrm>
          <a:off x="548640" y="14630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035040" y="1463040"/>
            <a:ext cx="17830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" name="Basic_s"/>
          <p:cNvSpPr txBox="1"/>
          <p:nvPr/>
        </p:nvSpPr>
        <p:spPr>
          <a:xfrm>
            <a:off x="617220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Basic_s</a:t>
            </a:r>
            <a:endParaRPr lang="en-US" sz="1200" dirty="0"/>
          </a:p>
        </p:txBody>
      </p:sp>
      <p:sp>
        <p:nvSpPr>
          <p:cNvPr id="7" name="0.02"/>
          <p:cNvSpPr txBox="1"/>
          <p:nvPr/>
        </p:nvSpPr>
        <p:spPr>
          <a:xfrm>
            <a:off x="617220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0.02</a:t>
            </a:r>
            <a:endParaRPr lang="en-US" sz="3200" dirty="0"/>
          </a:p>
        </p:txBody>
      </p:sp>
      <p:sp>
        <p:nvSpPr>
          <p:cNvPr id="8" name="Gap · 최소 과적합"/>
          <p:cNvSpPr txBox="1"/>
          <p:nvPr/>
        </p:nvSpPr>
        <p:spPr>
          <a:xfrm>
            <a:off x="61722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Gap · 최소 과적합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7955280" y="1463040"/>
            <a:ext cx="17830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Diffusion_s"/>
          <p:cNvSpPr txBox="1"/>
          <p:nvPr/>
        </p:nvSpPr>
        <p:spPr>
          <a:xfrm>
            <a:off x="809244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Diffusion_s</a:t>
            </a:r>
            <a:endParaRPr lang="en-US" sz="1200" dirty="0"/>
          </a:p>
        </p:txBody>
      </p:sp>
      <p:sp>
        <p:nvSpPr>
          <p:cNvPr id="11" name="0.53"/>
          <p:cNvSpPr txBox="1"/>
          <p:nvPr/>
        </p:nvSpPr>
        <p:spPr>
          <a:xfrm>
            <a:off x="809244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0.53</a:t>
            </a:r>
            <a:endParaRPr lang="en-US" sz="3200" dirty="0"/>
          </a:p>
        </p:txBody>
      </p:sp>
      <p:sp>
        <p:nvSpPr>
          <p:cNvPr id="12" name="Gap · 비교적 양호"/>
          <p:cNvSpPr txBox="1"/>
          <p:nvPr/>
        </p:nvSpPr>
        <p:spPr>
          <a:xfrm>
            <a:off x="809244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Gap · 비교적 양호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9875520" y="1463040"/>
            <a:ext cx="17830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Gan_s"/>
          <p:cNvSpPr txBox="1"/>
          <p:nvPr/>
        </p:nvSpPr>
        <p:spPr>
          <a:xfrm>
            <a:off x="1001268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Gan_s</a:t>
            </a:r>
            <a:endParaRPr lang="en-US" sz="1200" dirty="0"/>
          </a:p>
        </p:txBody>
      </p:sp>
      <p:sp>
        <p:nvSpPr>
          <p:cNvPr id="15" name="0.52"/>
          <p:cNvSpPr txBox="1"/>
          <p:nvPr/>
        </p:nvSpPr>
        <p:spPr>
          <a:xfrm>
            <a:off x="1001268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0.52</a:t>
            </a:r>
            <a:endParaRPr lang="en-US" sz="3200" dirty="0"/>
          </a:p>
        </p:txBody>
      </p:sp>
      <p:sp>
        <p:nvSpPr>
          <p:cNvPr id="16" name="Gap · 비교적 양호"/>
          <p:cNvSpPr txBox="1"/>
          <p:nvPr/>
        </p:nvSpPr>
        <p:spPr>
          <a:xfrm>
            <a:off x="1001268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Gap · 비교적 양호</a:t>
            </a:r>
            <a:endParaRPr lang="en-US" sz="1100" dirty="0"/>
          </a:p>
        </p:txBody>
      </p:sp>
      <p:sp>
        <p:nvSpPr>
          <p:cNvPr id="17" name="bullets"/>
          <p:cNvSpPr txBox="1"/>
          <p:nvPr/>
        </p:nvSpPr>
        <p:spPr>
          <a:xfrm>
            <a:off x="6035040" y="33832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검출 지표만 보면 Diffusion &gt; GAN, 그러나 두 증강 모델의 Gap 차이는 0.01 — 일반화 우열 단정 불가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실서비스 관점: 과적합이 근소하게 낮은 GAN 증강이 상대적으로 안정적 선택지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9" name="한계: 증강 패치를 원본과 &amp;quot;동일한 "/>
          <p:cNvSpPr txBox="1"/>
          <p:nvPr/>
        </p:nvSpPr>
        <p:spPr>
          <a:xfrm>
            <a:off x="822960" y="5166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한계: 증강 패치를 원본과 "동일한 위치"에 재배치 → 배경과의 통계·형태 호환성(Where)을 고려하지 않음</a:t>
            </a:r>
            <a:endParaRPr lang="en-US" sz="1300" dirty="0"/>
          </a:p>
        </p:txBody>
      </p:sp>
      <p:sp>
        <p:nvSpPr>
          <p:cNvPr id="20" name="arrow"/>
          <p:cNvSpPr/>
          <p:nvPr/>
        </p:nvSpPr>
        <p:spPr>
          <a:xfrm>
            <a:off x="6126480" y="5440680"/>
            <a:ext cx="54864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21" name="제4장: 배경 밝기 유사도 기반 RO"/>
          <p:cNvSpPr txBox="1"/>
          <p:nvPr/>
        </p:nvSpPr>
        <p:spPr>
          <a:xfrm>
            <a:off x="6858000" y="5166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제4장: 배경 밝기 유사도 기반 ROI 탐색으로 "어디에 배치할 것인가"를 처음 다룸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제4장 · 방법론 (KolektorSDD, 결함 52/399장)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제4장: ControlNet 결함 생성 → 유효 영역 ROI 탐색 → Poisson blending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453384" cy="3931920"/>
          </a:xfrm>
          <a:prstGeom prst="roundRect">
            <a:avLst>
              <a:gd name="adj" fmla="val 2118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pic>
        <p:nvPicPr>
          <p:cNvPr id="5" name="fig4-2.jpg" descr="D:\project\aroma\GRADUATION\figures\fig4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68272"/>
            <a:ext cx="3087624" cy="2058416"/>
          </a:xfrm>
          <a:prstGeom prst="rect">
            <a:avLst/>
          </a:prstGeom>
        </p:spPr>
      </p:pic>
      <p:sp>
        <p:nvSpPr>
          <p:cNvPr id="6" name="① ControlNet 결함·마스크 "/>
          <p:cNvSpPr txBox="1"/>
          <p:nvPr/>
        </p:nvSpPr>
        <p:spPr>
          <a:xfrm>
            <a:off x="731520" y="388620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① ControlNet 결함·마스크 생성</a:t>
            </a:r>
            <a:endParaRPr lang="en-US" sz="1400" dirty="0"/>
          </a:p>
        </p:txBody>
      </p:sp>
      <p:sp>
        <p:nvSpPr>
          <p:cNvPr id="7" name="마스크 조건으로 결함 패치 생성 (그"/>
          <p:cNvSpPr txBox="1"/>
          <p:nvPr/>
        </p:nvSpPr>
        <p:spPr>
          <a:xfrm>
            <a:off x="731520" y="4297680"/>
            <a:ext cx="3087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마스크 조건으로 결함 패치 생성 (그림 4-2)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4066032" y="3200400"/>
            <a:ext cx="23774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4367784" y="1463040"/>
            <a:ext cx="3453384" cy="3931920"/>
          </a:xfrm>
          <a:prstGeom prst="roundRect">
            <a:avLst>
              <a:gd name="adj" fmla="val 2118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pic>
        <p:nvPicPr>
          <p:cNvPr id="10" name="fig4-3.jpg" descr="D:\project\aroma\GRADUATION\figures\fig4-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543" y="1645920"/>
            <a:ext cx="1631865" cy="2103120"/>
          </a:xfrm>
          <a:prstGeom prst="rect">
            <a:avLst/>
          </a:prstGeom>
        </p:spPr>
      </p:pic>
      <p:sp>
        <p:nvSpPr>
          <p:cNvPr id="11" name="② 유효 영역(ROI) 추출"/>
          <p:cNvSpPr txBox="1"/>
          <p:nvPr/>
        </p:nvSpPr>
        <p:spPr>
          <a:xfrm>
            <a:off x="4550664" y="388620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② 유효 영역(ROI) 추출</a:t>
            </a:r>
            <a:endParaRPr lang="en-US" sz="1400" dirty="0"/>
          </a:p>
        </p:txBody>
      </p:sp>
      <p:sp>
        <p:nvSpPr>
          <p:cNvPr id="12" name="결함 주변 픽셀 평균 밝기와 유사한 "/>
          <p:cNvSpPr txBox="1"/>
          <p:nvPr/>
        </p:nvSpPr>
        <p:spPr>
          <a:xfrm>
            <a:off x="4550664" y="4297680"/>
            <a:ext cx="3087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결함 주변 픽셀 평균 밝기와 유사한 영역을 슬라이딩 윈도우로 탐색 (그림 4-3)</a:t>
            </a:r>
            <a:endParaRPr lang="en-US" sz="1200" dirty="0"/>
          </a:p>
        </p:txBody>
      </p:sp>
      <p:sp>
        <p:nvSpPr>
          <p:cNvPr id="13" name="arrow"/>
          <p:cNvSpPr/>
          <p:nvPr/>
        </p:nvSpPr>
        <p:spPr>
          <a:xfrm>
            <a:off x="7885176" y="3200400"/>
            <a:ext cx="23774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4" name="card"/>
          <p:cNvSpPr/>
          <p:nvPr/>
        </p:nvSpPr>
        <p:spPr>
          <a:xfrm>
            <a:off x="8186928" y="1463040"/>
            <a:ext cx="3453384" cy="3931920"/>
          </a:xfrm>
          <a:prstGeom prst="roundRect">
            <a:avLst>
              <a:gd name="adj" fmla="val 2118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pic>
        <p:nvPicPr>
          <p:cNvPr id="15" name="fig4-4.jpg" descr="D:\project\aroma\GRADUATION\figures\fig4-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808" y="1669541"/>
            <a:ext cx="3087624" cy="2055878"/>
          </a:xfrm>
          <a:prstGeom prst="rect">
            <a:avLst/>
          </a:prstGeom>
        </p:spPr>
      </p:pic>
      <p:sp>
        <p:nvSpPr>
          <p:cNvPr id="16" name="③ Poisson blending 합"/>
          <p:cNvSpPr txBox="1"/>
          <p:nvPr/>
        </p:nvSpPr>
        <p:spPr>
          <a:xfrm>
            <a:off x="8369808" y="388620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③ Poisson blending 합성</a:t>
            </a:r>
            <a:endParaRPr lang="en-US" sz="1400" dirty="0"/>
          </a:p>
        </p:txBody>
      </p:sp>
      <p:sp>
        <p:nvSpPr>
          <p:cNvPr id="17" name="경계 불연속 제거, 시각적 이질감 완"/>
          <p:cNvSpPr txBox="1"/>
          <p:nvPr/>
        </p:nvSpPr>
        <p:spPr>
          <a:xfrm>
            <a:off x="8369808" y="4297680"/>
            <a:ext cx="3087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경계 불연속 제거, 시각적 이질감 완화 (그림 4-4)</a:t>
            </a:r>
            <a:endParaRPr lang="en-US" sz="1200" dirty="0"/>
          </a:p>
        </p:txBody>
      </p:sp>
      <p:sp>
        <p:nvSpPr>
          <p:cNvPr id="18" name="학습: ResNet34 · Effic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학습: ResNet34 · EfficientNet 분할 모델, 원본만(Real) vs 증강 비율 0.3 / 0.5 / 0.7 혼합(Mixed), 8:2 분할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제4장 · 실험 결과 (표 4-4)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4장 결과: 증강 혼합 시 mIoU 0.567 → 0.892 (ResNet34, +57.4%)</a:t>
            </a:r>
            <a:endParaRPr lang="en-US" sz="2400" dirty="0"/>
          </a:p>
        </p:txBody>
      </p:sp>
      <p:graphicFrame>
        <p:nvGraphicFramePr>
          <p:cNvPr id="4" name="chart-ch4" descr=""/>
          <p:cNvGraphicFramePr/>
          <p:nvPr/>
        </p:nvGraphicFramePr>
        <p:xfrm>
          <a:off x="548640" y="146304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7589520" y="1463040"/>
            <a:ext cx="4050792" cy="4297680"/>
          </a:xfrm>
          <a:prstGeom prst="roundRect">
            <a:avLst>
              <a:gd name="adj" fmla="val 180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" name="bullets"/>
          <p:cNvSpPr txBox="1"/>
          <p:nvPr/>
        </p:nvSpPr>
        <p:spPr>
          <a:xfrm>
            <a:off x="7863840" y="1737360"/>
            <a:ext cx="3502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ResNet34: 비율 0.5에서 mIoU 0.8919 최고, 0.7에서 0.8071로 하락 — 과도한 합성은 실제 분포를 왜곡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EfficientNet: 0.3·0.5 정체 후 0.7에서 0.6860 최고 — 경량 모델은 더 많은 합성 데이터가 유효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Dice: ResNet34 0.5 모델 0.94, EfficientNet 0.2531 → 0.777 (약 3배)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두 모델 모두 증강셋에서 원본 대비 비약적 향상 → ROI 방식이 실제 결함 특성을 묘사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제4장 · 한계 및 다음 단계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4장 한계: 밝기라는 단일 통계와 휴리스틱 탐색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362956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pill"/>
          <p:cNvSpPr/>
          <p:nvPr/>
        </p:nvSpPr>
        <p:spPr>
          <a:xfrm>
            <a:off x="822960" y="1737360"/>
            <a:ext cx="4814316" cy="41148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pill-text"/>
          <p:cNvSpPr txBox="1"/>
          <p:nvPr/>
        </p:nvSpPr>
        <p:spPr>
          <a:xfrm>
            <a:off x="822960" y="1737360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제4장이 해결한 것</a:t>
            </a:r>
            <a:endParaRPr lang="en-US" sz="1300" dirty="0"/>
          </a:p>
        </p:txBody>
      </p:sp>
      <p:sp>
        <p:nvSpPr>
          <p:cNvPr id="7" name="bullets"/>
          <p:cNvSpPr txBox="1"/>
          <p:nvPr/>
        </p:nvSpPr>
        <p:spPr>
          <a:xfrm>
            <a:off x="822960" y="2331720"/>
            <a:ext cx="48143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결함 생성(P1)에 더해 배치 위치(P2)를 처음으로 탐색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Poisson blending으로 합성 경계 이질감 완화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결함 희소 환경(52장)에서 분할 성능 대폭 개선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6277356" y="1463040"/>
            <a:ext cx="5362956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pill"/>
          <p:cNvSpPr/>
          <p:nvPr/>
        </p:nvSpPr>
        <p:spPr>
          <a:xfrm>
            <a:off x="6551676" y="1737360"/>
            <a:ext cx="4814316" cy="41148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ill-text"/>
          <p:cNvSpPr txBox="1"/>
          <p:nvPr/>
        </p:nvSpPr>
        <p:spPr>
          <a:xfrm>
            <a:off x="6551676" y="1737360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남은 한계</a:t>
            </a:r>
            <a:endParaRPr lang="en-US" sz="1300" dirty="0"/>
          </a:p>
        </p:txBody>
      </p:sp>
      <p:sp>
        <p:nvSpPr>
          <p:cNvPr id="11" name="bullets"/>
          <p:cNvSpPr txBox="1"/>
          <p:nvPr/>
        </p:nvSpPr>
        <p:spPr>
          <a:xfrm>
            <a:off x="6551676" y="2331720"/>
            <a:ext cx="48143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ROI 추출이 결함 주변 평균 밝기 하나에만 의존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배경 텍스처·방향성, 결함의 구조적 특성을 반영하지 못함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사전 정의된 밝기 유사도 규칙 → 데이터셋이 바뀌면 재조정 필요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한계: 수작업 규칙·단일 통계량에 기"/>
          <p:cNvSpPr txBox="1"/>
          <p:nvPr/>
        </p:nvSpPr>
        <p:spPr>
          <a:xfrm>
            <a:off x="822960" y="5166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한계: 수작업 규칙·단일 통계량에 기반한 휴리스틱 ROI 탐색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6126480" y="5440680"/>
            <a:ext cx="54864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5" name="제5장 AROMA: 배경·결함 특성을"/>
          <p:cNvSpPr txBox="1"/>
          <p:nvPr/>
        </p:nvSpPr>
        <p:spPr>
          <a:xfrm>
            <a:off x="6858000" y="5166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제5장 AROMA: 배경·결함 특성을 다차원 프로파일링하고, 배치 기준을 데이터로부터 자동 도출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개요 (Adaptive ROI-based Morphology-Aware Augmentation)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제5장 AROMA: 적응형 ROI 기반 형태 인지 증강</a:t>
            </a:r>
            <a:endParaRPr lang="en-US" sz="2400" dirty="0"/>
          </a:p>
        </p:txBody>
      </p:sp>
      <p:pic>
        <p:nvPicPr>
          <p:cNvPr id="4" name="fig5-1.png" descr="D:\project\aroma\GRADUATION\figures\fig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0813"/>
            <a:ext cx="5120640" cy="4536454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5-1  AROMA 파이프라인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6035040" y="1463040"/>
            <a:ext cx="5605272" cy="2194560"/>
          </a:xfrm>
          <a:prstGeom prst="roundRect">
            <a:avLst>
              <a:gd name="adj" fmla="val 3333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7" name="데이터 드리븐"/>
          <p:cNvSpPr txBox="1"/>
          <p:nvPr/>
        </p:nvSpPr>
        <p:spPr>
          <a:xfrm>
            <a:off x="63093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데이터 드리븐</a:t>
            </a:r>
            <a:endParaRPr lang="en-US" sz="1300" dirty="0"/>
          </a:p>
        </p:txBody>
      </p:sp>
      <p:sp>
        <p:nvSpPr>
          <p:cNvPr id="8" name="결함과 배경 간 호환성을 패치 수준의"/>
          <p:cNvSpPr txBox="1"/>
          <p:nvPr/>
        </p:nvSpPr>
        <p:spPr>
          <a:xfrm>
            <a:off x="6309360" y="20116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결함과 배경 간 호환성을 패치 수준의 공존 통계로부터 직접 산출하는 대칭 호환성 게이트. 도메인별 수작업 규칙 없이 동일 파이프라인을 5개 산업 데이터셋에 적용</a:t>
            </a:r>
            <a:endParaRPr lang="en-US" sz="1400" dirty="0"/>
          </a:p>
        </p:txBody>
      </p:sp>
      <p:sp>
        <p:nvSpPr>
          <p:cNvPr id="9" name="bullets"/>
          <p:cNvSpPr txBox="1"/>
          <p:nvPr/>
        </p:nvSpPr>
        <p:spPr>
          <a:xfrm>
            <a:off x="6035040" y="3931920"/>
            <a:ext cx="5605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프로파일링: 형태 복잡도 MCI · 맥락 복잡도 CCI 산출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이산화: 결함 → 형태 클러스터 k, 배경 → 맥락 셀 c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호환성: ctx_prior(k, c) — 결함측·배경측 기하평균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선택 3단: 결함(ROI) → 배경 이미지 → 삽입 위치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평가: AITeX · Kolektor · Severstal · MTD · MVTec Leather, YOLOv8n × 3 seeds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방법론 1 — 수식 (1)~(5), 표 5-1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프로파일링: 결함 형태(MCI)와 배경 텍스처(CCI)를 같은 방식으로 데이터에서 도출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408676" cy="2788920"/>
          </a:xfrm>
          <a:prstGeom prst="roundRect">
            <a:avLst>
              <a:gd name="adj" fmla="val 2623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pill"/>
          <p:cNvSpPr/>
          <p:nvPr/>
        </p:nvSpPr>
        <p:spPr>
          <a:xfrm>
            <a:off x="777240" y="1645920"/>
            <a:ext cx="14630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ill-text"/>
          <p:cNvSpPr txBox="1"/>
          <p:nvPr/>
        </p:nvSpPr>
        <p:spPr>
          <a:xfrm>
            <a:off x="77724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결함 형태 · MCI</a:t>
            </a:r>
            <a:endParaRPr lang="en-US" sz="1100" dirty="0"/>
          </a:p>
        </p:txBody>
      </p:sp>
      <p:sp>
        <p:nvSpPr>
          <p:cNvPr id="7" name="형태 클러스터 k — 자동 군집화"/>
          <p:cNvSpPr txBox="1"/>
          <p:nvPr/>
        </p:nvSpPr>
        <p:spPr>
          <a:xfrm>
            <a:off x="2377440" y="1645920"/>
            <a:ext cx="3351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형태 클러스터 k — 자동 군집화</a:t>
            </a:r>
            <a:endParaRPr lang="en-US" sz="1400" dirty="0"/>
          </a:p>
        </p:txBody>
      </p:sp>
      <p:sp>
        <p:nvSpPr>
          <p:cNvPr id="8" name="text"/>
          <p:cNvSpPr txBox="1"/>
          <p:nvPr/>
        </p:nvSpPr>
        <p:spPr>
          <a:xfrm>
            <a:off x="777240" y="210312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입력 특성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linearity · solidity · extent · aspect ratio · eccentricity · circularity (SAM 마스크, 6개)</a:t>
            </a:r>
            <a:endParaRPr lang="en-US" sz="105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78608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분류 기준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GMM 군집화, 군집 수는 데이터셋별 BIC로 자동 결정 — 수동 임계값 없음</a:t>
            </a:r>
            <a:endParaRPr lang="en-US" sz="1050" dirty="0"/>
          </a:p>
        </p:txBody>
      </p:sp>
      <p:sp>
        <p:nvSpPr>
          <p:cNvPr id="10" name="math"/>
          <p:cNvSpPr txBox="1"/>
          <p:nvPr/>
        </p:nvSpPr>
        <p:spPr>
          <a:xfrm>
            <a:off x="777240" y="2926080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K* = argmax_k  BIC(k)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∈ {0, …, K*−1},   morph_prior(k) = P(k) = n_k / N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777240" y="3749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결과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MCI = 강도 변화·분포 다양성·유형 다양성·클러스터 분리도 4개 정규화 통계량의 평균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231636" y="1463040"/>
            <a:ext cx="5408676" cy="2788920"/>
          </a:xfrm>
          <a:prstGeom prst="roundRect">
            <a:avLst>
              <a:gd name="adj" fmla="val 2623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pill"/>
          <p:cNvSpPr/>
          <p:nvPr/>
        </p:nvSpPr>
        <p:spPr>
          <a:xfrm>
            <a:off x="6460236" y="1645920"/>
            <a:ext cx="146304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ill-text"/>
          <p:cNvSpPr txBox="1"/>
          <p:nvPr/>
        </p:nvSpPr>
        <p:spPr>
          <a:xfrm>
            <a:off x="6460236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배경 텍스처 · CCI</a:t>
            </a:r>
            <a:endParaRPr lang="en-US" sz="1100" dirty="0"/>
          </a:p>
        </p:txBody>
      </p:sp>
      <p:sp>
        <p:nvSpPr>
          <p:cNvPr id="15" name="텍스처 범주 — 백분위수 자동 적응"/>
          <p:cNvSpPr txBox="1"/>
          <p:nvPr/>
        </p:nvSpPr>
        <p:spPr>
          <a:xfrm>
            <a:off x="8060436" y="1645920"/>
            <a:ext cx="3351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텍스처 범주 — 백분위수 자동 적응</a:t>
            </a:r>
            <a:endParaRPr lang="en-US" sz="1400" dirty="0"/>
          </a:p>
        </p:txBody>
      </p:sp>
      <p:sp>
        <p:nvSpPr>
          <p:cNvPr id="16" name="text"/>
          <p:cNvSpPr txBox="1"/>
          <p:nvPr/>
        </p:nvSpPr>
        <p:spPr>
          <a:xfrm>
            <a:off x="6460236" y="210312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입력 특성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LocalVariance · OrientEntropy · FreqComplexity · TextureEntropy (정상 패치, 64px 그리드)</a:t>
            </a:r>
            <a:endParaRPr lang="en-US" sz="1050" dirty="0"/>
          </a:p>
        </p:txBody>
      </p:sp>
      <p:sp>
        <p:nvSpPr>
          <p:cNvPr id="17" name="text"/>
          <p:cNvSpPr txBox="1"/>
          <p:nvPr/>
        </p:nvSpPr>
        <p:spPr>
          <a:xfrm>
            <a:off x="6460236" y="2578608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분류 기준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데이터셋별 자동 계산된 백분위수 P_k로 5개 범주 분류 — 동일 알고리즘이 모든 데이터셋에 적응</a:t>
            </a:r>
            <a:endParaRPr lang="en-US" sz="1050" dirty="0"/>
          </a:p>
        </p:txBody>
      </p:sp>
      <p:sp>
        <p:nvSpPr>
          <p:cNvPr id="18" name="math"/>
          <p:cNvSpPr txBox="1"/>
          <p:nvPr/>
        </p:nvSpPr>
        <p:spPr>
          <a:xfrm>
            <a:off x="6460236" y="2926080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Smooth      = LocalVariance ≤ P₂₅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Directional = (OrientEntropy ≤ P₂₅) ∧ (FreqComplexity ≤ P₂₅)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Periodic    = FreqComplexity ≥ P₇₅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Organic     = (TextureEntropy ≥ P₅₀) ∧ (LocalVariance ≥ P₇₅)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Complex     = otherwise</a:t>
            </a:r>
            <a:endParaRPr lang="en-US" sz="1050" dirty="0"/>
          </a:p>
        </p:txBody>
      </p:sp>
      <p:sp>
        <p:nvSpPr>
          <p:cNvPr id="19" name="text"/>
          <p:cNvSpPr txBox="1"/>
          <p:nvPr/>
        </p:nvSpPr>
        <p:spPr>
          <a:xfrm>
            <a:off x="6460236" y="3749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결과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CCI = 텍스처 엔트로피·주파수 복잡도·방향성 분산 3개 통계량의 평균 (2만 패치 표본)</a:t>
            </a:r>
            <a:endParaRPr lang="en-US" sz="1050" dirty="0"/>
          </a:p>
        </p:txBody>
      </p:sp>
      <p:graphicFrame>
        <p:nvGraphicFramePr>
          <p:cNvPr id="15" name="mci-cc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4206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Dataset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MCI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CCI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AITeX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0.392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561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0.440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Kolektor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0.328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561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0.224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Severstal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0.455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561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0.306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MTD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0.561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561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0.246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MVTec Leather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0.595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561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0.200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21" name="MCI 0.33~0.60, CCI 0"/>
          <p:cNvSpPr txBox="1"/>
          <p:nvPr/>
        </p:nvSpPr>
        <p:spPr>
          <a:xfrm>
            <a:off x="5029200" y="44805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MCI 0.33~0.60, CCI 0.20~0.44 — 다섯 데이터셋이 서로 다른 난이도 영역에 위치. CCI 축은 5.3절에서 context-aware 배치 효과를 조건화하는 핵심 지표</a:t>
            </a:r>
            <a:endParaRPr lang="en-US" sz="1100" dirty="0"/>
          </a:p>
        </p:txBody>
      </p:sp>
      <p:pic>
        <p:nvPicPr>
          <p:cNvPr id="22" name="fig5-2.png" descr="D:\project\aroma\GRADUATION\figures\fig5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922" y="4434840"/>
            <a:ext cx="2188308" cy="1828800"/>
          </a:xfrm>
          <a:prstGeom prst="rect">
            <a:avLst/>
          </a:prstGeom>
        </p:spPr>
      </p:pic>
      <p:sp>
        <p:nvSpPr>
          <p:cNvPr id="23" name="caption"/>
          <p:cNvSpPr txBox="1"/>
          <p:nvPr/>
        </p:nvSpPr>
        <p:spPr>
          <a:xfrm>
            <a:off x="7863840" y="630936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5-2  복잡도 지형 (MCI vs CCI)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방법론 2 — 신규 도식 ④-a: 맥락 셀 키 판독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이산화: 결함은 형태 클러스터 k로, 배경은 맥락 셀 c로</a:t>
            </a:r>
            <a:endParaRPr lang="en-US" sz="2400" dirty="0"/>
          </a:p>
        </p:txBody>
      </p:sp>
      <p:pic>
        <p:nvPicPr>
          <p:cNvPr id="4" name="fig5-3.png" descr="D:\project\aroma\GRADUATION\figures\fig5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37" y="1463040"/>
            <a:ext cx="5180006" cy="210312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5-3  데이터 기반 형태 클러스터 (GMM + BIC)</a:t>
            </a:r>
            <a:endParaRPr lang="en-US" sz="1000" dirty="0"/>
          </a:p>
        </p:txBody>
      </p:sp>
      <p:pic>
        <p:nvPicPr>
          <p:cNvPr id="6" name="fig5-4a.png" descr="D:\project\aroma\GRADUATION\figures\fig5-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70" y="3977640"/>
            <a:ext cx="3932539" cy="210312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5-4(a)  배경 맥락 특성 분포와 tertile(P33/P66) 경계 — Severstal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6492240" y="1463040"/>
            <a:ext cx="5148072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맥락 셀 c = 5개 텍스처 특성의 "/>
          <p:cNvSpPr txBox="1"/>
          <p:nvPr/>
        </p:nvSpPr>
        <p:spPr>
          <a:xfrm>
            <a:off x="672084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맥락 셀 c = 5개 텍스처 특성의 tertile 조합 키</a:t>
            </a:r>
            <a:endParaRPr lang="en-US" sz="1400" dirty="0"/>
          </a:p>
        </p:txBody>
      </p:sp>
      <p:sp>
        <p:nvSpPr>
          <p:cNvPr id="10" name="digit"/>
          <p:cNvSpPr/>
          <p:nvPr/>
        </p:nvSpPr>
        <p:spPr>
          <a:xfrm>
            <a:off x="6812280" y="2148840"/>
            <a:ext cx="74980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2"/>
          <p:cNvSpPr txBox="1"/>
          <p:nvPr/>
        </p:nvSpPr>
        <p:spPr>
          <a:xfrm>
            <a:off x="6812280" y="2148840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local variance"/>
          <p:cNvSpPr txBox="1"/>
          <p:nvPr/>
        </p:nvSpPr>
        <p:spPr>
          <a:xfrm>
            <a:off x="6720840" y="297180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local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variance</a:t>
            </a:r>
            <a:endParaRPr lang="en-US" sz="900" dirty="0"/>
          </a:p>
        </p:txBody>
      </p:sp>
      <p:sp>
        <p:nvSpPr>
          <p:cNvPr id="13" name="_"/>
          <p:cNvSpPr txBox="1"/>
          <p:nvPr/>
        </p:nvSpPr>
        <p:spPr>
          <a:xfrm>
            <a:off x="7562088" y="2148840"/>
            <a:ext cx="146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_</a:t>
            </a:r>
            <a:endParaRPr lang="en-US" sz="2000" dirty="0"/>
          </a:p>
        </p:txBody>
      </p:sp>
      <p:sp>
        <p:nvSpPr>
          <p:cNvPr id="14" name="digit"/>
          <p:cNvSpPr/>
          <p:nvPr/>
        </p:nvSpPr>
        <p:spPr>
          <a:xfrm>
            <a:off x="7708392" y="2148840"/>
            <a:ext cx="749808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1"/>
          <p:cNvSpPr txBox="1"/>
          <p:nvPr/>
        </p:nvSpPr>
        <p:spPr>
          <a:xfrm>
            <a:off x="7708392" y="2148840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16" name="edge density"/>
          <p:cNvSpPr txBox="1"/>
          <p:nvPr/>
        </p:nvSpPr>
        <p:spPr>
          <a:xfrm>
            <a:off x="7616952" y="297180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density</a:t>
            </a:r>
            <a:endParaRPr lang="en-US" sz="900" dirty="0"/>
          </a:p>
        </p:txBody>
      </p:sp>
      <p:sp>
        <p:nvSpPr>
          <p:cNvPr id="17" name="_"/>
          <p:cNvSpPr txBox="1"/>
          <p:nvPr/>
        </p:nvSpPr>
        <p:spPr>
          <a:xfrm>
            <a:off x="8458200" y="2148840"/>
            <a:ext cx="146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_</a:t>
            </a:r>
            <a:endParaRPr lang="en-US" sz="2000" dirty="0"/>
          </a:p>
        </p:txBody>
      </p:sp>
      <p:sp>
        <p:nvSpPr>
          <p:cNvPr id="18" name="digit"/>
          <p:cNvSpPr/>
          <p:nvPr/>
        </p:nvSpPr>
        <p:spPr>
          <a:xfrm>
            <a:off x="8604504" y="2148840"/>
            <a:ext cx="749808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1"/>
          <p:cNvSpPr txBox="1"/>
          <p:nvPr/>
        </p:nvSpPr>
        <p:spPr>
          <a:xfrm>
            <a:off x="8604504" y="2148840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20" name="texture entropy"/>
          <p:cNvSpPr txBox="1"/>
          <p:nvPr/>
        </p:nvSpPr>
        <p:spPr>
          <a:xfrm>
            <a:off x="8513064" y="297180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texture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entropy</a:t>
            </a:r>
            <a:endParaRPr lang="en-US" sz="900" dirty="0"/>
          </a:p>
        </p:txBody>
      </p:sp>
      <p:sp>
        <p:nvSpPr>
          <p:cNvPr id="21" name="_"/>
          <p:cNvSpPr txBox="1"/>
          <p:nvPr/>
        </p:nvSpPr>
        <p:spPr>
          <a:xfrm>
            <a:off x="9354312" y="2148840"/>
            <a:ext cx="146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_</a:t>
            </a:r>
            <a:endParaRPr lang="en-US" sz="2000" dirty="0"/>
          </a:p>
        </p:txBody>
      </p:sp>
      <p:sp>
        <p:nvSpPr>
          <p:cNvPr id="22" name="digit"/>
          <p:cNvSpPr/>
          <p:nvPr/>
        </p:nvSpPr>
        <p:spPr>
          <a:xfrm>
            <a:off x="9500616" y="2148840"/>
            <a:ext cx="749808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1"/>
          <p:cNvSpPr txBox="1"/>
          <p:nvPr/>
        </p:nvSpPr>
        <p:spPr>
          <a:xfrm>
            <a:off x="9500616" y="2148840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24" name="frequency energy"/>
          <p:cNvSpPr txBox="1"/>
          <p:nvPr/>
        </p:nvSpPr>
        <p:spPr>
          <a:xfrm>
            <a:off x="9409176" y="297180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frequency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energy</a:t>
            </a:r>
            <a:endParaRPr lang="en-US" sz="900" dirty="0"/>
          </a:p>
        </p:txBody>
      </p:sp>
      <p:sp>
        <p:nvSpPr>
          <p:cNvPr id="25" name="_"/>
          <p:cNvSpPr txBox="1"/>
          <p:nvPr/>
        </p:nvSpPr>
        <p:spPr>
          <a:xfrm>
            <a:off x="10250424" y="2148840"/>
            <a:ext cx="146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_</a:t>
            </a:r>
            <a:endParaRPr lang="en-US" sz="2000" dirty="0"/>
          </a:p>
        </p:txBody>
      </p:sp>
      <p:sp>
        <p:nvSpPr>
          <p:cNvPr id="26" name="digit"/>
          <p:cNvSpPr/>
          <p:nvPr/>
        </p:nvSpPr>
        <p:spPr>
          <a:xfrm>
            <a:off x="10396728" y="2148840"/>
            <a:ext cx="749808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1"/>
          <p:cNvSpPr txBox="1"/>
          <p:nvPr/>
        </p:nvSpPr>
        <p:spPr>
          <a:xfrm>
            <a:off x="10396728" y="2148840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28" name="orientation consiste"/>
          <p:cNvSpPr txBox="1"/>
          <p:nvPr/>
        </p:nvSpPr>
        <p:spPr>
          <a:xfrm>
            <a:off x="10305288" y="297180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orientation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consistency</a:t>
            </a:r>
            <a:endParaRPr lang="en-US" sz="900" dirty="0"/>
          </a:p>
        </p:txBody>
      </p:sp>
      <p:sp>
        <p:nvSpPr>
          <p:cNvPr id="29" name="각 자리:  0 = 데이터셋 하위 ⅓"/>
          <p:cNvSpPr txBox="1"/>
          <p:nvPr/>
        </p:nvSpPr>
        <p:spPr>
          <a:xfrm>
            <a:off x="672084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각 자리:  0 = 데이터셋 하위 ⅓   1 = 중간 ⅓   2 = 상위 ⅓  (P33 / P66)</a:t>
            </a:r>
            <a:endParaRPr lang="en-US" sz="1200" dirty="0"/>
          </a:p>
        </p:txBody>
      </p:sp>
      <p:sp>
        <p:nvSpPr>
          <p:cNvPr id="30" name="bullets"/>
          <p:cNvSpPr txBox="1"/>
          <p:nvPr/>
        </p:nvSpPr>
        <p:spPr>
          <a:xfrm>
            <a:off x="6720840" y="4069080"/>
            <a:ext cx="46908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"2_1_1_1_1" = 분산이 높고 나머지는 중간인 표면 유형 하나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최대 3⁵ = 243 종, 실제 관측 셀은 데이터셋당 100~200 종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등급 기준은 데이터셋 자신 → 같은 절차라도 셀 경계는 데이터셋마다 다름 (그림 5-4)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셀은 범주형: 순서·이웃 없음, 한 자리만 달라도 다른 셀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결함 k: 6개 형태 특성(linearity·solidity·extent·AR·eccentricity·circularity) → GMM, 개수는 BIC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방법론 3 — 신규 도식 ②: 인구조사 2번 → √곱 → 정규화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ctx_prior 유도: 결함측 선호 AND 배경측 가용성의 기하평균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6766560" cy="1874520"/>
          </a:xfrm>
          <a:prstGeom prst="roundRect">
            <a:avLst>
              <a:gd name="adj" fmla="val 3902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math"/>
          <p:cNvSpPr txBox="1"/>
          <p:nvPr/>
        </p:nvSpPr>
        <p:spPr>
          <a:xfrm>
            <a:off x="822960" y="16002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ctx_prior(k, c)  ∝  √( P_def(k, c) · P_clean(c) ),    행별 max = 1</a:t>
            </a:r>
            <a:endParaRPr lang="en-US" sz="16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214884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FE3E3"/>
                </a:solidFill>
              </a:rPr>
              <a:t>P_def(k,c)</a:t>
            </a:r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: 형태 클러스터 k 결함의 주변 배경 패치 중 셀 c의 비율 (결함 겹침 타일 제외)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BFE3E3"/>
                </a:solidFill>
              </a:rPr>
              <a:t>P_clean(c)</a:t>
            </a:r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: 전체 정상(clean) 배경 패치 중 셀 c의 비율 — 모든 k에 공용 1행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BFE3E3"/>
                </a:solidFill>
              </a:rPr>
              <a:t>기하평균</a:t>
            </a:r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: 어느 한쪽만 높은 셀이 과도하게 선택되는 것을 방지 → "대칭" 호환성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548640" y="3566160"/>
            <a:ext cx="2086661" cy="2514600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① 인구조사: P_def(k,·)"/>
          <p:cNvSpPr txBox="1"/>
          <p:nvPr/>
        </p:nvSpPr>
        <p:spPr>
          <a:xfrm>
            <a:off x="640080" y="3639312"/>
            <a:ext cx="19037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① 인구조사: P_def(k,·)</a:t>
            </a:r>
            <a:endParaRPr lang="en-US" sz="1000" dirty="0"/>
          </a:p>
        </p:txBody>
      </p:sp>
      <p:sp>
        <p:nvSpPr>
          <p:cNvPr id="9" name="bar"/>
          <p:cNvSpPr/>
          <p:nvPr/>
        </p:nvSpPr>
        <p:spPr>
          <a:xfrm>
            <a:off x="850392" y="4206240"/>
            <a:ext cx="261061" cy="14630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0.40"/>
          <p:cNvSpPr txBox="1"/>
          <p:nvPr/>
        </p:nvSpPr>
        <p:spPr>
          <a:xfrm>
            <a:off x="777240" y="395020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0.40</a:t>
            </a:r>
            <a:endParaRPr lang="en-US" sz="800" dirty="0"/>
          </a:p>
        </p:txBody>
      </p:sp>
      <p:sp>
        <p:nvSpPr>
          <p:cNvPr id="11" name="A"/>
          <p:cNvSpPr txBox="1"/>
          <p:nvPr/>
        </p:nvSpPr>
        <p:spPr>
          <a:xfrm>
            <a:off x="777240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</a:t>
            </a:r>
            <a:endParaRPr lang="en-US" sz="1000" dirty="0"/>
          </a:p>
        </p:txBody>
      </p:sp>
      <p:sp>
        <p:nvSpPr>
          <p:cNvPr id="12" name="bar"/>
          <p:cNvSpPr/>
          <p:nvPr/>
        </p:nvSpPr>
        <p:spPr>
          <a:xfrm>
            <a:off x="1257757" y="4937760"/>
            <a:ext cx="261061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0.20"/>
          <p:cNvSpPr txBox="1"/>
          <p:nvPr/>
        </p:nvSpPr>
        <p:spPr>
          <a:xfrm>
            <a:off x="1184605" y="468172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0.20</a:t>
            </a:r>
            <a:endParaRPr lang="en-US" sz="800" dirty="0"/>
          </a:p>
        </p:txBody>
      </p:sp>
      <p:sp>
        <p:nvSpPr>
          <p:cNvPr id="14" name="B"/>
          <p:cNvSpPr txBox="1"/>
          <p:nvPr/>
        </p:nvSpPr>
        <p:spPr>
          <a:xfrm>
            <a:off x="1184605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</a:t>
            </a:r>
            <a:endParaRPr lang="en-US" sz="1000" dirty="0"/>
          </a:p>
        </p:txBody>
      </p:sp>
      <p:sp>
        <p:nvSpPr>
          <p:cNvPr id="15" name="bar"/>
          <p:cNvSpPr/>
          <p:nvPr/>
        </p:nvSpPr>
        <p:spPr>
          <a:xfrm>
            <a:off x="1665122" y="5303520"/>
            <a:ext cx="261061" cy="3657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0.10"/>
          <p:cNvSpPr txBox="1"/>
          <p:nvPr/>
        </p:nvSpPr>
        <p:spPr>
          <a:xfrm>
            <a:off x="1591970" y="504748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0.10</a:t>
            </a:r>
            <a:endParaRPr lang="en-US" sz="800" dirty="0"/>
          </a:p>
        </p:txBody>
      </p:sp>
      <p:sp>
        <p:nvSpPr>
          <p:cNvPr id="17" name="C"/>
          <p:cNvSpPr txBox="1"/>
          <p:nvPr/>
        </p:nvSpPr>
        <p:spPr>
          <a:xfrm>
            <a:off x="1591970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</a:t>
            </a:r>
            <a:endParaRPr lang="en-US" sz="1000" dirty="0"/>
          </a:p>
        </p:txBody>
      </p:sp>
      <p:sp>
        <p:nvSpPr>
          <p:cNvPr id="18" name="bar"/>
          <p:cNvSpPr/>
          <p:nvPr/>
        </p:nvSpPr>
        <p:spPr>
          <a:xfrm>
            <a:off x="2072488" y="4572000"/>
            <a:ext cx="261061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0.30"/>
          <p:cNvSpPr txBox="1"/>
          <p:nvPr/>
        </p:nvSpPr>
        <p:spPr>
          <a:xfrm>
            <a:off x="1999336" y="431596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0.30</a:t>
            </a:r>
            <a:endParaRPr lang="en-US" sz="800" dirty="0"/>
          </a:p>
        </p:txBody>
      </p:sp>
      <p:sp>
        <p:nvSpPr>
          <p:cNvPr id="20" name="D"/>
          <p:cNvSpPr txBox="1"/>
          <p:nvPr/>
        </p:nvSpPr>
        <p:spPr>
          <a:xfrm>
            <a:off x="1999336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</a:t>
            </a:r>
            <a:endParaRPr lang="en-US" sz="1000" dirty="0"/>
          </a:p>
        </p:txBody>
      </p:sp>
      <p:sp>
        <p:nvSpPr>
          <p:cNvPr id="21" name="arrow"/>
          <p:cNvSpPr/>
          <p:nvPr/>
        </p:nvSpPr>
        <p:spPr>
          <a:xfrm>
            <a:off x="2644445" y="4713732"/>
            <a:ext cx="146304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2799893" y="3566160"/>
            <a:ext cx="2086661" cy="2514600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① 인구조사: P_clean"/>
          <p:cNvSpPr txBox="1"/>
          <p:nvPr/>
        </p:nvSpPr>
        <p:spPr>
          <a:xfrm>
            <a:off x="2891333" y="3639312"/>
            <a:ext cx="19037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① 인구조사: P_clean</a:t>
            </a:r>
            <a:endParaRPr lang="en-US" sz="1000" dirty="0"/>
          </a:p>
        </p:txBody>
      </p:sp>
      <p:sp>
        <p:nvSpPr>
          <p:cNvPr id="24" name="bar"/>
          <p:cNvSpPr/>
          <p:nvPr/>
        </p:nvSpPr>
        <p:spPr>
          <a:xfrm>
            <a:off x="3101645" y="4572000"/>
            <a:ext cx="261061" cy="109728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0.30"/>
          <p:cNvSpPr txBox="1"/>
          <p:nvPr/>
        </p:nvSpPr>
        <p:spPr>
          <a:xfrm>
            <a:off x="3028493" y="431596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0.30</a:t>
            </a:r>
            <a:endParaRPr lang="en-US" sz="800" dirty="0"/>
          </a:p>
        </p:txBody>
      </p:sp>
      <p:sp>
        <p:nvSpPr>
          <p:cNvPr id="26" name="A"/>
          <p:cNvSpPr txBox="1"/>
          <p:nvPr/>
        </p:nvSpPr>
        <p:spPr>
          <a:xfrm>
            <a:off x="3028493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</a:t>
            </a:r>
            <a:endParaRPr lang="en-US" sz="1000" dirty="0"/>
          </a:p>
        </p:txBody>
      </p:sp>
      <p:sp>
        <p:nvSpPr>
          <p:cNvPr id="27" name="bar"/>
          <p:cNvSpPr/>
          <p:nvPr/>
        </p:nvSpPr>
        <p:spPr>
          <a:xfrm>
            <a:off x="3509010" y="4206240"/>
            <a:ext cx="261061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0.40"/>
          <p:cNvSpPr txBox="1"/>
          <p:nvPr/>
        </p:nvSpPr>
        <p:spPr>
          <a:xfrm>
            <a:off x="3435858" y="395020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0.40</a:t>
            </a:r>
            <a:endParaRPr lang="en-US" sz="800" dirty="0"/>
          </a:p>
        </p:txBody>
      </p:sp>
      <p:sp>
        <p:nvSpPr>
          <p:cNvPr id="29" name="B"/>
          <p:cNvSpPr txBox="1"/>
          <p:nvPr/>
        </p:nvSpPr>
        <p:spPr>
          <a:xfrm>
            <a:off x="3435858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</a:t>
            </a:r>
            <a:endParaRPr lang="en-US" sz="1000" dirty="0"/>
          </a:p>
        </p:txBody>
      </p:sp>
      <p:sp>
        <p:nvSpPr>
          <p:cNvPr id="30" name="0"/>
          <p:cNvSpPr txBox="1"/>
          <p:nvPr/>
        </p:nvSpPr>
        <p:spPr>
          <a:xfrm>
            <a:off x="3843223" y="541324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</a:t>
            </a:r>
            <a:endParaRPr lang="en-US" sz="800" dirty="0"/>
          </a:p>
        </p:txBody>
      </p:sp>
      <p:sp>
        <p:nvSpPr>
          <p:cNvPr id="31" name="C"/>
          <p:cNvSpPr txBox="1"/>
          <p:nvPr/>
        </p:nvSpPr>
        <p:spPr>
          <a:xfrm>
            <a:off x="3843223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</a:t>
            </a:r>
            <a:endParaRPr lang="en-US" sz="1000" dirty="0"/>
          </a:p>
        </p:txBody>
      </p:sp>
      <p:sp>
        <p:nvSpPr>
          <p:cNvPr id="32" name="bar"/>
          <p:cNvSpPr/>
          <p:nvPr/>
        </p:nvSpPr>
        <p:spPr>
          <a:xfrm>
            <a:off x="4323740" y="4572000"/>
            <a:ext cx="261061" cy="109728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0.30"/>
          <p:cNvSpPr txBox="1"/>
          <p:nvPr/>
        </p:nvSpPr>
        <p:spPr>
          <a:xfrm>
            <a:off x="4250588" y="431596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0.30</a:t>
            </a:r>
            <a:endParaRPr lang="en-US" sz="800" dirty="0"/>
          </a:p>
        </p:txBody>
      </p:sp>
      <p:sp>
        <p:nvSpPr>
          <p:cNvPr id="34" name="D"/>
          <p:cNvSpPr txBox="1"/>
          <p:nvPr/>
        </p:nvSpPr>
        <p:spPr>
          <a:xfrm>
            <a:off x="4250588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</a:t>
            </a:r>
            <a:endParaRPr lang="en-US" sz="1000" dirty="0"/>
          </a:p>
        </p:txBody>
      </p:sp>
      <p:sp>
        <p:nvSpPr>
          <p:cNvPr id="35" name="arrow"/>
          <p:cNvSpPr/>
          <p:nvPr/>
        </p:nvSpPr>
        <p:spPr>
          <a:xfrm>
            <a:off x="4895698" y="4713732"/>
            <a:ext cx="146304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36" name="card"/>
          <p:cNvSpPr/>
          <p:nvPr/>
        </p:nvSpPr>
        <p:spPr>
          <a:xfrm>
            <a:off x="5051146" y="3566160"/>
            <a:ext cx="2086661" cy="2514600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7" name="② √곱 (AND) → raw"/>
          <p:cNvSpPr txBox="1"/>
          <p:nvPr/>
        </p:nvSpPr>
        <p:spPr>
          <a:xfrm>
            <a:off x="5142586" y="3639312"/>
            <a:ext cx="19037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② √곱 (AND) → raw</a:t>
            </a:r>
            <a:endParaRPr lang="en-US" sz="1000" dirty="0"/>
          </a:p>
        </p:txBody>
      </p:sp>
      <p:sp>
        <p:nvSpPr>
          <p:cNvPr id="38" name="bar"/>
          <p:cNvSpPr/>
          <p:nvPr/>
        </p:nvSpPr>
        <p:spPr>
          <a:xfrm>
            <a:off x="5352898" y="4206240"/>
            <a:ext cx="261061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0.35"/>
          <p:cNvSpPr txBox="1"/>
          <p:nvPr/>
        </p:nvSpPr>
        <p:spPr>
          <a:xfrm>
            <a:off x="5279746" y="395020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0.35</a:t>
            </a:r>
            <a:endParaRPr lang="en-US" sz="800" dirty="0"/>
          </a:p>
        </p:txBody>
      </p:sp>
      <p:sp>
        <p:nvSpPr>
          <p:cNvPr id="40" name="A"/>
          <p:cNvSpPr txBox="1"/>
          <p:nvPr/>
        </p:nvSpPr>
        <p:spPr>
          <a:xfrm>
            <a:off x="5279746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</a:t>
            </a:r>
            <a:endParaRPr lang="en-US" sz="1000" dirty="0"/>
          </a:p>
        </p:txBody>
      </p:sp>
      <p:sp>
        <p:nvSpPr>
          <p:cNvPr id="41" name="bar"/>
          <p:cNvSpPr/>
          <p:nvPr/>
        </p:nvSpPr>
        <p:spPr>
          <a:xfrm>
            <a:off x="5760263" y="4474713"/>
            <a:ext cx="261061" cy="1194567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0.28"/>
          <p:cNvSpPr txBox="1"/>
          <p:nvPr/>
        </p:nvSpPr>
        <p:spPr>
          <a:xfrm>
            <a:off x="5687111" y="4218681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0.28</a:t>
            </a:r>
            <a:endParaRPr lang="en-US" sz="800" dirty="0"/>
          </a:p>
        </p:txBody>
      </p:sp>
      <p:sp>
        <p:nvSpPr>
          <p:cNvPr id="43" name="B"/>
          <p:cNvSpPr txBox="1"/>
          <p:nvPr/>
        </p:nvSpPr>
        <p:spPr>
          <a:xfrm>
            <a:off x="5687111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</a:t>
            </a:r>
            <a:endParaRPr lang="en-US" sz="1000" dirty="0"/>
          </a:p>
        </p:txBody>
      </p:sp>
      <p:sp>
        <p:nvSpPr>
          <p:cNvPr id="44" name="0"/>
          <p:cNvSpPr txBox="1"/>
          <p:nvPr/>
        </p:nvSpPr>
        <p:spPr>
          <a:xfrm>
            <a:off x="6094476" y="541324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</a:t>
            </a:r>
            <a:endParaRPr lang="en-US" sz="800" dirty="0"/>
          </a:p>
        </p:txBody>
      </p:sp>
      <p:sp>
        <p:nvSpPr>
          <p:cNvPr id="45" name="C"/>
          <p:cNvSpPr txBox="1"/>
          <p:nvPr/>
        </p:nvSpPr>
        <p:spPr>
          <a:xfrm>
            <a:off x="6094476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</a:t>
            </a:r>
            <a:endParaRPr lang="en-US" sz="1000" dirty="0"/>
          </a:p>
        </p:txBody>
      </p:sp>
      <p:sp>
        <p:nvSpPr>
          <p:cNvPr id="46" name="bar"/>
          <p:cNvSpPr/>
          <p:nvPr/>
        </p:nvSpPr>
        <p:spPr>
          <a:xfrm>
            <a:off x="6574993" y="4402250"/>
            <a:ext cx="261061" cy="126703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0.30"/>
          <p:cNvSpPr txBox="1"/>
          <p:nvPr/>
        </p:nvSpPr>
        <p:spPr>
          <a:xfrm>
            <a:off x="6501841" y="414621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0.30</a:t>
            </a:r>
            <a:endParaRPr lang="en-US" sz="800" dirty="0"/>
          </a:p>
        </p:txBody>
      </p:sp>
      <p:sp>
        <p:nvSpPr>
          <p:cNvPr id="48" name="D"/>
          <p:cNvSpPr txBox="1"/>
          <p:nvPr/>
        </p:nvSpPr>
        <p:spPr>
          <a:xfrm>
            <a:off x="6501841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</a:t>
            </a:r>
            <a:endParaRPr lang="en-US" sz="1000" dirty="0"/>
          </a:p>
        </p:txBody>
      </p:sp>
      <p:sp>
        <p:nvSpPr>
          <p:cNvPr id="49" name="arrow"/>
          <p:cNvSpPr/>
          <p:nvPr/>
        </p:nvSpPr>
        <p:spPr>
          <a:xfrm>
            <a:off x="7146950" y="4713732"/>
            <a:ext cx="146304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50" name="card"/>
          <p:cNvSpPr/>
          <p:nvPr/>
        </p:nvSpPr>
        <p:spPr>
          <a:xfrm>
            <a:off x="7302398" y="3566160"/>
            <a:ext cx="2086661" cy="2514600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1" name="③ 행 max=1 (히트맵 저장)"/>
          <p:cNvSpPr txBox="1"/>
          <p:nvPr/>
        </p:nvSpPr>
        <p:spPr>
          <a:xfrm>
            <a:off x="7393838" y="3639312"/>
            <a:ext cx="19037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③ 행 max=1 (히트맵 저장)</a:t>
            </a:r>
            <a:endParaRPr lang="en-US" sz="1000" dirty="0"/>
          </a:p>
        </p:txBody>
      </p:sp>
      <p:sp>
        <p:nvSpPr>
          <p:cNvPr id="52" name="bar"/>
          <p:cNvSpPr/>
          <p:nvPr/>
        </p:nvSpPr>
        <p:spPr>
          <a:xfrm>
            <a:off x="7604150" y="4206240"/>
            <a:ext cx="261061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1.00"/>
          <p:cNvSpPr txBox="1"/>
          <p:nvPr/>
        </p:nvSpPr>
        <p:spPr>
          <a:xfrm>
            <a:off x="7530998" y="395020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1.00</a:t>
            </a:r>
            <a:endParaRPr lang="en-US" sz="800" dirty="0"/>
          </a:p>
        </p:txBody>
      </p:sp>
      <p:sp>
        <p:nvSpPr>
          <p:cNvPr id="54" name="A"/>
          <p:cNvSpPr txBox="1"/>
          <p:nvPr/>
        </p:nvSpPr>
        <p:spPr>
          <a:xfrm>
            <a:off x="7530998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</a:t>
            </a:r>
            <a:endParaRPr lang="en-US" sz="1000" dirty="0"/>
          </a:p>
        </p:txBody>
      </p:sp>
      <p:sp>
        <p:nvSpPr>
          <p:cNvPr id="55" name="bar"/>
          <p:cNvSpPr/>
          <p:nvPr/>
        </p:nvSpPr>
        <p:spPr>
          <a:xfrm>
            <a:off x="8011516" y="4474713"/>
            <a:ext cx="261061" cy="1194567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0.82"/>
          <p:cNvSpPr txBox="1"/>
          <p:nvPr/>
        </p:nvSpPr>
        <p:spPr>
          <a:xfrm>
            <a:off x="7938364" y="4218681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0.82</a:t>
            </a:r>
            <a:endParaRPr lang="en-US" sz="800" dirty="0"/>
          </a:p>
        </p:txBody>
      </p:sp>
      <p:sp>
        <p:nvSpPr>
          <p:cNvPr id="57" name="B"/>
          <p:cNvSpPr txBox="1"/>
          <p:nvPr/>
        </p:nvSpPr>
        <p:spPr>
          <a:xfrm>
            <a:off x="7938364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</a:t>
            </a:r>
            <a:endParaRPr lang="en-US" sz="1000" dirty="0"/>
          </a:p>
        </p:txBody>
      </p:sp>
      <p:sp>
        <p:nvSpPr>
          <p:cNvPr id="58" name="0"/>
          <p:cNvSpPr txBox="1"/>
          <p:nvPr/>
        </p:nvSpPr>
        <p:spPr>
          <a:xfrm>
            <a:off x="8345729" y="541324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</a:t>
            </a:r>
            <a:endParaRPr lang="en-US" sz="800" dirty="0"/>
          </a:p>
        </p:txBody>
      </p:sp>
      <p:sp>
        <p:nvSpPr>
          <p:cNvPr id="59" name="C"/>
          <p:cNvSpPr txBox="1"/>
          <p:nvPr/>
        </p:nvSpPr>
        <p:spPr>
          <a:xfrm>
            <a:off x="8345729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</a:t>
            </a:r>
            <a:endParaRPr lang="en-US" sz="1000" dirty="0"/>
          </a:p>
        </p:txBody>
      </p:sp>
      <p:sp>
        <p:nvSpPr>
          <p:cNvPr id="60" name="bar"/>
          <p:cNvSpPr/>
          <p:nvPr/>
        </p:nvSpPr>
        <p:spPr>
          <a:xfrm>
            <a:off x="8826246" y="4402250"/>
            <a:ext cx="261061" cy="126703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0.87"/>
          <p:cNvSpPr txBox="1"/>
          <p:nvPr/>
        </p:nvSpPr>
        <p:spPr>
          <a:xfrm>
            <a:off x="8753094" y="414621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0.87</a:t>
            </a:r>
            <a:endParaRPr lang="en-US" sz="800" dirty="0"/>
          </a:p>
        </p:txBody>
      </p:sp>
      <p:sp>
        <p:nvSpPr>
          <p:cNvPr id="62" name="D"/>
          <p:cNvSpPr txBox="1"/>
          <p:nvPr/>
        </p:nvSpPr>
        <p:spPr>
          <a:xfrm>
            <a:off x="8753094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</a:t>
            </a:r>
            <a:endParaRPr lang="en-US" sz="1000" dirty="0"/>
          </a:p>
        </p:txBody>
      </p:sp>
      <p:sp>
        <p:nvSpPr>
          <p:cNvPr id="63" name="arrow"/>
          <p:cNvSpPr/>
          <p:nvPr/>
        </p:nvSpPr>
        <p:spPr>
          <a:xfrm>
            <a:off x="9398203" y="4713732"/>
            <a:ext cx="146304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64" name="card"/>
          <p:cNvSpPr/>
          <p:nvPr/>
        </p:nvSpPr>
        <p:spPr>
          <a:xfrm>
            <a:off x="9553651" y="3566160"/>
            <a:ext cx="2086661" cy="2514600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5" name="④ 합=1 → tgt[k]"/>
          <p:cNvSpPr txBox="1"/>
          <p:nvPr/>
        </p:nvSpPr>
        <p:spPr>
          <a:xfrm>
            <a:off x="9645091" y="3639312"/>
            <a:ext cx="19037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④ 합=1 → tgt[k]</a:t>
            </a:r>
            <a:endParaRPr lang="en-US" sz="1000" dirty="0"/>
          </a:p>
        </p:txBody>
      </p:sp>
      <p:sp>
        <p:nvSpPr>
          <p:cNvPr id="66" name="bar"/>
          <p:cNvSpPr/>
          <p:nvPr/>
        </p:nvSpPr>
        <p:spPr>
          <a:xfrm>
            <a:off x="9855403" y="4206240"/>
            <a:ext cx="261061" cy="146304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0.37"/>
          <p:cNvSpPr txBox="1"/>
          <p:nvPr/>
        </p:nvSpPr>
        <p:spPr>
          <a:xfrm>
            <a:off x="9782251" y="395020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0.37</a:t>
            </a:r>
            <a:endParaRPr lang="en-US" sz="800" dirty="0"/>
          </a:p>
        </p:txBody>
      </p:sp>
      <p:sp>
        <p:nvSpPr>
          <p:cNvPr id="68" name="A"/>
          <p:cNvSpPr txBox="1"/>
          <p:nvPr/>
        </p:nvSpPr>
        <p:spPr>
          <a:xfrm>
            <a:off x="9782251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</a:t>
            </a:r>
            <a:endParaRPr lang="en-US" sz="1000" dirty="0"/>
          </a:p>
        </p:txBody>
      </p:sp>
      <p:sp>
        <p:nvSpPr>
          <p:cNvPr id="69" name="bar"/>
          <p:cNvSpPr/>
          <p:nvPr/>
        </p:nvSpPr>
        <p:spPr>
          <a:xfrm>
            <a:off x="10262768" y="4474713"/>
            <a:ext cx="261061" cy="1194567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0.30"/>
          <p:cNvSpPr txBox="1"/>
          <p:nvPr/>
        </p:nvSpPr>
        <p:spPr>
          <a:xfrm>
            <a:off x="10189616" y="4218681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0.30</a:t>
            </a:r>
            <a:endParaRPr lang="en-US" sz="800" dirty="0"/>
          </a:p>
        </p:txBody>
      </p:sp>
      <p:sp>
        <p:nvSpPr>
          <p:cNvPr id="71" name="B"/>
          <p:cNvSpPr txBox="1"/>
          <p:nvPr/>
        </p:nvSpPr>
        <p:spPr>
          <a:xfrm>
            <a:off x="10189616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</a:t>
            </a:r>
            <a:endParaRPr lang="en-US" sz="1000" dirty="0"/>
          </a:p>
        </p:txBody>
      </p:sp>
      <p:sp>
        <p:nvSpPr>
          <p:cNvPr id="72" name="0"/>
          <p:cNvSpPr txBox="1"/>
          <p:nvPr/>
        </p:nvSpPr>
        <p:spPr>
          <a:xfrm>
            <a:off x="10596982" y="541324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</a:t>
            </a:r>
            <a:endParaRPr lang="en-US" sz="800" dirty="0"/>
          </a:p>
        </p:txBody>
      </p:sp>
      <p:sp>
        <p:nvSpPr>
          <p:cNvPr id="73" name="C"/>
          <p:cNvSpPr txBox="1"/>
          <p:nvPr/>
        </p:nvSpPr>
        <p:spPr>
          <a:xfrm>
            <a:off x="10596982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</a:t>
            </a:r>
            <a:endParaRPr lang="en-US" sz="1000" dirty="0"/>
          </a:p>
        </p:txBody>
      </p:sp>
      <p:sp>
        <p:nvSpPr>
          <p:cNvPr id="74" name="bar"/>
          <p:cNvSpPr/>
          <p:nvPr/>
        </p:nvSpPr>
        <p:spPr>
          <a:xfrm>
            <a:off x="11077499" y="4402250"/>
            <a:ext cx="261061" cy="126703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0.32"/>
          <p:cNvSpPr txBox="1"/>
          <p:nvPr/>
        </p:nvSpPr>
        <p:spPr>
          <a:xfrm>
            <a:off x="11004347" y="4146218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0.32</a:t>
            </a:r>
            <a:endParaRPr lang="en-US" sz="800" dirty="0"/>
          </a:p>
        </p:txBody>
      </p:sp>
      <p:sp>
        <p:nvSpPr>
          <p:cNvPr id="76" name="D"/>
          <p:cNvSpPr txBox="1"/>
          <p:nvPr/>
        </p:nvSpPr>
        <p:spPr>
          <a:xfrm>
            <a:off x="11004347" y="5696712"/>
            <a:ext cx="407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</a:t>
            </a:r>
            <a:endParaRPr lang="en-US" sz="1000" dirty="0"/>
          </a:p>
        </p:txBody>
      </p:sp>
      <p:sp>
        <p:nvSpPr>
          <p:cNvPr id="77" name="C: 결함은 그 옆에 살지만 clea"/>
          <p:cNvSpPr txBox="1"/>
          <p:nvPr/>
        </p:nvSpPr>
        <p:spPr>
          <a:xfrm>
            <a:off x="548640" y="615391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C: 결함은 그 옆에 살지만 clean 배경에 없음 → 자격 박탈 (0).  ③과 ④는 같은 모양, 눈금만 다름(최적 대비 % → 전체 중 비율).  tgt[k]는 이후 배경·위치 선택의 과녁.</a:t>
            </a:r>
            <a:endParaRPr lang="en-US" sz="1100" dirty="0"/>
          </a:p>
        </p:txBody>
      </p:sp>
      <p:pic>
        <p:nvPicPr>
          <p:cNvPr id="78" name="fig5-6.png" descr="D:\project\aroma\GRADUATION\figures\fig5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4808" y="1463040"/>
            <a:ext cx="3220216" cy="1874520"/>
          </a:xfrm>
          <a:prstGeom prst="rect">
            <a:avLst/>
          </a:prstGeom>
        </p:spPr>
      </p:pic>
      <p:sp>
        <p:nvSpPr>
          <p:cNvPr id="79" name="caption"/>
          <p:cNvSpPr txBox="1"/>
          <p:nvPr/>
        </p:nvSpPr>
        <p:spPr>
          <a:xfrm>
            <a:off x="7589520" y="33832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5-6  ctx_prior 히트맵 (행 peak = 1)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방법론 4 — 그림 5-7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ROI 선발: ROI_score = ctx_prior + morph_prior 로 순위화, 쿼터로 편중 방지</a:t>
            </a:r>
            <a:endParaRPr lang="en-US" sz="2400" dirty="0"/>
          </a:p>
        </p:txBody>
      </p:sp>
      <p:pic>
        <p:nvPicPr>
          <p:cNvPr id="4" name="fig5-7.png" descr="D:\project\aroma\GRADUATION\figures\fig5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68" y="1463040"/>
            <a:ext cx="3315903" cy="484632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6355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5-7  ROI 선택 및 호환성 기반 배치 흐름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937760" y="1463040"/>
            <a:ext cx="6702552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7" name="math"/>
          <p:cNvSpPr txBox="1"/>
          <p:nvPr/>
        </p:nvSpPr>
        <p:spPr>
          <a:xfrm>
            <a:off x="5212080" y="16002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ROI_score = ctx_prior(k, c_src) + morph_prior(k)</a:t>
            </a:r>
            <a:endParaRPr lang="en-US" sz="1700" dirty="0"/>
          </a:p>
        </p:txBody>
      </p:sp>
      <p:sp>
        <p:nvSpPr>
          <p:cNvPr id="8" name="ctx_prior: 결함 자신의 소스"/>
          <p:cNvSpPr txBox="1"/>
          <p:nvPr/>
        </p:nvSpPr>
        <p:spPr>
          <a:xfrm>
            <a:off x="5212080" y="21488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ctx_prior: 결함 자신의 소스 맥락 셀에서 읽은 호환성 스칼라   ·   morph_prior = P(k): 클러스터 크기 비율. 무가중 합으로 후보 결함–배경 쌍을 순위화, 상위 K개 채택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937760" y="3063240"/>
            <a:ext cx="670255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5120640" y="32461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1" name="형태 클러스터별 기본 쿼터"/>
          <p:cNvSpPr txBox="1"/>
          <p:nvPr/>
        </p:nvSpPr>
        <p:spPr>
          <a:xfrm>
            <a:off x="5623560" y="31363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형태 클러스터별 기본 쿼터</a:t>
            </a:r>
            <a:endParaRPr lang="en-US" sz="1200" dirty="0"/>
          </a:p>
        </p:txBody>
      </p:sp>
      <p:sp>
        <p:nvSpPr>
          <p:cNvPr id="12" name="특정 형태 클러스터에 선택이 몰리지 "/>
          <p:cNvSpPr txBox="1"/>
          <p:nvPr/>
        </p:nvSpPr>
        <p:spPr>
          <a:xfrm>
            <a:off x="5623560" y="34290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특정 형태 클러스터에 선택이 몰리지 않도록 (k, c) 쌍 단위로 배분 → 희귀 쌍 커버리지의 원천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4937760" y="3904488"/>
            <a:ext cx="670255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120640" y="40873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5" name="클래스별 최소 하한선"/>
          <p:cNvSpPr txBox="1"/>
          <p:nvPr/>
        </p:nvSpPr>
        <p:spPr>
          <a:xfrm>
            <a:off x="5623560" y="3977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클래스별 최소 하한선</a:t>
            </a:r>
            <a:endParaRPr lang="en-US" sz="1200" dirty="0"/>
          </a:p>
        </p:txBody>
      </p:sp>
      <p:sp>
        <p:nvSpPr>
          <p:cNvPr id="16" name="다중 클래스 데이터셋에서 과소표집 클"/>
          <p:cNvSpPr txBox="1"/>
          <p:nvPr/>
        </p:nvSpPr>
        <p:spPr>
          <a:xfrm>
            <a:off x="5623560" y="427024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다중 클래스 데이터셋에서 과소표집 클래스의 기아 방지 (예: Severstal c2 균형 배분)</a:t>
            </a:r>
            <a:endParaRPr lang="en-US" sz="1000" dirty="0"/>
          </a:p>
        </p:txBody>
      </p:sp>
      <p:sp>
        <p:nvSpPr>
          <p:cNvPr id="17" name="card"/>
          <p:cNvSpPr/>
          <p:nvPr/>
        </p:nvSpPr>
        <p:spPr>
          <a:xfrm>
            <a:off x="4937760" y="4745736"/>
            <a:ext cx="670255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5120640" y="49286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9" name="소스 크롭 최대 1회 선택"/>
          <p:cNvSpPr txBox="1"/>
          <p:nvPr/>
        </p:nvSpPr>
        <p:spPr>
          <a:xfrm>
            <a:off x="5623560" y="48188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소스 크롭 최대 1회 선택</a:t>
            </a:r>
            <a:endParaRPr lang="en-US" sz="1200" dirty="0"/>
          </a:p>
        </p:txBody>
      </p:sp>
      <p:sp>
        <p:nvSpPr>
          <p:cNvPr id="20" name="동일 결함 크롭의 반복 사용으로 인한"/>
          <p:cNvSpPr txBox="1"/>
          <p:nvPr/>
        </p:nvSpPr>
        <p:spPr>
          <a:xfrm>
            <a:off x="5623560" y="511149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동일 결함 크롭의 반복 사용으로 인한 다양성 붕괴 제거</a:t>
            </a:r>
            <a:endParaRPr lang="en-US" sz="1000" dirty="0"/>
          </a:p>
        </p:txBody>
      </p:sp>
      <p:sp>
        <p:nvSpPr>
          <p:cNvPr id="21" name="card"/>
          <p:cNvSpPr/>
          <p:nvPr/>
        </p:nvSpPr>
        <p:spPr>
          <a:xfrm>
            <a:off x="4937760" y="5586984"/>
            <a:ext cx="670255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5120640" y="576986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23" name="품질 게이트"/>
          <p:cNvSpPr txBox="1"/>
          <p:nvPr/>
        </p:nvSpPr>
        <p:spPr>
          <a:xfrm>
            <a:off x="5623560" y="56601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품질 게이트</a:t>
            </a:r>
            <a:endParaRPr lang="en-US" sz="1200" dirty="0"/>
          </a:p>
        </p:txBody>
      </p:sp>
      <p:sp>
        <p:nvSpPr>
          <p:cNvPr id="24" name="블러·대비·밝기·노이즈 가중합 — 하"/>
          <p:cNvSpPr txBox="1"/>
          <p:nvPr/>
        </p:nvSpPr>
        <p:spPr>
          <a:xfrm>
            <a:off x="5623560" y="595274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블러·대비·밝기·노이즈 가중합 — 하위 품질 배경 패치는 합성에서 배제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방법론 5 — 신규 도식 ⑤: 집계 반경이 넓어지는 세 적합도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배경 이미지 선택: bg_score = src_fit + class_fit + size_fit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603504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math"/>
          <p:cNvSpPr txBox="1"/>
          <p:nvPr/>
        </p:nvSpPr>
        <p:spPr>
          <a:xfrm>
            <a:off x="822960" y="15727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∩(a, b) = Σ_c min(a(c), b(c))      bg_score(g) = src_fit + class_fit + size_fit</a:t>
            </a:r>
            <a:endParaRPr lang="en-US" sz="1300" dirty="0"/>
          </a:p>
        </p:txBody>
      </p:sp>
      <p:sp>
        <p:nvSpPr>
          <p:cNvPr id="6" name="모든 적합도는 후보 배경 g의 맥락 "/>
          <p:cNvSpPr txBox="1"/>
          <p:nvPr/>
        </p:nvSpPr>
        <p:spPr>
          <a:xfrm>
            <a:off x="822960" y="20574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모든 적합도는 후보 배경 g의 맥락 셀 히스토그램 h_g와 목표 분포의 히스토그램 교차(겹친 질량). 가장 높은 정상 이미지를 배경으로 배정</a:t>
            </a:r>
            <a:endParaRPr lang="en-US" sz="1100" dirty="0"/>
          </a:p>
        </p:txBody>
      </p:sp>
      <p:sp>
        <p:nvSpPr>
          <p:cNvPr id="7" name="class_fit"/>
          <p:cNvSpPr/>
          <p:nvPr/>
        </p:nvSpPr>
        <p:spPr>
          <a:xfrm>
            <a:off x="1051560" y="3017520"/>
            <a:ext cx="2651760" cy="2651760"/>
          </a:xfrm>
          <a:prstGeom prst="ellipse">
            <a:avLst/>
          </a:prstGeom>
          <a:solidFill>
            <a:schemeClr val="accent3">
              <a:alpha val="45000"/>
            </a:scheme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rc_fit"/>
          <p:cNvSpPr/>
          <p:nvPr/>
        </p:nvSpPr>
        <p:spPr>
          <a:xfrm>
            <a:off x="1508760" y="3474720"/>
            <a:ext cx="1737360" cy="1737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fect"/>
          <p:cNvSpPr/>
          <p:nvPr/>
        </p:nvSpPr>
        <p:spPr>
          <a:xfrm>
            <a:off x="1965960" y="3931920"/>
            <a:ext cx="822960" cy="8229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결함"/>
          <p:cNvSpPr txBox="1"/>
          <p:nvPr/>
        </p:nvSpPr>
        <p:spPr>
          <a:xfrm>
            <a:off x="196596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결함</a:t>
            </a:r>
            <a:endParaRPr lang="en-US" sz="1200" dirty="0"/>
          </a:p>
        </p:txBody>
      </p:sp>
      <p:sp>
        <p:nvSpPr>
          <p:cNvPr id="11" name="src_fit"/>
          <p:cNvSpPr txBox="1"/>
          <p:nvPr/>
        </p:nvSpPr>
        <p:spPr>
          <a:xfrm>
            <a:off x="283464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src_fit</a:t>
            </a:r>
            <a:endParaRPr lang="en-US" sz="1100" dirty="0"/>
          </a:p>
        </p:txBody>
      </p:sp>
      <p:sp>
        <p:nvSpPr>
          <p:cNvPr id="12" name="class_fit"/>
          <p:cNvSpPr txBox="1"/>
          <p:nvPr/>
        </p:nvSpPr>
        <p:spPr>
          <a:xfrm>
            <a:off x="324612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class_fit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4023360" y="2834640"/>
            <a:ext cx="27432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pill"/>
          <p:cNvSpPr/>
          <p:nvPr/>
        </p:nvSpPr>
        <p:spPr>
          <a:xfrm>
            <a:off x="4160520" y="3191256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pill-text"/>
          <p:cNvSpPr txBox="1"/>
          <p:nvPr/>
        </p:nvSpPr>
        <p:spPr>
          <a:xfrm>
            <a:off x="4160520" y="31912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src_fit</a:t>
            </a:r>
            <a:endParaRPr lang="en-US" sz="1000" dirty="0"/>
          </a:p>
        </p:txBody>
      </p:sp>
      <p:sp>
        <p:nvSpPr>
          <p:cNvPr id="16" name="개체 단위"/>
          <p:cNvSpPr txBox="1"/>
          <p:nvPr/>
        </p:nvSpPr>
        <p:spPr>
          <a:xfrm>
            <a:off x="5212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개체 단위</a:t>
            </a:r>
            <a:endParaRPr lang="en-US" sz="1100" dirty="0"/>
          </a:p>
        </p:txBody>
      </p:sp>
      <p:sp>
        <p:nvSpPr>
          <p:cNvPr id="17" name="이 결함이 잘려나온 그 원본 이미지의"/>
          <p:cNvSpPr txBox="1"/>
          <p:nvPr/>
        </p:nvSpPr>
        <p:spPr>
          <a:xfrm>
            <a:off x="5212080" y="320040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이 결함이 잘려나온 그 원본 이미지의 배경 분포 p_src와의 교차 — "결함이 원래 살던 표면과 닮았나"</a:t>
            </a:r>
            <a:endParaRPr lang="en-US" sz="950" dirty="0"/>
          </a:p>
        </p:txBody>
      </p:sp>
      <p:sp>
        <p:nvSpPr>
          <p:cNvPr id="18" name="card"/>
          <p:cNvSpPr/>
          <p:nvPr/>
        </p:nvSpPr>
        <p:spPr>
          <a:xfrm>
            <a:off x="4023360" y="4023360"/>
            <a:ext cx="27432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9" name="pill"/>
          <p:cNvSpPr/>
          <p:nvPr/>
        </p:nvSpPr>
        <p:spPr>
          <a:xfrm>
            <a:off x="4160520" y="4379976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pill-text"/>
          <p:cNvSpPr txBox="1"/>
          <p:nvPr/>
        </p:nvSpPr>
        <p:spPr>
          <a:xfrm>
            <a:off x="4160520" y="43799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class_fit</a:t>
            </a:r>
            <a:endParaRPr lang="en-US" sz="1000" dirty="0"/>
          </a:p>
        </p:txBody>
      </p:sp>
      <p:sp>
        <p:nvSpPr>
          <p:cNvPr id="21" name="클래스 단위"/>
          <p:cNvSpPr txBox="1"/>
          <p:nvPr/>
        </p:nvSpPr>
        <p:spPr>
          <a:xfrm>
            <a:off x="521208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클래스 단위</a:t>
            </a:r>
            <a:endParaRPr lang="en-US" sz="1100" dirty="0"/>
          </a:p>
        </p:txBody>
      </p:sp>
      <p:sp>
        <p:nvSpPr>
          <p:cNvPr id="22" name="같은 클래스 결함 주변 배경의 집계 "/>
          <p:cNvSpPr txBox="1"/>
          <p:nvPr/>
        </p:nvSpPr>
        <p:spPr>
          <a:xfrm>
            <a:off x="5212080" y="43891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같은 클래스 결함 주변 배경의 집계 분포 p_cls와의 교차 — "이 클래스 결함들의 표면과 닮았나"</a:t>
            </a:r>
            <a:endParaRPr lang="en-US" sz="950" dirty="0"/>
          </a:p>
        </p:txBody>
      </p:sp>
      <p:sp>
        <p:nvSpPr>
          <p:cNvPr id="23" name="card"/>
          <p:cNvSpPr/>
          <p:nvPr/>
        </p:nvSpPr>
        <p:spPr>
          <a:xfrm>
            <a:off x="4023360" y="5212080"/>
            <a:ext cx="27432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4" name="pill"/>
          <p:cNvSpPr/>
          <p:nvPr/>
        </p:nvSpPr>
        <p:spPr>
          <a:xfrm>
            <a:off x="4160520" y="5568696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ill-text"/>
          <p:cNvSpPr txBox="1"/>
          <p:nvPr/>
        </p:nvSpPr>
        <p:spPr>
          <a:xfrm>
            <a:off x="4160520" y="55686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size_fit</a:t>
            </a:r>
            <a:endParaRPr lang="en-US" sz="1000" dirty="0"/>
          </a:p>
        </p:txBody>
      </p:sp>
      <p:sp>
        <p:nvSpPr>
          <p:cNvPr id="26" name="기하"/>
          <p:cNvSpPr txBox="1"/>
          <p:nvPr/>
        </p:nvSpPr>
        <p:spPr>
          <a:xfrm>
            <a:off x="5212080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기하</a:t>
            </a:r>
            <a:endParaRPr lang="en-US" sz="1100" dirty="0"/>
          </a:p>
        </p:txBody>
      </p:sp>
      <p:sp>
        <p:nvSpPr>
          <p:cNvPr id="27" name="min(1, 0.95·W_g/w, 0"/>
          <p:cNvSpPr txBox="1"/>
          <p:nvPr/>
        </p:nvSpPr>
        <p:spPr>
          <a:xfrm>
            <a:off x="5212080" y="557784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min(1, 0.95·W_g/w, 0.95·H_g/h) — 왜곡 없이 들어가는 정도 (1 = 무축소)</a:t>
            </a:r>
            <a:endParaRPr lang="en-US" sz="950" dirty="0"/>
          </a:p>
        </p:txBody>
      </p:sp>
      <p:pic>
        <p:nvPicPr>
          <p:cNvPr id="28" name="fig5-8.png" descr="D:\project\aroma\GRADUATION\figures\fig5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2257" y="1463040"/>
            <a:ext cx="4485238" cy="4754880"/>
          </a:xfrm>
          <a:prstGeom prst="rect">
            <a:avLst/>
          </a:prstGeom>
        </p:spPr>
      </p:pic>
      <p:sp>
        <p:nvSpPr>
          <p:cNvPr id="29" name="caption"/>
          <p:cNvSpPr txBox="1"/>
          <p:nvPr/>
        </p:nvSpPr>
        <p:spPr>
          <a:xfrm>
            <a:off x="6949440" y="626364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5-8  실제 이미지에서의 배경 할당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방법론 6 — 신규 도식 ①: 64px 타일 격자 위의 후보 위치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삽입 위치 선택 ①: 핀 s · 스티커 F(s) · 둘레 R(s)</a:t>
            </a:r>
            <a:endParaRPr lang="en-US" sz="2400" dirty="0"/>
          </a:p>
        </p:txBody>
      </p:sp>
      <p:sp>
        <p:nvSpPr>
          <p:cNvPr id="4" name="tile"/>
          <p:cNvSpPr/>
          <p:nvPr/>
        </p:nvSpPr>
        <p:spPr>
          <a:xfrm>
            <a:off x="731520" y="1737360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ile"/>
          <p:cNvSpPr/>
          <p:nvPr/>
        </p:nvSpPr>
        <p:spPr>
          <a:xfrm>
            <a:off x="1298448" y="1737360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R"/>
          <p:cNvSpPr txBox="1"/>
          <p:nvPr/>
        </p:nvSpPr>
        <p:spPr>
          <a:xfrm>
            <a:off x="129844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7" name="tile"/>
          <p:cNvSpPr/>
          <p:nvPr/>
        </p:nvSpPr>
        <p:spPr>
          <a:xfrm>
            <a:off x="1865376" y="1737360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R"/>
          <p:cNvSpPr txBox="1"/>
          <p:nvPr/>
        </p:nvSpPr>
        <p:spPr>
          <a:xfrm>
            <a:off x="1865376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9" name="tile"/>
          <p:cNvSpPr/>
          <p:nvPr/>
        </p:nvSpPr>
        <p:spPr>
          <a:xfrm>
            <a:off x="2432304" y="1737360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R"/>
          <p:cNvSpPr txBox="1"/>
          <p:nvPr/>
        </p:nvSpPr>
        <p:spPr>
          <a:xfrm>
            <a:off x="2432304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11" name="tile"/>
          <p:cNvSpPr/>
          <p:nvPr/>
        </p:nvSpPr>
        <p:spPr>
          <a:xfrm>
            <a:off x="2999232" y="1737360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R"/>
          <p:cNvSpPr txBox="1"/>
          <p:nvPr/>
        </p:nvSpPr>
        <p:spPr>
          <a:xfrm>
            <a:off x="2999232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13" name="tile"/>
          <p:cNvSpPr/>
          <p:nvPr/>
        </p:nvSpPr>
        <p:spPr>
          <a:xfrm>
            <a:off x="3566160" y="1737360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ile"/>
          <p:cNvSpPr/>
          <p:nvPr/>
        </p:nvSpPr>
        <p:spPr>
          <a:xfrm>
            <a:off x="4133088" y="1737360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ile"/>
          <p:cNvSpPr/>
          <p:nvPr/>
        </p:nvSpPr>
        <p:spPr>
          <a:xfrm>
            <a:off x="4700016" y="1737360"/>
            <a:ext cx="566928" cy="566928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void"/>
          <p:cNvSpPr txBox="1"/>
          <p:nvPr/>
        </p:nvSpPr>
        <p:spPr>
          <a:xfrm>
            <a:off x="4700016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void</a:t>
            </a:r>
            <a:endParaRPr lang="en-US" sz="700" dirty="0"/>
          </a:p>
        </p:txBody>
      </p:sp>
      <p:sp>
        <p:nvSpPr>
          <p:cNvPr id="17" name="tile"/>
          <p:cNvSpPr/>
          <p:nvPr/>
        </p:nvSpPr>
        <p:spPr>
          <a:xfrm>
            <a:off x="731520" y="2304288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ile"/>
          <p:cNvSpPr/>
          <p:nvPr/>
        </p:nvSpPr>
        <p:spPr>
          <a:xfrm>
            <a:off x="1298448" y="2304288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R"/>
          <p:cNvSpPr txBox="1"/>
          <p:nvPr/>
        </p:nvSpPr>
        <p:spPr>
          <a:xfrm>
            <a:off x="1298448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20" name="tile"/>
          <p:cNvSpPr/>
          <p:nvPr/>
        </p:nvSpPr>
        <p:spPr>
          <a:xfrm>
            <a:off x="1865376" y="2304288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F"/>
          <p:cNvSpPr txBox="1"/>
          <p:nvPr/>
        </p:nvSpPr>
        <p:spPr>
          <a:xfrm>
            <a:off x="1865376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</a:t>
            </a:r>
            <a:endParaRPr lang="en-US" sz="1200" dirty="0"/>
          </a:p>
        </p:txBody>
      </p:sp>
      <p:sp>
        <p:nvSpPr>
          <p:cNvPr id="22" name="tile"/>
          <p:cNvSpPr/>
          <p:nvPr/>
        </p:nvSpPr>
        <p:spPr>
          <a:xfrm>
            <a:off x="2432304" y="2304288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F"/>
          <p:cNvSpPr txBox="1"/>
          <p:nvPr/>
        </p:nvSpPr>
        <p:spPr>
          <a:xfrm>
            <a:off x="2432304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</a:t>
            </a:r>
            <a:endParaRPr lang="en-US" sz="1200" dirty="0"/>
          </a:p>
        </p:txBody>
      </p:sp>
      <p:sp>
        <p:nvSpPr>
          <p:cNvPr id="24" name="tile"/>
          <p:cNvSpPr/>
          <p:nvPr/>
        </p:nvSpPr>
        <p:spPr>
          <a:xfrm>
            <a:off x="2999232" y="2304288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R"/>
          <p:cNvSpPr txBox="1"/>
          <p:nvPr/>
        </p:nvSpPr>
        <p:spPr>
          <a:xfrm>
            <a:off x="2999232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26" name="tile"/>
          <p:cNvSpPr/>
          <p:nvPr/>
        </p:nvSpPr>
        <p:spPr>
          <a:xfrm>
            <a:off x="3566160" y="2304288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ile"/>
          <p:cNvSpPr/>
          <p:nvPr/>
        </p:nvSpPr>
        <p:spPr>
          <a:xfrm>
            <a:off x="4133088" y="2304288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ile"/>
          <p:cNvSpPr/>
          <p:nvPr/>
        </p:nvSpPr>
        <p:spPr>
          <a:xfrm>
            <a:off x="4700016" y="2304288"/>
            <a:ext cx="566928" cy="566928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void"/>
          <p:cNvSpPr txBox="1"/>
          <p:nvPr/>
        </p:nvSpPr>
        <p:spPr>
          <a:xfrm>
            <a:off x="4700016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void</a:t>
            </a:r>
            <a:endParaRPr lang="en-US" sz="700" dirty="0"/>
          </a:p>
        </p:txBody>
      </p:sp>
      <p:sp>
        <p:nvSpPr>
          <p:cNvPr id="30" name="tile"/>
          <p:cNvSpPr/>
          <p:nvPr/>
        </p:nvSpPr>
        <p:spPr>
          <a:xfrm>
            <a:off x="731520" y="2871216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ile"/>
          <p:cNvSpPr/>
          <p:nvPr/>
        </p:nvSpPr>
        <p:spPr>
          <a:xfrm>
            <a:off x="1298448" y="2871216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R"/>
          <p:cNvSpPr txBox="1"/>
          <p:nvPr/>
        </p:nvSpPr>
        <p:spPr>
          <a:xfrm>
            <a:off x="129844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33" name="tile"/>
          <p:cNvSpPr/>
          <p:nvPr/>
        </p:nvSpPr>
        <p:spPr>
          <a:xfrm>
            <a:off x="1865376" y="2871216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F"/>
          <p:cNvSpPr txBox="1"/>
          <p:nvPr/>
        </p:nvSpPr>
        <p:spPr>
          <a:xfrm>
            <a:off x="186537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</a:t>
            </a:r>
            <a:endParaRPr lang="en-US" sz="1200" dirty="0"/>
          </a:p>
        </p:txBody>
      </p:sp>
      <p:sp>
        <p:nvSpPr>
          <p:cNvPr id="35" name="tile"/>
          <p:cNvSpPr/>
          <p:nvPr/>
        </p:nvSpPr>
        <p:spPr>
          <a:xfrm>
            <a:off x="2432304" y="2871216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F"/>
          <p:cNvSpPr txBox="1"/>
          <p:nvPr/>
        </p:nvSpPr>
        <p:spPr>
          <a:xfrm>
            <a:off x="2432304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</a:t>
            </a:r>
            <a:endParaRPr lang="en-US" sz="1200" dirty="0"/>
          </a:p>
        </p:txBody>
      </p:sp>
      <p:sp>
        <p:nvSpPr>
          <p:cNvPr id="37" name="tile"/>
          <p:cNvSpPr/>
          <p:nvPr/>
        </p:nvSpPr>
        <p:spPr>
          <a:xfrm>
            <a:off x="2999232" y="2871216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R"/>
          <p:cNvSpPr txBox="1"/>
          <p:nvPr/>
        </p:nvSpPr>
        <p:spPr>
          <a:xfrm>
            <a:off x="2999232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39" name="tile"/>
          <p:cNvSpPr/>
          <p:nvPr/>
        </p:nvSpPr>
        <p:spPr>
          <a:xfrm>
            <a:off x="3566160" y="2871216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ile"/>
          <p:cNvSpPr/>
          <p:nvPr/>
        </p:nvSpPr>
        <p:spPr>
          <a:xfrm>
            <a:off x="4133088" y="2871216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ile"/>
          <p:cNvSpPr/>
          <p:nvPr/>
        </p:nvSpPr>
        <p:spPr>
          <a:xfrm>
            <a:off x="4700016" y="2871216"/>
            <a:ext cx="566928" cy="566928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void"/>
          <p:cNvSpPr txBox="1"/>
          <p:nvPr/>
        </p:nvSpPr>
        <p:spPr>
          <a:xfrm>
            <a:off x="470001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void</a:t>
            </a:r>
            <a:endParaRPr lang="en-US" sz="700" dirty="0"/>
          </a:p>
        </p:txBody>
      </p:sp>
      <p:sp>
        <p:nvSpPr>
          <p:cNvPr id="43" name="tile"/>
          <p:cNvSpPr/>
          <p:nvPr/>
        </p:nvSpPr>
        <p:spPr>
          <a:xfrm>
            <a:off x="731520" y="3438144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ile"/>
          <p:cNvSpPr/>
          <p:nvPr/>
        </p:nvSpPr>
        <p:spPr>
          <a:xfrm>
            <a:off x="1298448" y="3438144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R"/>
          <p:cNvSpPr txBox="1"/>
          <p:nvPr/>
        </p:nvSpPr>
        <p:spPr>
          <a:xfrm>
            <a:off x="1298448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46" name="tile"/>
          <p:cNvSpPr/>
          <p:nvPr/>
        </p:nvSpPr>
        <p:spPr>
          <a:xfrm>
            <a:off x="1865376" y="3438144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R"/>
          <p:cNvSpPr txBox="1"/>
          <p:nvPr/>
        </p:nvSpPr>
        <p:spPr>
          <a:xfrm>
            <a:off x="1865376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48" name="tile"/>
          <p:cNvSpPr/>
          <p:nvPr/>
        </p:nvSpPr>
        <p:spPr>
          <a:xfrm>
            <a:off x="2432304" y="3438144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R"/>
          <p:cNvSpPr txBox="1"/>
          <p:nvPr/>
        </p:nvSpPr>
        <p:spPr>
          <a:xfrm>
            <a:off x="2432304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50" name="tile"/>
          <p:cNvSpPr/>
          <p:nvPr/>
        </p:nvSpPr>
        <p:spPr>
          <a:xfrm>
            <a:off x="2999232" y="3438144"/>
            <a:ext cx="566928" cy="566928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R"/>
          <p:cNvSpPr txBox="1"/>
          <p:nvPr/>
        </p:nvSpPr>
        <p:spPr>
          <a:xfrm>
            <a:off x="2999232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52" name="tile"/>
          <p:cNvSpPr/>
          <p:nvPr/>
        </p:nvSpPr>
        <p:spPr>
          <a:xfrm>
            <a:off x="3566160" y="3438144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ile"/>
          <p:cNvSpPr/>
          <p:nvPr/>
        </p:nvSpPr>
        <p:spPr>
          <a:xfrm>
            <a:off x="4133088" y="3438144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ile"/>
          <p:cNvSpPr/>
          <p:nvPr/>
        </p:nvSpPr>
        <p:spPr>
          <a:xfrm>
            <a:off x="4700016" y="3438144"/>
            <a:ext cx="566928" cy="566928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void"/>
          <p:cNvSpPr txBox="1"/>
          <p:nvPr/>
        </p:nvSpPr>
        <p:spPr>
          <a:xfrm>
            <a:off x="4700016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void</a:t>
            </a:r>
            <a:endParaRPr lang="en-US" sz="700" dirty="0"/>
          </a:p>
        </p:txBody>
      </p:sp>
      <p:sp>
        <p:nvSpPr>
          <p:cNvPr id="56" name="tile"/>
          <p:cNvSpPr/>
          <p:nvPr/>
        </p:nvSpPr>
        <p:spPr>
          <a:xfrm>
            <a:off x="731520" y="4005072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ile"/>
          <p:cNvSpPr/>
          <p:nvPr/>
        </p:nvSpPr>
        <p:spPr>
          <a:xfrm>
            <a:off x="1298448" y="4005072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ile"/>
          <p:cNvSpPr/>
          <p:nvPr/>
        </p:nvSpPr>
        <p:spPr>
          <a:xfrm>
            <a:off x="1865376" y="4005072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ile"/>
          <p:cNvSpPr/>
          <p:nvPr/>
        </p:nvSpPr>
        <p:spPr>
          <a:xfrm>
            <a:off x="2432304" y="4005072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ile"/>
          <p:cNvSpPr/>
          <p:nvPr/>
        </p:nvSpPr>
        <p:spPr>
          <a:xfrm>
            <a:off x="2999232" y="4005072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ile"/>
          <p:cNvSpPr/>
          <p:nvPr/>
        </p:nvSpPr>
        <p:spPr>
          <a:xfrm>
            <a:off x="3566160" y="4005072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ile"/>
          <p:cNvSpPr/>
          <p:nvPr/>
        </p:nvSpPr>
        <p:spPr>
          <a:xfrm>
            <a:off x="4133088" y="4005072"/>
            <a:ext cx="566928" cy="56692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ile"/>
          <p:cNvSpPr/>
          <p:nvPr/>
        </p:nvSpPr>
        <p:spPr>
          <a:xfrm>
            <a:off x="4700016" y="4005072"/>
            <a:ext cx="566928" cy="566928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void"/>
          <p:cNvSpPr txBox="1"/>
          <p:nvPr/>
        </p:nvSpPr>
        <p:spPr>
          <a:xfrm>
            <a:off x="4700016" y="4005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void</a:t>
            </a:r>
            <a:endParaRPr lang="en-US" sz="700" dirty="0"/>
          </a:p>
        </p:txBody>
      </p:sp>
      <p:sp>
        <p:nvSpPr>
          <p:cNvPr id="65" name="pin"/>
          <p:cNvSpPr/>
          <p:nvPr/>
        </p:nvSpPr>
        <p:spPr>
          <a:xfrm>
            <a:off x="1737360" y="2176272"/>
            <a:ext cx="256032" cy="256032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s = (2, 1)"/>
          <p:cNvSpPr txBox="1"/>
          <p:nvPr/>
        </p:nvSpPr>
        <p:spPr>
          <a:xfrm>
            <a:off x="1042416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s = (2, 1)</a:t>
            </a:r>
            <a:endParaRPr lang="en-US" sz="1100" dirty="0"/>
          </a:p>
        </p:txBody>
      </p:sp>
      <p:sp>
        <p:nvSpPr>
          <p:cNvPr id="67" name="64 px"/>
          <p:cNvSpPr txBox="1"/>
          <p:nvPr/>
        </p:nvSpPr>
        <p:spPr>
          <a:xfrm>
            <a:off x="731520" y="461772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64 px</a:t>
            </a:r>
            <a:endParaRPr lang="en-US" sz="900" dirty="0"/>
          </a:p>
        </p:txBody>
      </p:sp>
      <p:sp>
        <p:nvSpPr>
          <p:cNvPr id="68" name="lg"/>
          <p:cNvSpPr/>
          <p:nvPr/>
        </p:nvSpPr>
        <p:spPr>
          <a:xfrm>
            <a:off x="5724144" y="1536192"/>
            <a:ext cx="685800" cy="384048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"/>
          <p:cNvSpPr txBox="1"/>
          <p:nvPr/>
        </p:nvSpPr>
        <p:spPr>
          <a:xfrm>
            <a:off x="5724144" y="153619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</a:t>
            </a:r>
            <a:endParaRPr lang="en-US" sz="1200" dirty="0"/>
          </a:p>
        </p:txBody>
      </p:sp>
      <p:sp>
        <p:nvSpPr>
          <p:cNvPr id="70" name="핀 꽂는 점 — 타일 오프셋 (si,"/>
          <p:cNvSpPr txBox="1"/>
          <p:nvPr/>
        </p:nvSpPr>
        <p:spPr>
          <a:xfrm>
            <a:off x="6547104" y="1463040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핀 꽂는 점 — 타일 오프셋 (si, sj), 저장·소비되는 유일한 값</a:t>
            </a:r>
            <a:endParaRPr lang="en-US" sz="1100" dirty="0"/>
          </a:p>
        </p:txBody>
      </p:sp>
      <p:sp>
        <p:nvSpPr>
          <p:cNvPr id="71" name="lg"/>
          <p:cNvSpPr/>
          <p:nvPr/>
        </p:nvSpPr>
        <p:spPr>
          <a:xfrm>
            <a:off x="5724144" y="2249424"/>
            <a:ext cx="68580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F(s)"/>
          <p:cNvSpPr txBox="1"/>
          <p:nvPr/>
        </p:nvSpPr>
        <p:spPr>
          <a:xfrm>
            <a:off x="5724144" y="224942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F(s)</a:t>
            </a:r>
            <a:endParaRPr lang="en-US" sz="1200" dirty="0"/>
          </a:p>
        </p:txBody>
      </p:sp>
      <p:sp>
        <p:nvSpPr>
          <p:cNvPr id="73" name="핀이 덮는 스티커 면적 — bw×bh"/>
          <p:cNvSpPr txBox="1"/>
          <p:nvPr/>
        </p:nvSpPr>
        <p:spPr>
          <a:xfrm>
            <a:off x="6547104" y="2176272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핀이 덮는 스티커 면적 — bw×bh 타일. 결함이 덮어 지우므로 존재(관측·비-void)만 확인</a:t>
            </a:r>
            <a:endParaRPr lang="en-US" sz="1100" dirty="0"/>
          </a:p>
        </p:txBody>
      </p:sp>
      <p:sp>
        <p:nvSpPr>
          <p:cNvPr id="74" name="lg"/>
          <p:cNvSpPr/>
          <p:nvPr/>
        </p:nvSpPr>
        <p:spPr>
          <a:xfrm>
            <a:off x="5724144" y="2962656"/>
            <a:ext cx="68580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R(s)"/>
          <p:cNvSpPr txBox="1"/>
          <p:nvPr/>
        </p:nvSpPr>
        <p:spPr>
          <a:xfrm>
            <a:off x="5724144" y="296265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R(s)</a:t>
            </a:r>
            <a:endParaRPr lang="en-US" sz="1200" dirty="0"/>
          </a:p>
        </p:txBody>
      </p:sp>
      <p:sp>
        <p:nvSpPr>
          <p:cNvPr id="76" name="스티커 둘레 — 테두리 밴드, 합성 "/>
          <p:cNvSpPr txBox="1"/>
          <p:nvPr/>
        </p:nvSpPr>
        <p:spPr>
          <a:xfrm>
            <a:off x="6547104" y="2889504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스티커 둘레 — 테두리 밴드, 합성 후 살아남아 결함과 접하는 곳. 셀 구성을 센다</a:t>
            </a:r>
            <a:endParaRPr lang="en-US" sz="1100" dirty="0"/>
          </a:p>
        </p:txBody>
      </p:sp>
      <p:sp>
        <p:nvSpPr>
          <p:cNvPr id="77" name="lg"/>
          <p:cNvSpPr/>
          <p:nvPr/>
        </p:nvSpPr>
        <p:spPr>
          <a:xfrm>
            <a:off x="5724144" y="3675888"/>
            <a:ext cx="685800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void"/>
          <p:cNvSpPr txBox="1"/>
          <p:nvPr/>
        </p:nvSpPr>
        <p:spPr>
          <a:xfrm>
            <a:off x="5724144" y="367588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void</a:t>
            </a:r>
            <a:endParaRPr lang="en-US" sz="1200" dirty="0"/>
          </a:p>
        </p:txBody>
      </p:sp>
      <p:sp>
        <p:nvSpPr>
          <p:cNvPr id="79" name="분산·엣지가 P15 미만인 타일 — "/>
          <p:cNvSpPr txBox="1"/>
          <p:nvPr/>
        </p:nvSpPr>
        <p:spPr>
          <a:xfrm>
            <a:off x="6547104" y="3602736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분산·엣지가 P15 미만인 타일 — 격자에서 제외</a:t>
            </a:r>
            <a:endParaRPr lang="en-US" sz="1100" dirty="0"/>
          </a:p>
        </p:txBody>
      </p:sp>
      <p:sp>
        <p:nvSpPr>
          <p:cNvPr id="80" name="card"/>
          <p:cNvSpPr/>
          <p:nvPr/>
        </p:nvSpPr>
        <p:spPr>
          <a:xfrm>
            <a:off x="548640" y="4617720"/>
            <a:ext cx="11091672" cy="1508760"/>
          </a:xfrm>
          <a:prstGeom prst="roundRect">
            <a:avLst>
              <a:gd name="adj" fmla="val 4848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1" name="math"/>
          <p:cNvSpPr txBox="1"/>
          <p:nvPr/>
        </p:nvSpPr>
        <p:spPr>
          <a:xfrm>
            <a:off x="822960" y="47091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valid(s)  ⟺  ∀ t ∈ F(s) :  observed(t) ∧ ¬void(t)          bw = ⌈ew / 64⌉,  bh = ⌈eh / 64⌉</a:t>
            </a:r>
            <a:endParaRPr lang="en-US" sz="1400" dirty="0"/>
          </a:p>
        </p:txBody>
      </p:sp>
      <p:sp>
        <p:nvSpPr>
          <p:cNvPr id="82" name="① 격자 정의(void 제외) → ②"/>
          <p:cNvSpPr txBox="1"/>
          <p:nvPr/>
        </p:nvSpPr>
        <p:spPr>
          <a:xfrm>
            <a:off x="822960" y="5166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① 격자 정의(void 제외) → ② 후보 s를 (0,0)부터 타일 단위 래스터 스캔으로 전수 열거 → ③ F(s)가 격자 안·비-void인 자리만 자격 통과 → ④ 생존 자리 중 둘레 R(s)로 채점. 도장(F)의 크기·비율은 결함 bbox 자체가 정하고, 배경 크기에 맞춰 등비 축소(fit-rescale) 후 타일 올림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방법론 7 — 신규 도식 ③: 히스토그램 교차의 min-겹침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삽입 위치 선택 ②: site_score = ∩(h_s, tgt[k])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6309360" cy="1234440"/>
          </a:xfrm>
          <a:prstGeom prst="roundRect">
            <a:avLst>
              <a:gd name="adj" fmla="val 5926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math"/>
          <p:cNvSpPr txBox="1"/>
          <p:nvPr/>
        </p:nvSpPr>
        <p:spPr>
          <a:xfrm>
            <a:off x="822960" y="1572768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h_s(c) = R(s) 타일들의 맥락 셀 정규화 히스토그램 (합 = 1)</a:t>
            </a:r>
            <a:endParaRPr lang="en-US" sz="16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site_score(k, s) = ∩(h_s, tgt[k]) = Σ_c min( h_s[c], tgt[k][c] ),     s* = argmax_{valid s} site_score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548640" y="2926080"/>
            <a:ext cx="6309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7" name="예: 둘레 6타일 = {A,A,A,B"/>
          <p:cNvSpPr txBox="1"/>
          <p:nvPr/>
        </p:nvSpPr>
        <p:spPr>
          <a:xfrm>
            <a:off x="731520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예: 둘레 6타일 = {A,A,A,B,D,D} → h_s = {A .50, B .17, D .33}</a:t>
            </a:r>
            <a:endParaRPr lang="en-US" sz="1100" dirty="0"/>
          </a:p>
        </p:txBody>
      </p:sp>
      <p:sp>
        <p:nvSpPr>
          <p:cNvPr id="8" name="bar"/>
          <p:cNvSpPr/>
          <p:nvPr/>
        </p:nvSpPr>
        <p:spPr>
          <a:xfrm>
            <a:off x="1051560" y="4236049"/>
            <a:ext cx="318516" cy="1296071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0.37"/>
          <p:cNvSpPr txBox="1"/>
          <p:nvPr/>
        </p:nvSpPr>
        <p:spPr>
          <a:xfrm>
            <a:off x="1005840" y="3998305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0.37</a:t>
            </a:r>
            <a:endParaRPr lang="en-US" sz="800" dirty="0"/>
          </a:p>
        </p:txBody>
      </p:sp>
      <p:sp>
        <p:nvSpPr>
          <p:cNvPr id="10" name="tgt"/>
          <p:cNvSpPr txBox="1"/>
          <p:nvPr/>
        </p:nvSpPr>
        <p:spPr>
          <a:xfrm>
            <a:off x="82296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tgt</a:t>
            </a:r>
            <a:endParaRPr lang="en-US" sz="900" dirty="0"/>
          </a:p>
        </p:txBody>
      </p:sp>
      <p:sp>
        <p:nvSpPr>
          <p:cNvPr id="11" name="bar"/>
          <p:cNvSpPr/>
          <p:nvPr/>
        </p:nvSpPr>
        <p:spPr>
          <a:xfrm>
            <a:off x="1424940" y="3794760"/>
            <a:ext cx="318516" cy="1737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0.50"/>
          <p:cNvSpPr txBox="1"/>
          <p:nvPr/>
        </p:nvSpPr>
        <p:spPr>
          <a:xfrm>
            <a:off x="1379220" y="3557016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0.50</a:t>
            </a:r>
            <a:endParaRPr lang="en-US" sz="800" dirty="0"/>
          </a:p>
        </p:txBody>
      </p:sp>
      <p:sp>
        <p:nvSpPr>
          <p:cNvPr id="13" name="h_s"/>
          <p:cNvSpPr txBox="1"/>
          <p:nvPr/>
        </p:nvSpPr>
        <p:spPr>
          <a:xfrm>
            <a:off x="137160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h_s</a:t>
            </a:r>
            <a:endParaRPr lang="en-US" sz="900" dirty="0"/>
          </a:p>
        </p:txBody>
      </p:sp>
      <p:sp>
        <p:nvSpPr>
          <p:cNvPr id="14" name="bar"/>
          <p:cNvSpPr/>
          <p:nvPr/>
        </p:nvSpPr>
        <p:spPr>
          <a:xfrm>
            <a:off x="1798320" y="4236049"/>
            <a:ext cx="318516" cy="129607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0.37"/>
          <p:cNvSpPr txBox="1"/>
          <p:nvPr/>
        </p:nvSpPr>
        <p:spPr>
          <a:xfrm>
            <a:off x="1752600" y="3998305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0.37</a:t>
            </a:r>
            <a:endParaRPr lang="en-US" sz="800" dirty="0"/>
          </a:p>
        </p:txBody>
      </p:sp>
      <p:sp>
        <p:nvSpPr>
          <p:cNvPr id="16" name="min"/>
          <p:cNvSpPr txBox="1"/>
          <p:nvPr/>
        </p:nvSpPr>
        <p:spPr>
          <a:xfrm>
            <a:off x="192024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min</a:t>
            </a:r>
            <a:endParaRPr lang="en-US" sz="900" dirty="0"/>
          </a:p>
        </p:txBody>
      </p:sp>
      <p:sp>
        <p:nvSpPr>
          <p:cNvPr id="17" name="A"/>
          <p:cNvSpPr txBox="1"/>
          <p:nvPr/>
        </p:nvSpPr>
        <p:spPr>
          <a:xfrm>
            <a:off x="914400" y="5550408"/>
            <a:ext cx="1120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  <a:endParaRPr lang="en-US" sz="1200" dirty="0"/>
          </a:p>
        </p:txBody>
      </p:sp>
      <p:sp>
        <p:nvSpPr>
          <p:cNvPr id="18" name="bar"/>
          <p:cNvSpPr/>
          <p:nvPr/>
        </p:nvSpPr>
        <p:spPr>
          <a:xfrm>
            <a:off x="2446020" y="4472330"/>
            <a:ext cx="318516" cy="105979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0.30"/>
          <p:cNvSpPr txBox="1"/>
          <p:nvPr/>
        </p:nvSpPr>
        <p:spPr>
          <a:xfrm>
            <a:off x="2400300" y="4234586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0.30</a:t>
            </a:r>
            <a:endParaRPr lang="en-US" sz="800" dirty="0"/>
          </a:p>
        </p:txBody>
      </p:sp>
      <p:sp>
        <p:nvSpPr>
          <p:cNvPr id="20" name="bar"/>
          <p:cNvSpPr/>
          <p:nvPr/>
        </p:nvSpPr>
        <p:spPr>
          <a:xfrm>
            <a:off x="2819400" y="4941418"/>
            <a:ext cx="318516" cy="59070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0.17"/>
          <p:cNvSpPr txBox="1"/>
          <p:nvPr/>
        </p:nvSpPr>
        <p:spPr>
          <a:xfrm>
            <a:off x="2773680" y="4703674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0.17</a:t>
            </a:r>
            <a:endParaRPr lang="en-US" sz="800" dirty="0"/>
          </a:p>
        </p:txBody>
      </p:sp>
      <p:sp>
        <p:nvSpPr>
          <p:cNvPr id="22" name="bar"/>
          <p:cNvSpPr/>
          <p:nvPr/>
        </p:nvSpPr>
        <p:spPr>
          <a:xfrm>
            <a:off x="3192780" y="4941418"/>
            <a:ext cx="318516" cy="59070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0.17"/>
          <p:cNvSpPr txBox="1"/>
          <p:nvPr/>
        </p:nvSpPr>
        <p:spPr>
          <a:xfrm>
            <a:off x="3147060" y="4703674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0.17</a:t>
            </a:r>
            <a:endParaRPr lang="en-US" sz="800" dirty="0"/>
          </a:p>
        </p:txBody>
      </p:sp>
      <p:sp>
        <p:nvSpPr>
          <p:cNvPr id="24" name="B"/>
          <p:cNvSpPr txBox="1"/>
          <p:nvPr/>
        </p:nvSpPr>
        <p:spPr>
          <a:xfrm>
            <a:off x="2308860" y="5550408"/>
            <a:ext cx="1120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  <a:endParaRPr lang="en-US" sz="1200" dirty="0"/>
          </a:p>
        </p:txBody>
      </p:sp>
      <p:sp>
        <p:nvSpPr>
          <p:cNvPr id="25" name="bar"/>
          <p:cNvSpPr/>
          <p:nvPr/>
        </p:nvSpPr>
        <p:spPr>
          <a:xfrm>
            <a:off x="3840480" y="4409785"/>
            <a:ext cx="318516" cy="1122335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0.32"/>
          <p:cNvSpPr txBox="1"/>
          <p:nvPr/>
        </p:nvSpPr>
        <p:spPr>
          <a:xfrm>
            <a:off x="3794760" y="4172041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0.32</a:t>
            </a:r>
            <a:endParaRPr lang="en-US" sz="800" dirty="0"/>
          </a:p>
        </p:txBody>
      </p:sp>
      <p:sp>
        <p:nvSpPr>
          <p:cNvPr id="27" name="bar"/>
          <p:cNvSpPr/>
          <p:nvPr/>
        </p:nvSpPr>
        <p:spPr>
          <a:xfrm>
            <a:off x="4213860" y="4385462"/>
            <a:ext cx="318516" cy="114665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0.33"/>
          <p:cNvSpPr txBox="1"/>
          <p:nvPr/>
        </p:nvSpPr>
        <p:spPr>
          <a:xfrm>
            <a:off x="4168140" y="4147718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0.33</a:t>
            </a:r>
            <a:endParaRPr lang="en-US" sz="800" dirty="0"/>
          </a:p>
        </p:txBody>
      </p:sp>
      <p:sp>
        <p:nvSpPr>
          <p:cNvPr id="29" name="bar"/>
          <p:cNvSpPr/>
          <p:nvPr/>
        </p:nvSpPr>
        <p:spPr>
          <a:xfrm>
            <a:off x="4587240" y="4409785"/>
            <a:ext cx="318516" cy="112233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0.32"/>
          <p:cNvSpPr txBox="1"/>
          <p:nvPr/>
        </p:nvSpPr>
        <p:spPr>
          <a:xfrm>
            <a:off x="4541520" y="4172041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0.32</a:t>
            </a:r>
            <a:endParaRPr lang="en-US" sz="800" dirty="0"/>
          </a:p>
        </p:txBody>
      </p:sp>
      <p:sp>
        <p:nvSpPr>
          <p:cNvPr id="31" name="D"/>
          <p:cNvSpPr txBox="1"/>
          <p:nvPr/>
        </p:nvSpPr>
        <p:spPr>
          <a:xfrm>
            <a:off x="3703320" y="5550408"/>
            <a:ext cx="1120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</a:t>
            </a:r>
            <a:endParaRPr lang="en-US" sz="1200" dirty="0"/>
          </a:p>
        </p:txBody>
      </p:sp>
      <p:sp>
        <p:nvSpPr>
          <p:cNvPr id="32" name="0"/>
          <p:cNvSpPr txBox="1"/>
          <p:nvPr/>
        </p:nvSpPr>
        <p:spPr>
          <a:xfrm>
            <a:off x="5189220" y="5294376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</a:t>
            </a:r>
            <a:endParaRPr lang="en-US" sz="800" dirty="0"/>
          </a:p>
        </p:txBody>
      </p:sp>
      <p:sp>
        <p:nvSpPr>
          <p:cNvPr id="33" name="0"/>
          <p:cNvSpPr txBox="1"/>
          <p:nvPr/>
        </p:nvSpPr>
        <p:spPr>
          <a:xfrm>
            <a:off x="5562600" y="5294376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</a:t>
            </a:r>
            <a:endParaRPr lang="en-US" sz="800" dirty="0"/>
          </a:p>
        </p:txBody>
      </p:sp>
      <p:sp>
        <p:nvSpPr>
          <p:cNvPr id="34" name="0"/>
          <p:cNvSpPr txBox="1"/>
          <p:nvPr/>
        </p:nvSpPr>
        <p:spPr>
          <a:xfrm>
            <a:off x="5935980" y="5294376"/>
            <a:ext cx="409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0</a:t>
            </a:r>
            <a:endParaRPr lang="en-US" sz="800" dirty="0"/>
          </a:p>
        </p:txBody>
      </p:sp>
      <p:sp>
        <p:nvSpPr>
          <p:cNvPr id="35" name="C"/>
          <p:cNvSpPr txBox="1"/>
          <p:nvPr/>
        </p:nvSpPr>
        <p:spPr>
          <a:xfrm>
            <a:off x="5097780" y="5550408"/>
            <a:ext cx="1120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  <a:endParaRPr lang="en-US" sz="1200" dirty="0"/>
          </a:p>
        </p:txBody>
      </p:sp>
      <p:sp>
        <p:nvSpPr>
          <p:cNvPr id="36" name="score = .373 + .17 +"/>
          <p:cNvSpPr txBox="1"/>
          <p:nvPr/>
        </p:nvSpPr>
        <p:spPr>
          <a:xfrm>
            <a:off x="38404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score = .373 + .17 + .323 = 0.866</a:t>
            </a:r>
            <a:endParaRPr lang="en-US" sz="1200" dirty="0"/>
          </a:p>
        </p:txBody>
      </p:sp>
      <p:sp>
        <p:nvSpPr>
          <p:cNvPr id="37" name="A: h_s 초과분 .127 무기여 "/>
          <p:cNvSpPr txBox="1"/>
          <p:nvPr/>
        </p:nvSpPr>
        <p:spPr>
          <a:xfrm>
            <a:off x="731520" y="58521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A: h_s 초과분 .127 무기여 ·  B: 목표 미달분 그대로 감점 ·  C: 둘레에 없는 셀 = 0</a:t>
            </a:r>
            <a:endParaRPr lang="en-US" sz="900" dirty="0"/>
          </a:p>
        </p:txBody>
      </p:sp>
      <p:pic>
        <p:nvPicPr>
          <p:cNvPr id="38" name="fig5-9.png" descr="D:\project\aroma\GRADUATION\figures\fig5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282" y="1463040"/>
            <a:ext cx="3384068" cy="3200400"/>
          </a:xfrm>
          <a:prstGeom prst="rect">
            <a:avLst/>
          </a:prstGeom>
        </p:spPr>
      </p:pic>
      <p:sp>
        <p:nvSpPr>
          <p:cNvPr id="39" name="caption"/>
          <p:cNvSpPr txBox="1"/>
          <p:nvPr/>
        </p:nvSpPr>
        <p:spPr>
          <a:xfrm>
            <a:off x="7132320" y="470916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5-9  원본 결함의 ring 맥락과 확정된 배치 위치 (tgt[k] 질량으로 착색)</a:t>
            </a:r>
            <a:endParaRPr lang="en-US" sz="1000" dirty="0"/>
          </a:p>
        </p:txBody>
      </p:sp>
      <p:sp>
        <p:nvSpPr>
          <p:cNvPr id="40" name="bullets"/>
          <p:cNvSpPr txBox="1"/>
          <p:nvPr/>
        </p:nvSpPr>
        <p:spPr>
          <a:xfrm>
            <a:off x="7132320" y="5074920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왜 ring인가: footprint는 결함이 덮어 사라지는 픽셀. 합성 후 남아 경계 연속성을 결정하는 것은 둘레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배치는 기하 휴리스틱이나 무작위가 아니라, 그 결함 형태가 실제 데이터에서 관측된 맥락과 주변이 가장 유사한 위치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방법론 8 — 신규 도식 ④-b: 지도 1개 · 질의 N개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왜 min-겹침인가: 평균은 흔한 셀 몰빵을, 분포 매칭은 레시피를 고른다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8521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gt[k] = {A .4, B .3"/>
          <p:cNvSpPr txBox="1"/>
          <p:nvPr/>
        </p:nvSpPr>
        <p:spPr>
          <a:xfrm>
            <a:off x="7772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tgt[k] = {A .4, B .3, D .3}  두 자리 비교</a:t>
            </a:r>
            <a:endParaRPr lang="en-US" sz="1200" dirty="0"/>
          </a:p>
        </p:txBody>
      </p:sp>
      <p:graphicFrame>
        <p:nvGraphicFramePr>
          <p:cNvPr id="22" name="c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자리1 (몰빵)  h_s={A 1.0}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자리2 (배합)  h_s={A .4, B .3, D .3}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타일 점수 평균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0.40  ← 승리(!)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0.34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min-겹침 합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0.40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1.00  ← 승리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sp>
        <p:nvSpPr>
          <p:cNvPr id="7" name="평균은 최고 점수 셀 하나로 채운 자"/>
          <p:cNvSpPr txBox="1"/>
          <p:nvPr/>
        </p:nvSpPr>
        <p:spPr>
          <a:xfrm>
            <a:off x="777240" y="3200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평균은 최고 점수 셀 하나로 채운 자리가 이긴다 → 전 클러스터가 데이터셋에서 가장 흔한 표면으로 수렴. min은 초과분을 목표값에서 잘라 배합을 재현해야만 만점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548640" y="4160520"/>
            <a:ext cx="5852160" cy="2148840"/>
          </a:xfrm>
          <a:prstGeom prst="roundRect">
            <a:avLst>
              <a:gd name="adj" fmla="val 3404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실측 근거 (기여 분리)"/>
          <p:cNvSpPr txBox="1"/>
          <p:nvPr/>
        </p:nvSpPr>
        <p:spPr>
          <a:xfrm>
            <a:off x="777240" y="4251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실측 근거 (기여 분리)</a:t>
            </a:r>
            <a:endParaRPr lang="en-US" sz="1200" dirty="0"/>
          </a:p>
        </p:txBody>
      </p:sp>
      <p:sp>
        <p:nvSpPr>
          <p:cNvPr id="10" name="footprint → ring, 평균"/>
          <p:cNvSpPr txBox="1"/>
          <p:nvPr/>
        </p:nvSpPr>
        <p:spPr>
          <a:xfrm>
            <a:off x="777240" y="4617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footprint → ring, 평균 유지</a:t>
            </a:r>
            <a:endParaRPr lang="en-US" sz="1200" dirty="0"/>
          </a:p>
        </p:txBody>
      </p:sp>
      <p:sp>
        <p:nvSpPr>
          <p:cNvPr id="11" name="pill"/>
          <p:cNvSpPr/>
          <p:nvPr/>
        </p:nvSpPr>
        <p:spPr>
          <a:xfrm>
            <a:off x="4206240" y="466344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pill-text"/>
          <p:cNvSpPr txBox="1"/>
          <p:nvPr/>
        </p:nvSpPr>
        <p:spPr>
          <a:xfrm>
            <a:off x="4206240" y="4663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악화 4/5</a:t>
            </a:r>
            <a:endParaRPr lang="en-US" sz="1200" dirty="0"/>
          </a:p>
        </p:txBody>
      </p:sp>
      <p:sp>
        <p:nvSpPr>
          <p:cNvPr id="13" name="평균 → min-겹침 (분포 매칭)"/>
          <p:cNvSpPr txBox="1"/>
          <p:nvPr/>
        </p:nvSpPr>
        <p:spPr>
          <a:xfrm>
            <a:off x="777240" y="5166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평균 → min-겹침 (분포 매칭)</a:t>
            </a:r>
            <a:endParaRPr lang="en-US" sz="1200" dirty="0"/>
          </a:p>
        </p:txBody>
      </p:sp>
      <p:sp>
        <p:nvSpPr>
          <p:cNvPr id="14" name="pill"/>
          <p:cNvSpPr/>
          <p:nvPr/>
        </p:nvSpPr>
        <p:spPr>
          <a:xfrm>
            <a:off x="4206240" y="521208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ill-text"/>
          <p:cNvSpPr txBox="1"/>
          <p:nvPr/>
        </p:nvSpPr>
        <p:spPr>
          <a:xfrm>
            <a:off x="4206240" y="5212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개선 5/5</a:t>
            </a:r>
            <a:endParaRPr lang="en-US" sz="1200" dirty="0"/>
          </a:p>
        </p:txBody>
      </p:sp>
      <p:sp>
        <p:nvSpPr>
          <p:cNvPr id="16" name="math"/>
          <p:cNvSpPr txBox="1"/>
          <p:nvPr/>
        </p:nvSpPr>
        <p:spPr>
          <a:xfrm>
            <a:off x="777240" y="5760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∩(a, b) = 1 − TV(a, b)   — 교차 최대화 ≡ total variation 거리 최소화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6858000" y="1463040"/>
            <a:ext cx="4782312" cy="4846320"/>
          </a:xfrm>
          <a:prstGeom prst="roundRect">
            <a:avLst>
              <a:gd name="adj" fmla="val 153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8" name="단위 사다리 — 지도는 하나, 질의는"/>
          <p:cNvSpPr txBox="1"/>
          <p:nvPr/>
        </p:nvSpPr>
        <p:spPr>
          <a:xfrm>
            <a:off x="7086600" y="160020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단위 사다리 — 지도는 하나, 질의는 여럿</a:t>
            </a:r>
            <a:endParaRPr lang="en-US" sz="1300" dirty="0"/>
          </a:p>
        </p:txBody>
      </p:sp>
      <p:sp>
        <p:nvSpPr>
          <p:cNvPr id="19" name="ladder"/>
          <p:cNvSpPr/>
          <p:nvPr/>
        </p:nvSpPr>
        <p:spPr>
          <a:xfrm>
            <a:off x="7086600" y="2057400"/>
            <a:ext cx="4325112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데이터셋"/>
          <p:cNvSpPr txBox="1"/>
          <p:nvPr/>
        </p:nvSpPr>
        <p:spPr>
          <a:xfrm>
            <a:off x="722376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데이터셋</a:t>
            </a:r>
            <a:endParaRPr lang="en-US" sz="1200" dirty="0"/>
          </a:p>
        </p:txBody>
      </p:sp>
      <p:sp>
        <p:nvSpPr>
          <p:cNvPr id="21" name="ctx_prior 히트맵 (matri"/>
          <p:cNvSpPr txBox="1"/>
          <p:nvPr/>
        </p:nvSpPr>
        <p:spPr>
          <a:xfrm>
            <a:off x="7223760" y="2441448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ctx_prior 히트맵 (matrix)</a:t>
            </a:r>
            <a:endParaRPr lang="en-US" sz="1000" dirty="0"/>
          </a:p>
        </p:txBody>
      </p:sp>
      <p:sp>
        <p:nvSpPr>
          <p:cNvPr id="22" name="1개"/>
          <p:cNvSpPr txBox="1"/>
          <p:nvPr/>
        </p:nvSpPr>
        <p:spPr>
          <a:xfrm>
            <a:off x="10040112" y="21305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1개</a:t>
            </a:r>
            <a:endParaRPr lang="en-US" sz="1000" dirty="0"/>
          </a:p>
        </p:txBody>
      </p:sp>
      <p:sp>
        <p:nvSpPr>
          <p:cNvPr id="23" name="down"/>
          <p:cNvSpPr/>
          <p:nvPr/>
        </p:nvSpPr>
        <p:spPr>
          <a:xfrm>
            <a:off x="9139428" y="2779776"/>
            <a:ext cx="219456" cy="164592"/>
          </a:xfrm>
          <a:prstGeom prst="downArrow">
            <a:avLst/>
          </a:prstGeom>
          <a:solidFill>
            <a:schemeClr val="accent3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4" name="ladder"/>
          <p:cNvSpPr/>
          <p:nvPr/>
        </p:nvSpPr>
        <p:spPr>
          <a:xfrm>
            <a:off x="7406640" y="2953512"/>
            <a:ext cx="4005072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클러스터 k"/>
          <p:cNvSpPr txBox="1"/>
          <p:nvPr/>
        </p:nvSpPr>
        <p:spPr>
          <a:xfrm>
            <a:off x="7543800" y="30266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클러스터 k</a:t>
            </a:r>
            <a:endParaRPr lang="en-US" sz="1200" dirty="0"/>
          </a:p>
        </p:txBody>
      </p:sp>
      <p:sp>
        <p:nvSpPr>
          <p:cNvPr id="26" name="tgt[k] — 행을 합=1로"/>
          <p:cNvSpPr txBox="1"/>
          <p:nvPr/>
        </p:nvSpPr>
        <p:spPr>
          <a:xfrm>
            <a:off x="7543800" y="33375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tgt[k] — 행을 합=1로</a:t>
            </a:r>
            <a:endParaRPr lang="en-US" sz="1000" dirty="0"/>
          </a:p>
        </p:txBody>
      </p:sp>
      <p:sp>
        <p:nvSpPr>
          <p:cNvPr id="27" name="k 수만큼"/>
          <p:cNvSpPr txBox="1"/>
          <p:nvPr/>
        </p:nvSpPr>
        <p:spPr>
          <a:xfrm>
            <a:off x="10040112" y="302666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k 수만큼</a:t>
            </a:r>
            <a:endParaRPr lang="en-US" sz="1000" dirty="0"/>
          </a:p>
        </p:txBody>
      </p:sp>
      <p:sp>
        <p:nvSpPr>
          <p:cNvPr id="28" name="down"/>
          <p:cNvSpPr/>
          <p:nvPr/>
        </p:nvSpPr>
        <p:spPr>
          <a:xfrm>
            <a:off x="9139428" y="3675888"/>
            <a:ext cx="219456" cy="164592"/>
          </a:xfrm>
          <a:prstGeom prst="downArrow">
            <a:avLst/>
          </a:prstGeom>
          <a:solidFill>
            <a:schemeClr val="accent3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9" name="ladder"/>
          <p:cNvSpPr/>
          <p:nvPr/>
        </p:nvSpPr>
        <p:spPr>
          <a:xfrm>
            <a:off x="7726680" y="3849624"/>
            <a:ext cx="3685032" cy="713232"/>
          </a:xfrm>
          <a:prstGeom prst="roundRect">
            <a:avLst>
              <a:gd name="adj" fmla="val 10256"/>
            </a:avLst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이미지 g"/>
          <p:cNvSpPr txBox="1"/>
          <p:nvPr/>
        </p:nvSpPr>
        <p:spPr>
          <a:xfrm>
            <a:off x="7863840" y="39227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이미지 g</a:t>
            </a:r>
            <a:endParaRPr lang="en-US" sz="1200" dirty="0"/>
          </a:p>
        </p:txBody>
      </p:sp>
      <p:sp>
        <p:nvSpPr>
          <p:cNvPr id="31" name="h_g → src/class_fit"/>
          <p:cNvSpPr txBox="1"/>
          <p:nvPr/>
        </p:nvSpPr>
        <p:spPr>
          <a:xfrm>
            <a:off x="7863840" y="4233672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h_g → src/class_fit</a:t>
            </a:r>
            <a:endParaRPr lang="en-US" sz="1000" dirty="0"/>
          </a:p>
        </p:txBody>
      </p:sp>
      <p:sp>
        <p:nvSpPr>
          <p:cNvPr id="32" name="good 1장당 1"/>
          <p:cNvSpPr txBox="1"/>
          <p:nvPr/>
        </p:nvSpPr>
        <p:spPr>
          <a:xfrm>
            <a:off x="10040112" y="39227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good 1장당 1</a:t>
            </a:r>
            <a:endParaRPr lang="en-US" sz="1000" dirty="0"/>
          </a:p>
        </p:txBody>
      </p:sp>
      <p:sp>
        <p:nvSpPr>
          <p:cNvPr id="33" name="down"/>
          <p:cNvSpPr/>
          <p:nvPr/>
        </p:nvSpPr>
        <p:spPr>
          <a:xfrm>
            <a:off x="9139428" y="4572000"/>
            <a:ext cx="219456" cy="164592"/>
          </a:xfrm>
          <a:prstGeom prst="downArrow">
            <a:avLst/>
          </a:prstGeom>
          <a:solidFill>
            <a:schemeClr val="accent3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4" name="ladder"/>
          <p:cNvSpPr/>
          <p:nvPr/>
        </p:nvSpPr>
        <p:spPr>
          <a:xfrm>
            <a:off x="8046720" y="4745736"/>
            <a:ext cx="3364992" cy="713232"/>
          </a:xfrm>
          <a:prstGeom prst="roundRect">
            <a:avLst>
              <a:gd name="adj" fmla="val 10256"/>
            </a:avLst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자리 s"/>
          <p:cNvSpPr txBox="1"/>
          <p:nvPr/>
        </p:nvSpPr>
        <p:spPr>
          <a:xfrm>
            <a:off x="8183880" y="4818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자리 s</a:t>
            </a:r>
            <a:endParaRPr lang="en-US" sz="1200" dirty="0"/>
          </a:p>
        </p:txBody>
      </p:sp>
      <p:sp>
        <p:nvSpPr>
          <p:cNvPr id="36" name="h_s → site_score"/>
          <p:cNvSpPr txBox="1"/>
          <p:nvPr/>
        </p:nvSpPr>
        <p:spPr>
          <a:xfrm>
            <a:off x="8183880" y="512978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h_s → site_score</a:t>
            </a:r>
            <a:endParaRPr lang="en-US" sz="1000" dirty="0"/>
          </a:p>
        </p:txBody>
      </p:sp>
      <p:sp>
        <p:nvSpPr>
          <p:cNvPr id="37" name="자리당 1"/>
          <p:cNvSpPr txBox="1"/>
          <p:nvPr/>
        </p:nvSpPr>
        <p:spPr>
          <a:xfrm>
            <a:off x="10040112" y="481888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자리당 1</a:t>
            </a:r>
            <a:endParaRPr lang="en-US" sz="1000" dirty="0"/>
          </a:p>
        </p:txBody>
      </p:sp>
      <p:sp>
        <p:nvSpPr>
          <p:cNvPr id="38" name="같은 과녁 tgt[k]에 두 번 조준"/>
          <p:cNvSpPr txBox="1"/>
          <p:nvPr/>
        </p:nvSpPr>
        <p:spPr>
          <a:xfrm>
            <a:off x="7086600" y="5715000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같은 과녁 tgt[k]에 두 번 조준: 전역(이미지 전체 h_g, 공급 확인) → 국소(둘레 h_s, 위치 특정). 2단계는 1단계가 공급한 것 이상을 만들 수 없다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실험 결과 (그림 5-10, 5-12)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검증 ①: 배치 커버리지와 배경 선택 유사도</a:t>
            </a:r>
            <a:endParaRPr lang="en-US" sz="2400" dirty="0"/>
          </a:p>
        </p:txBody>
      </p:sp>
      <p:pic>
        <p:nvPicPr>
          <p:cNvPr id="4" name="fig5-10.png" descr="D:\project\aroma\GRADUATION\figures\fig5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2927" y="1463040"/>
            <a:ext cx="5523098" cy="19202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34290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5-10  ROI 배치 커버리지 비교 (형태 · 맥락 · 희귀 쌍)</a:t>
            </a:r>
            <a:endParaRPr lang="en-US" sz="1000" dirty="0"/>
          </a:p>
        </p:txBody>
      </p:sp>
      <p:pic>
        <p:nvPicPr>
          <p:cNvPr id="6" name="fig5-12.png" descr="D:\project\aroma\GRADUATION\figures\fig5-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9332"/>
            <a:ext cx="4937760" cy="2551176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48640" y="6400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5-12  배경 선택 호환성 비교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5852160" y="3794760"/>
            <a:ext cx="5788152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배경 텍스처 유사도 — 단측 Mann"/>
          <p:cNvSpPr txBox="1"/>
          <p:nvPr/>
        </p:nvSpPr>
        <p:spPr>
          <a:xfrm>
            <a:off x="60807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배경 텍스처 유사도 — 단측 Mann–Whitney U</a:t>
            </a:r>
            <a:endParaRPr lang="en-US" sz="1200" dirty="0"/>
          </a:p>
        </p:txBody>
      </p:sp>
      <p:graphicFrame>
        <p:nvGraphicFramePr>
          <p:cNvPr id="23" name="m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4297680"/>
          <a:ext cx="53309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Dataset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Δ (AROMA − Random)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AITeX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+0.071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1.7×10⁻¹¹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Severstal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+0.032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3.1×10⁻²³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Kolektor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+0.015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1.2×10⁻⁴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MVTec Leather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+0.079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2.8×10⁻⁴²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MTD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+0.005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0.25 (n.s.)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1" name="5개 중 4개에서 유의 우위. 맥락 "/>
          <p:cNvSpPr txBox="1"/>
          <p:nvPr/>
        </p:nvSpPr>
        <p:spPr>
          <a:xfrm>
            <a:off x="6080760" y="5989320"/>
            <a:ext cx="5330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5개 중 4개에서 유의 우위. 맥락 커버리지는 Random이 높음(MTD 0.85 vs 0.48) — 호환 셀에 집중하는 설계의 필연. 희귀 쌍 커버리지는 쿼터로 AITeX 1.00·MTD 1.00 등 동등 이상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실험 결과 (표 5-5 ~ 5-9)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검증 ②: 5개 데이터셋 YOLOv8n mAP@0.5 (mean, n = 3 seeds)</a:t>
            </a:r>
            <a:endParaRPr lang="en-US" sz="2400" dirty="0"/>
          </a:p>
        </p:txBody>
      </p:sp>
      <p:graphicFrame>
        <p:nvGraphicFramePr>
          <p:cNvPr id="4" name="chart-ch5" descr=""/>
          <p:cNvGraphicFramePr/>
          <p:nvPr/>
        </p:nvGraphicFramePr>
        <p:xfrm>
          <a:off x="54864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ROMA − Random"/>
          <p:cNvSpPr txBox="1"/>
          <p:nvPr/>
        </p:nvSpPr>
        <p:spPr>
          <a:xfrm>
            <a:off x="8321040" y="14630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AROMA − Random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8321040" y="1874520"/>
            <a:ext cx="331927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7" name="AITeX"/>
          <p:cNvSpPr txBox="1"/>
          <p:nvPr/>
        </p:nvSpPr>
        <p:spPr>
          <a:xfrm>
            <a:off x="8503920" y="1947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AITeX</a:t>
            </a:r>
            <a:endParaRPr lang="en-US" sz="1100" dirty="0"/>
          </a:p>
        </p:txBody>
      </p:sp>
      <p:sp>
        <p:nvSpPr>
          <p:cNvPr id="8" name="CCI 0.440"/>
          <p:cNvSpPr txBox="1"/>
          <p:nvPr/>
        </p:nvSpPr>
        <p:spPr>
          <a:xfrm>
            <a:off x="850392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CCI 0.440</a:t>
            </a:r>
            <a:endParaRPr lang="en-US" sz="1000" dirty="0"/>
          </a:p>
        </p:txBody>
      </p:sp>
      <p:sp>
        <p:nvSpPr>
          <p:cNvPr id="9" name="+4.96 pp"/>
          <p:cNvSpPr txBox="1"/>
          <p:nvPr/>
        </p:nvSpPr>
        <p:spPr>
          <a:xfrm>
            <a:off x="9875520" y="1920240"/>
            <a:ext cx="158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+4.96 pp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8321040" y="2743200"/>
            <a:ext cx="331927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Severstal"/>
          <p:cNvSpPr txBox="1"/>
          <p:nvPr/>
        </p:nvSpPr>
        <p:spPr>
          <a:xfrm>
            <a:off x="8503920" y="2816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Severstal</a:t>
            </a:r>
            <a:endParaRPr lang="en-US" sz="1100" dirty="0"/>
          </a:p>
        </p:txBody>
      </p:sp>
      <p:sp>
        <p:nvSpPr>
          <p:cNvPr id="12" name="CCI 0.306"/>
          <p:cNvSpPr txBox="1"/>
          <p:nvPr/>
        </p:nvSpPr>
        <p:spPr>
          <a:xfrm>
            <a:off x="8503920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CCI 0.306</a:t>
            </a:r>
            <a:endParaRPr lang="en-US" sz="1000" dirty="0"/>
          </a:p>
        </p:txBody>
      </p:sp>
      <p:sp>
        <p:nvSpPr>
          <p:cNvPr id="13" name="+1.06 pp"/>
          <p:cNvSpPr txBox="1"/>
          <p:nvPr/>
        </p:nvSpPr>
        <p:spPr>
          <a:xfrm>
            <a:off x="9875520" y="2788920"/>
            <a:ext cx="158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+1.06 pp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8321040" y="3611880"/>
            <a:ext cx="331927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5" name="MTD"/>
          <p:cNvSpPr txBox="1"/>
          <p:nvPr/>
        </p:nvSpPr>
        <p:spPr>
          <a:xfrm>
            <a:off x="8503920" y="3685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MTD</a:t>
            </a:r>
            <a:endParaRPr lang="en-US" sz="1100" dirty="0"/>
          </a:p>
        </p:txBody>
      </p:sp>
      <p:sp>
        <p:nvSpPr>
          <p:cNvPr id="16" name="CCI 0.246"/>
          <p:cNvSpPr txBox="1"/>
          <p:nvPr/>
        </p:nvSpPr>
        <p:spPr>
          <a:xfrm>
            <a:off x="8503920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CCI 0.246</a:t>
            </a:r>
            <a:endParaRPr lang="en-US" sz="1000" dirty="0"/>
          </a:p>
        </p:txBody>
      </p:sp>
      <p:sp>
        <p:nvSpPr>
          <p:cNvPr id="17" name="−0.25 pp"/>
          <p:cNvSpPr txBox="1"/>
          <p:nvPr/>
        </p:nvSpPr>
        <p:spPr>
          <a:xfrm>
            <a:off x="9875520" y="3657600"/>
            <a:ext cx="158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−0.25 pp</a:t>
            </a:r>
            <a:endParaRPr lang="en-US" sz="1800" dirty="0"/>
          </a:p>
        </p:txBody>
      </p:sp>
      <p:sp>
        <p:nvSpPr>
          <p:cNvPr id="18" name="card"/>
          <p:cNvSpPr/>
          <p:nvPr/>
        </p:nvSpPr>
        <p:spPr>
          <a:xfrm>
            <a:off x="8321040" y="4480560"/>
            <a:ext cx="331927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9" name="Kolektor"/>
          <p:cNvSpPr txBox="1"/>
          <p:nvPr/>
        </p:nvSpPr>
        <p:spPr>
          <a:xfrm>
            <a:off x="8503920" y="4553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Kolektor</a:t>
            </a:r>
            <a:endParaRPr lang="en-US" sz="1100" dirty="0"/>
          </a:p>
        </p:txBody>
      </p:sp>
      <p:sp>
        <p:nvSpPr>
          <p:cNvPr id="20" name="CCI 0.224"/>
          <p:cNvSpPr txBox="1"/>
          <p:nvPr/>
        </p:nvSpPr>
        <p:spPr>
          <a:xfrm>
            <a:off x="8503920" y="4864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CCI 0.224</a:t>
            </a:r>
            <a:endParaRPr lang="en-US" sz="1000" dirty="0"/>
          </a:p>
        </p:txBody>
      </p:sp>
      <p:sp>
        <p:nvSpPr>
          <p:cNvPr id="21" name="−0.68 pp"/>
          <p:cNvSpPr txBox="1"/>
          <p:nvPr/>
        </p:nvSpPr>
        <p:spPr>
          <a:xfrm>
            <a:off x="9875520" y="4526280"/>
            <a:ext cx="158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−0.68 pp</a:t>
            </a:r>
            <a:endParaRPr lang="en-US" sz="1800" dirty="0"/>
          </a:p>
        </p:txBody>
      </p:sp>
      <p:sp>
        <p:nvSpPr>
          <p:cNvPr id="22" name="card"/>
          <p:cNvSpPr/>
          <p:nvPr/>
        </p:nvSpPr>
        <p:spPr>
          <a:xfrm>
            <a:off x="8321040" y="5349240"/>
            <a:ext cx="331927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Leather"/>
          <p:cNvSpPr txBox="1"/>
          <p:nvPr/>
        </p:nvSpPr>
        <p:spPr>
          <a:xfrm>
            <a:off x="850392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Leather</a:t>
            </a:r>
            <a:endParaRPr lang="en-US" sz="1100" dirty="0"/>
          </a:p>
        </p:txBody>
      </p:sp>
      <p:sp>
        <p:nvSpPr>
          <p:cNvPr id="24" name="CCI 0.200"/>
          <p:cNvSpPr txBox="1"/>
          <p:nvPr/>
        </p:nvSpPr>
        <p:spPr>
          <a:xfrm>
            <a:off x="850392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CCI 0.200</a:t>
            </a:r>
            <a:endParaRPr lang="en-US" sz="1000" dirty="0"/>
          </a:p>
        </p:txBody>
      </p:sp>
      <p:sp>
        <p:nvSpPr>
          <p:cNvPr id="25" name="−4.91 pp"/>
          <p:cNvSpPr txBox="1"/>
          <p:nvPr/>
        </p:nvSpPr>
        <p:spPr>
          <a:xfrm>
            <a:off x="9875520" y="5394960"/>
            <a:ext cx="158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−4.91 pp</a:t>
            </a:r>
            <a:endParaRPr lang="en-US" sz="1800" dirty="0"/>
          </a:p>
        </p:txBody>
      </p:sp>
      <p:sp>
        <p:nvSpPr>
          <p:cNvPr id="26" name="합성 이미지는 학습 분할에만 추가, "/>
          <p:cNvSpPr txBox="1"/>
          <p:nvPr/>
        </p:nvSpPr>
        <p:spPr>
          <a:xfrm>
            <a:off x="548640" y="6126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합성 이미지는 학습 분할에만 추가, 검증·테스트는 실제 이미지만 사용. 세 조건 동일 하이퍼파라미터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제5장 · 해석 · 한계 및 다음 단계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핵심 발견: 효과의 부호가 CCI 순서대로 뒤집힌다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243001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AITeX"/>
          <p:cNvSpPr txBox="1"/>
          <p:nvPr/>
        </p:nvSpPr>
        <p:spPr>
          <a:xfrm>
            <a:off x="731520" y="1572768"/>
            <a:ext cx="2064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AITeX</a:t>
            </a:r>
            <a:endParaRPr lang="en-US" sz="1300" dirty="0"/>
          </a:p>
        </p:txBody>
      </p:sp>
      <p:sp>
        <p:nvSpPr>
          <p:cNvPr id="6" name="CCI 0.440"/>
          <p:cNvSpPr txBox="1"/>
          <p:nvPr/>
        </p:nvSpPr>
        <p:spPr>
          <a:xfrm>
            <a:off x="731520" y="1892808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CCI 0.440</a:t>
            </a:r>
            <a:endParaRPr lang="en-US" sz="1100" dirty="0"/>
          </a:p>
        </p:txBody>
      </p:sp>
      <p:sp>
        <p:nvSpPr>
          <p:cNvPr id="7" name="+4.96 pp"/>
          <p:cNvSpPr txBox="1"/>
          <p:nvPr/>
        </p:nvSpPr>
        <p:spPr>
          <a:xfrm>
            <a:off x="731520" y="2194560"/>
            <a:ext cx="2064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+4.96 pp</a:t>
            </a:r>
            <a:endParaRPr lang="en-US" sz="2600" dirty="0"/>
          </a:p>
        </p:txBody>
      </p:sp>
      <p:sp>
        <p:nvSpPr>
          <p:cNvPr id="8" name="arrow"/>
          <p:cNvSpPr/>
          <p:nvPr/>
        </p:nvSpPr>
        <p:spPr>
          <a:xfrm>
            <a:off x="3070098" y="2103120"/>
            <a:ext cx="274320" cy="320040"/>
          </a:xfrm>
          <a:prstGeom prst="rightArrow">
            <a:avLst/>
          </a:prstGeom>
          <a:solidFill>
            <a:schemeClr val="accent3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3435858" y="1463040"/>
            <a:ext cx="243001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Severstal"/>
          <p:cNvSpPr txBox="1"/>
          <p:nvPr/>
        </p:nvSpPr>
        <p:spPr>
          <a:xfrm>
            <a:off x="3618738" y="1572768"/>
            <a:ext cx="2064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Severstal</a:t>
            </a:r>
            <a:endParaRPr lang="en-US" sz="1300" dirty="0"/>
          </a:p>
        </p:txBody>
      </p:sp>
      <p:sp>
        <p:nvSpPr>
          <p:cNvPr id="11" name="CCI 0.306"/>
          <p:cNvSpPr txBox="1"/>
          <p:nvPr/>
        </p:nvSpPr>
        <p:spPr>
          <a:xfrm>
            <a:off x="3618738" y="1892808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CCI 0.306</a:t>
            </a:r>
            <a:endParaRPr lang="en-US" sz="1100" dirty="0"/>
          </a:p>
        </p:txBody>
      </p:sp>
      <p:sp>
        <p:nvSpPr>
          <p:cNvPr id="12" name="+1.06 pp"/>
          <p:cNvSpPr txBox="1"/>
          <p:nvPr/>
        </p:nvSpPr>
        <p:spPr>
          <a:xfrm>
            <a:off x="3618738" y="2194560"/>
            <a:ext cx="2064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+1.06 pp</a:t>
            </a:r>
            <a:endParaRPr lang="en-US" sz="2600" dirty="0"/>
          </a:p>
        </p:txBody>
      </p:sp>
      <p:sp>
        <p:nvSpPr>
          <p:cNvPr id="13" name="arrow"/>
          <p:cNvSpPr/>
          <p:nvPr/>
        </p:nvSpPr>
        <p:spPr>
          <a:xfrm>
            <a:off x="5957316" y="2103120"/>
            <a:ext cx="274320" cy="320040"/>
          </a:xfrm>
          <a:prstGeom prst="rightArrow">
            <a:avLst/>
          </a:prstGeom>
          <a:solidFill>
            <a:schemeClr val="accent3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4" name="card"/>
          <p:cNvSpPr/>
          <p:nvPr/>
        </p:nvSpPr>
        <p:spPr>
          <a:xfrm>
            <a:off x="6323076" y="1463040"/>
            <a:ext cx="243001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5" name="MTD"/>
          <p:cNvSpPr txBox="1"/>
          <p:nvPr/>
        </p:nvSpPr>
        <p:spPr>
          <a:xfrm>
            <a:off x="6505956" y="1572768"/>
            <a:ext cx="2064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MTD</a:t>
            </a:r>
            <a:endParaRPr lang="en-US" sz="1300" dirty="0"/>
          </a:p>
        </p:txBody>
      </p:sp>
      <p:sp>
        <p:nvSpPr>
          <p:cNvPr id="16" name="CCI 0.246"/>
          <p:cNvSpPr txBox="1"/>
          <p:nvPr/>
        </p:nvSpPr>
        <p:spPr>
          <a:xfrm>
            <a:off x="6505956" y="1892808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CCI 0.246</a:t>
            </a:r>
            <a:endParaRPr lang="en-US" sz="1100" dirty="0"/>
          </a:p>
        </p:txBody>
      </p:sp>
      <p:sp>
        <p:nvSpPr>
          <p:cNvPr id="17" name="−0.25 pp"/>
          <p:cNvSpPr txBox="1"/>
          <p:nvPr/>
        </p:nvSpPr>
        <p:spPr>
          <a:xfrm>
            <a:off x="6505956" y="2194560"/>
            <a:ext cx="2064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−0.25 pp</a:t>
            </a:r>
            <a:endParaRPr lang="en-US" sz="2600" dirty="0"/>
          </a:p>
        </p:txBody>
      </p:sp>
      <p:sp>
        <p:nvSpPr>
          <p:cNvPr id="18" name="arrow"/>
          <p:cNvSpPr/>
          <p:nvPr/>
        </p:nvSpPr>
        <p:spPr>
          <a:xfrm>
            <a:off x="8844534" y="2103120"/>
            <a:ext cx="274320" cy="320040"/>
          </a:xfrm>
          <a:prstGeom prst="rightArrow">
            <a:avLst/>
          </a:prstGeom>
          <a:solidFill>
            <a:schemeClr val="accent3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9" name="card"/>
          <p:cNvSpPr/>
          <p:nvPr/>
        </p:nvSpPr>
        <p:spPr>
          <a:xfrm>
            <a:off x="9210294" y="1463040"/>
            <a:ext cx="243001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0" name="Leather"/>
          <p:cNvSpPr txBox="1"/>
          <p:nvPr/>
        </p:nvSpPr>
        <p:spPr>
          <a:xfrm>
            <a:off x="9393174" y="1572768"/>
            <a:ext cx="2064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Leather</a:t>
            </a:r>
            <a:endParaRPr lang="en-US" sz="1300" dirty="0"/>
          </a:p>
        </p:txBody>
      </p:sp>
      <p:sp>
        <p:nvSpPr>
          <p:cNvPr id="21" name="CCI 0.200"/>
          <p:cNvSpPr txBox="1"/>
          <p:nvPr/>
        </p:nvSpPr>
        <p:spPr>
          <a:xfrm>
            <a:off x="9393174" y="1892808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CCI 0.200</a:t>
            </a:r>
            <a:endParaRPr lang="en-US" sz="1100" dirty="0"/>
          </a:p>
        </p:txBody>
      </p:sp>
      <p:sp>
        <p:nvSpPr>
          <p:cNvPr id="22" name="−4.91 pp"/>
          <p:cNvSpPr txBox="1"/>
          <p:nvPr/>
        </p:nvSpPr>
        <p:spPr>
          <a:xfrm>
            <a:off x="9393174" y="2194560"/>
            <a:ext cx="2064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−4.91 pp</a:t>
            </a:r>
            <a:endParaRPr lang="en-US" sz="2600" dirty="0"/>
          </a:p>
        </p:txBody>
      </p:sp>
      <p:sp>
        <p:nvSpPr>
          <p:cNvPr id="23" name="CCI 높은 순 = AROMA 우위 "/>
          <p:cNvSpPr txBox="1"/>
          <p:nvPr/>
        </p:nvSpPr>
        <p:spPr>
          <a:xfrm>
            <a:off x="548640" y="3154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CCI 높은 순 = AROMA 우위 순 (정확히 일치)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548640" y="3611880"/>
            <a:ext cx="5362956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5" name="pill"/>
          <p:cNvSpPr/>
          <p:nvPr/>
        </p:nvSpPr>
        <p:spPr>
          <a:xfrm>
            <a:off x="777240" y="3794760"/>
            <a:ext cx="4905756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ill-text"/>
          <p:cNvSpPr txBox="1"/>
          <p:nvPr/>
        </p:nvSpPr>
        <p:spPr>
          <a:xfrm>
            <a:off x="777240" y="379476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효과가 나타나는 조건</a:t>
            </a:r>
            <a:endParaRPr lang="en-US" sz="1200" dirty="0"/>
          </a:p>
        </p:txBody>
      </p:sp>
      <p:sp>
        <p:nvSpPr>
          <p:cNvPr id="27" name="bullets"/>
          <p:cNvSpPr txBox="1"/>
          <p:nvPr/>
        </p:nvSpPr>
        <p:spPr>
          <a:xfrm>
            <a:off x="777240" y="425196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기준 모델에 개선 여지가 있고 (AITeX baseline 0.20)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배경 맥락 복잡도(CCI)가 높아 "어디에 놓는가"가 정보를 가질 때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Kolektor처럼 baseline이 near-ceiling(0.974)이면 배치 정책 효과 자체가 소멸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6277356" y="3611880"/>
            <a:ext cx="5362956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9" name="pill"/>
          <p:cNvSpPr/>
          <p:nvPr/>
        </p:nvSpPr>
        <p:spPr>
          <a:xfrm>
            <a:off x="6505956" y="3794760"/>
            <a:ext cx="4905756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pill-text"/>
          <p:cNvSpPr txBox="1"/>
          <p:nvPr/>
        </p:nvSpPr>
        <p:spPr>
          <a:xfrm>
            <a:off x="6505956" y="379476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정직한 해석</a:t>
            </a:r>
            <a:endParaRPr lang="en-US" sz="1200" dirty="0"/>
          </a:p>
        </p:txBody>
      </p:sp>
      <p:sp>
        <p:nvSpPr>
          <p:cNvPr id="31" name="bullets"/>
          <p:cNvSpPr txBox="1"/>
          <p:nvPr/>
        </p:nvSpPr>
        <p:spPr>
          <a:xfrm>
            <a:off x="6505956" y="425196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AROMA–Random 차이는 paired t(df=2)에서 유의에 이르지 못함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주장의 근거는 개별 격차의 크기가 아니라 CCI를 따라 부호가 순서대로 뒤집히는 패턴 자체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균질 표면(Leather)에서는 두 배치 방식이 사실상 구분되지 않음</a:t>
            </a:r>
            <a:endParaRPr lang="en-US" sz="1100" dirty="0"/>
          </a:p>
        </p:txBody>
      </p:sp>
      <p:sp>
        <p:nvSpPr>
          <p:cNvPr id="32" name="card"/>
          <p:cNvSpPr/>
          <p:nvPr/>
        </p:nvSpPr>
        <p:spPr>
          <a:xfrm>
            <a:off x="548640" y="5349240"/>
            <a:ext cx="11091672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3" name="한계: 기존 결함 패치를 재배치하는 "/>
          <p:cNvSpPr txBox="1"/>
          <p:nvPr/>
        </p:nvSpPr>
        <p:spPr>
          <a:xfrm>
            <a:off x="822960" y="5440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한계: 기존 결함 패치를 재배치하는 copy-paste 범위 → 기존 형태 다양성을 넘어서는 새 결함 표현 불가. 구성요소별 절제 실험 미수행</a:t>
            </a:r>
            <a:endParaRPr lang="en-US" sz="1300" dirty="0"/>
          </a:p>
        </p:txBody>
      </p:sp>
      <p:sp>
        <p:nvSpPr>
          <p:cNvPr id="34" name="arrow"/>
          <p:cNvSpPr/>
          <p:nvPr/>
        </p:nvSpPr>
        <p:spPr>
          <a:xfrm>
            <a:off x="6126480" y="5669280"/>
            <a:ext cx="54864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35" name="제6장 CASDA: 철강 도메인에 특"/>
          <p:cNvSpPr txBox="1"/>
          <p:nvPr/>
        </p:nvSpPr>
        <p:spPr>
          <a:xfrm>
            <a:off x="6858000" y="5440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제6장 CASDA: 철강 도메인에 특화하고 ControlNet 생성을 결합해 결함 자체를 새로 만든다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제6장 · 개요 (Context-Aware Steel Defect Augmentation, Severstal)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제6장 CASDA: 문맥 인지 강철 결함 증강 — 5단계 파이프라인</a:t>
            </a:r>
            <a:endParaRPr lang="en-US" sz="2400" dirty="0"/>
          </a:p>
        </p:txBody>
      </p:sp>
      <p:pic>
        <p:nvPicPr>
          <p:cNvPr id="4" name="fig6-1.png" descr="D:\project\aroma\GRADUATION\figures\fig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1348"/>
            <a:ext cx="4937760" cy="4658264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6263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6-1  CASDA 파이프라인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5852160" y="1463040"/>
            <a:ext cx="5788152" cy="18288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7" name="도메인 특화"/>
          <p:cNvSpPr txBox="1"/>
          <p:nvPr/>
        </p:nvSpPr>
        <p:spPr>
          <a:xfrm>
            <a:off x="612648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도메인 특화</a:t>
            </a:r>
            <a:endParaRPr lang="en-US" sz="1300" dirty="0"/>
          </a:p>
        </p:txBody>
      </p:sp>
      <p:sp>
        <p:nvSpPr>
          <p:cNvPr id="8" name="철강 표면(Severstal, 160"/>
          <p:cNvSpPr txBox="1"/>
          <p:nvPr/>
        </p:nvSpPr>
        <p:spPr>
          <a:xfrm>
            <a:off x="6126480" y="20116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철강 표면(Severstal, 1600×256 grayscale, 4 class)의 결함 형태–배경 표면 관계를 호환성 매트릭스로 구성하고, ControlNet 조건부 생성과 결합해 "어디에(ROI)"에서 "무엇을(생성)"까지 확장</a:t>
            </a:r>
            <a:endParaRPr lang="en-US" sz="1300" dirty="0"/>
          </a:p>
        </p:txBody>
      </p:sp>
      <p:sp>
        <p:nvSpPr>
          <p:cNvPr id="9" name="step"/>
          <p:cNvSpPr/>
          <p:nvPr/>
        </p:nvSpPr>
        <p:spPr>
          <a:xfrm>
            <a:off x="5852160" y="3520440"/>
            <a:ext cx="5788152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① 데이터셋 프로파일링 — 기하학적 "/>
          <p:cNvSpPr txBox="1"/>
          <p:nvPr/>
        </p:nvSpPr>
        <p:spPr>
          <a:xfrm>
            <a:off x="6035040" y="352044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① 데이터셋 프로파일링 — 기하학적 ROI 특성화·배경 텍스처 분류</a:t>
            </a:r>
            <a:endParaRPr lang="en-US" sz="1200" dirty="0"/>
          </a:p>
        </p:txBody>
      </p:sp>
      <p:sp>
        <p:nvSpPr>
          <p:cNvPr id="11" name="step"/>
          <p:cNvSpPr/>
          <p:nvPr/>
        </p:nvSpPr>
        <p:spPr>
          <a:xfrm>
            <a:off x="5852160" y="4069080"/>
            <a:ext cx="5788152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② 결함–배경 호환성 분석 — 3채널"/>
          <p:cNvSpPr txBox="1"/>
          <p:nvPr/>
        </p:nvSpPr>
        <p:spPr>
          <a:xfrm>
            <a:off x="6035040" y="406908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② 결함–배경 호환성 분석 — 3채널 힌트·프롬프트 구성</a:t>
            </a:r>
            <a:endParaRPr lang="en-US" sz="1200" dirty="0"/>
          </a:p>
        </p:txBody>
      </p:sp>
      <p:sp>
        <p:nvSpPr>
          <p:cNvPr id="13" name="step"/>
          <p:cNvSpPr/>
          <p:nvPr/>
        </p:nvSpPr>
        <p:spPr>
          <a:xfrm>
            <a:off x="5852160" y="4617720"/>
            <a:ext cx="5788152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③ 조건부 결함 생성 — Contro"/>
          <p:cNvSpPr txBox="1"/>
          <p:nvPr/>
        </p:nvSpPr>
        <p:spPr>
          <a:xfrm>
            <a:off x="6035040" y="461772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③ 조건부 결함 생성 — ControlNet(SD v1.5) fine-tuning</a:t>
            </a:r>
            <a:endParaRPr lang="en-US" sz="1200" dirty="0"/>
          </a:p>
        </p:txBody>
      </p:sp>
      <p:sp>
        <p:nvSpPr>
          <p:cNvPr id="15" name="step"/>
          <p:cNvSpPr/>
          <p:nvPr/>
        </p:nvSpPr>
        <p:spPr>
          <a:xfrm>
            <a:off x="5852160" y="5166360"/>
            <a:ext cx="5788152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④ ROI 탐색 및 배치 — 호환성 "/>
          <p:cNvSpPr txBox="1"/>
          <p:nvPr/>
        </p:nvSpPr>
        <p:spPr>
          <a:xfrm>
            <a:off x="6035040" y="516636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④ ROI 탐색 및 배치 — 호환성 기반 배경 선택 + Poisson blending</a:t>
            </a:r>
            <a:endParaRPr lang="en-US" sz="1200" dirty="0"/>
          </a:p>
        </p:txBody>
      </p:sp>
      <p:sp>
        <p:nvSpPr>
          <p:cNvPr id="17" name="step"/>
          <p:cNvSpPr/>
          <p:nvPr/>
        </p:nvSpPr>
        <p:spPr>
          <a:xfrm>
            <a:off x="5852160" y="5715000"/>
            <a:ext cx="5788152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8" name="⑤ 품질 게이트(Q ≥ 0.7) → "/>
          <p:cNvSpPr txBox="1"/>
          <p:nvPr/>
        </p:nvSpPr>
        <p:spPr>
          <a:xfrm>
            <a:off x="6035040" y="571500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⑤ 품질 게이트(Q ≥ 0.7) → 통합 → 검출 모델 학습·평가</a:t>
            </a:r>
            <a:endParaRPr lang="en-US" sz="1200" dirty="0"/>
          </a:p>
        </p:txBody>
      </p:sp>
      <p:sp>
        <p:nvSpPr>
          <p:cNvPr id="19" name="분할 70:15:15 (테스트 ≈ 1"/>
          <p:cNvSpPr txBox="1"/>
          <p:nvPr/>
        </p:nvSpPr>
        <p:spPr>
          <a:xfrm>
            <a:off x="5852160" y="6309360"/>
            <a:ext cx="5788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분할 70:15:15 (테스트 ≈ 1,000장) · Class 2가 가장 희소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제6장 · 방법론 — 수식 (6)~(11), 그림 6-2 ~ 6-6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1단계 특성화: 결함 유형과 배경 유형을 같은 방식으로 분포에서 도출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408676" cy="2788920"/>
          </a:xfrm>
          <a:prstGeom prst="roundRect">
            <a:avLst>
              <a:gd name="adj" fmla="val 2623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pill"/>
          <p:cNvSpPr/>
          <p:nvPr/>
        </p:nvSpPr>
        <p:spPr>
          <a:xfrm>
            <a:off x="777240" y="1645920"/>
            <a:ext cx="14630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ill-text"/>
          <p:cNvSpPr txBox="1"/>
          <p:nvPr/>
        </p:nvSpPr>
        <p:spPr>
          <a:xfrm>
            <a:off x="77724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결함 유형</a:t>
            </a:r>
            <a:endParaRPr lang="en-US" sz="1100" dirty="0"/>
          </a:p>
        </p:txBody>
      </p:sp>
      <p:sp>
        <p:nvSpPr>
          <p:cNvPr id="7" name="결함 하위유형 4종 — 분포 유도 고"/>
          <p:cNvSpPr txBox="1"/>
          <p:nvPr/>
        </p:nvSpPr>
        <p:spPr>
          <a:xfrm>
            <a:off x="2377440" y="1645920"/>
            <a:ext cx="3351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결함 하위유형 4종 — 분포 유도 고정 임계</a:t>
            </a:r>
            <a:endParaRPr lang="en-US" sz="1400" dirty="0"/>
          </a:p>
        </p:txBody>
      </p:sp>
      <p:sp>
        <p:nvSpPr>
          <p:cNvPr id="8" name="text"/>
          <p:cNvSpPr txBox="1"/>
          <p:nvPr/>
        </p:nvSpPr>
        <p:spPr>
          <a:xfrm>
            <a:off x="777240" y="210312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입력 특성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λ 선형성(공분산 고유값) · σ 솔리디티(볼록껍질 면적비) · α 종횡비(타원 적합) · extent (결함 마스크, N=19,958)</a:t>
            </a:r>
            <a:endParaRPr lang="en-US" sz="105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78608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분류 기준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임계값은 전체 결함 인스턴스 분포에서 로그 스케일 Otsu 분할로 도출 (λ=0.85, σ=0.9) — 그림 6-3</a:t>
            </a:r>
            <a:endParaRPr lang="en-US" sz="1050" dirty="0"/>
          </a:p>
        </p:txBody>
      </p:sp>
      <p:sp>
        <p:nvSpPr>
          <p:cNvPr id="10" name="math"/>
          <p:cNvSpPr txBox="1"/>
          <p:nvPr/>
        </p:nvSpPr>
        <p:spPr>
          <a:xfrm>
            <a:off x="777240" y="2926080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linear_scratch  ⟺  λ &gt; 0.85  ∧  α &gt; 5.0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irregular           ⟺  σ &lt; 0.7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compact_blob    ⟺  α &lt; 2.0  ∧  σ &gt; 0.9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general              ⟺  otherwise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777240" y="3749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결과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linear_scratch / irregular / compact_blob / general → 프롬프트 F1 · 힌트 R채널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231636" y="1463040"/>
            <a:ext cx="5408676" cy="2788920"/>
          </a:xfrm>
          <a:prstGeom prst="roundRect">
            <a:avLst>
              <a:gd name="adj" fmla="val 2623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pill"/>
          <p:cNvSpPr/>
          <p:nvPr/>
        </p:nvSpPr>
        <p:spPr>
          <a:xfrm>
            <a:off x="6460236" y="1645920"/>
            <a:ext cx="146304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ill-text"/>
          <p:cNvSpPr txBox="1"/>
          <p:nvPr/>
        </p:nvSpPr>
        <p:spPr>
          <a:xfrm>
            <a:off x="6460236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배경 유형</a:t>
            </a:r>
            <a:endParaRPr lang="en-US" sz="1100" dirty="0"/>
          </a:p>
        </p:txBody>
      </p:sp>
      <p:sp>
        <p:nvSpPr>
          <p:cNvPr id="15" name="배경 텍스처 5종 — 분포 유도 고정"/>
          <p:cNvSpPr txBox="1"/>
          <p:nvPr/>
        </p:nvSpPr>
        <p:spPr>
          <a:xfrm>
            <a:off x="8060436" y="1645920"/>
            <a:ext cx="3351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배경 텍스처 5종 — 분포 유도 고정 임계</a:t>
            </a:r>
            <a:endParaRPr lang="en-US" sz="1400" dirty="0"/>
          </a:p>
        </p:txBody>
      </p:sp>
      <p:sp>
        <p:nvSpPr>
          <p:cNvPr id="16" name="text"/>
          <p:cNvSpPr txBox="1"/>
          <p:nvPr/>
        </p:nvSpPr>
        <p:spPr>
          <a:xfrm>
            <a:off x="6460236" y="210312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입력 특성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LocalVariance · EdgeDensity(Canny) · 방향성(Sobel x/y 비율) (정상 패치, 64px 슬라이딩 그리드)</a:t>
            </a:r>
            <a:endParaRPr lang="en-US" sz="1050" dirty="0"/>
          </a:p>
        </p:txBody>
      </p:sp>
      <p:sp>
        <p:nvSpPr>
          <p:cNvPr id="17" name="text"/>
          <p:cNvSpPr txBox="1"/>
          <p:nvPr/>
        </p:nvSpPr>
        <p:spPr>
          <a:xfrm>
            <a:off x="6460236" y="2578608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분류 기준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임계값은 정상 배경 패치 분포에서 동일 방식으로 도출 (분산 τ=14.09, 엣지 ε=0.607) — 그림 6-5·6-6</a:t>
            </a:r>
            <a:endParaRPr lang="en-US" sz="1050" dirty="0"/>
          </a:p>
        </p:txBody>
      </p:sp>
      <p:sp>
        <p:nvSpPr>
          <p:cNvPr id="18" name="math"/>
          <p:cNvSpPr txBox="1"/>
          <p:nvPr/>
        </p:nvSpPr>
        <p:spPr>
          <a:xfrm>
            <a:off x="6460236" y="2926080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Smooth    ⟺  LocalVariance ≤ 14.09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Complex  ⟺  LocalVariance &gt; 14.09  ∨  EdgeDensity &gt; 0.607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Vertical / Horizontal Stripe  ⟺  Sobel 방향성 비율 우세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Textured  ⟺  otherwise</a:t>
            </a:r>
            <a:endParaRPr lang="en-US" sz="1200" dirty="0"/>
          </a:p>
        </p:txBody>
      </p:sp>
      <p:sp>
        <p:nvSpPr>
          <p:cNvPr id="19" name="text"/>
          <p:cNvSpPr txBox="1"/>
          <p:nvPr/>
        </p:nvSpPr>
        <p:spPr>
          <a:xfrm>
            <a:off x="6460236" y="3749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E3E3"/>
                </a:solidFill>
              </a:rPr>
              <a:t>결과  </a:t>
            </a:r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Smooth / Vertical Stripe / Horizontal Stripe / Textured / Complex → 프롬프트 F2 · 힌트 G·B채널</a:t>
            </a:r>
            <a:endParaRPr lang="en-US" sz="1050" dirty="0"/>
          </a:p>
        </p:txBody>
      </p:sp>
      <p:pic>
        <p:nvPicPr>
          <p:cNvPr id="20" name="fig6-3.png" descr="D:\project\aroma\GRADUATION\figures\fig6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69272"/>
            <a:ext cx="2743200" cy="1022777"/>
          </a:xfrm>
          <a:prstGeom prst="rect">
            <a:avLst/>
          </a:prstGeom>
        </p:spPr>
      </p:pic>
      <p:sp>
        <p:nvSpPr>
          <p:cNvPr id="21" name="caption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6-3  형태 특성 분포·임계값</a:t>
            </a:r>
            <a:endParaRPr lang="en-US" sz="1000" dirty="0"/>
          </a:p>
        </p:txBody>
      </p:sp>
      <p:pic>
        <p:nvPicPr>
          <p:cNvPr id="22" name="fig6-5.png" descr="D:\project\aroma\GRADUATION\figures\fig6-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855318"/>
            <a:ext cx="1508760" cy="850684"/>
          </a:xfrm>
          <a:prstGeom prst="rect">
            <a:avLst/>
          </a:prstGeom>
        </p:spPr>
      </p:pic>
      <p:sp>
        <p:nvSpPr>
          <p:cNvPr id="23" name="caption"/>
          <p:cNvSpPr txBox="1"/>
          <p:nvPr/>
        </p:nvSpPr>
        <p:spPr>
          <a:xfrm>
            <a:off x="3429000" y="6126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6-5  배경 분산 (τ)</a:t>
            </a:r>
            <a:endParaRPr lang="en-US" sz="1000" dirty="0"/>
          </a:p>
        </p:txBody>
      </p:sp>
      <p:pic>
        <p:nvPicPr>
          <p:cNvPr id="24" name="fig6-6.png" descr="D:\project\aroma\GRADUATION\figures\fig6-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854589"/>
            <a:ext cx="1508760" cy="852143"/>
          </a:xfrm>
          <a:prstGeom prst="rect">
            <a:avLst/>
          </a:prstGeom>
        </p:spPr>
      </p:pic>
      <p:sp>
        <p:nvSpPr>
          <p:cNvPr id="25" name="caption"/>
          <p:cNvSpPr txBox="1"/>
          <p:nvPr/>
        </p:nvSpPr>
        <p:spPr>
          <a:xfrm>
            <a:off x="5074920" y="6126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6-6  엣지 밀도 (ε)</a:t>
            </a:r>
            <a:endParaRPr lang="en-US" sz="1000" dirty="0"/>
          </a:p>
        </p:txBody>
      </p:sp>
      <p:pic>
        <p:nvPicPr>
          <p:cNvPr id="26" name="fig6-2.jpg" descr="D:\project\aroma\GRADUATION\figures\fig6-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177" y="4480560"/>
            <a:ext cx="2161086" cy="1600200"/>
          </a:xfrm>
          <a:prstGeom prst="rect">
            <a:avLst/>
          </a:prstGeom>
        </p:spPr>
      </p:pic>
      <p:sp>
        <p:nvSpPr>
          <p:cNvPr id="27" name="caption"/>
          <p:cNvSpPr txBox="1"/>
          <p:nvPr/>
        </p:nvSpPr>
        <p:spPr>
          <a:xfrm>
            <a:off x="6858000" y="6126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6-2  ROI 특성화</a:t>
            </a:r>
            <a:endParaRPr lang="en-US" sz="1000" dirty="0"/>
          </a:p>
        </p:txBody>
      </p:sp>
      <p:pic>
        <p:nvPicPr>
          <p:cNvPr id="28" name="fig6-4.png" descr="D:\project\aroma\GRADUATION\figures\fig6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106" y="4480560"/>
            <a:ext cx="1787268" cy="1600200"/>
          </a:xfrm>
          <a:prstGeom prst="rect">
            <a:avLst/>
          </a:prstGeom>
        </p:spPr>
      </p:pic>
      <p:sp>
        <p:nvSpPr>
          <p:cNvPr id="29" name="caption"/>
          <p:cNvSpPr txBox="1"/>
          <p:nvPr/>
        </p:nvSpPr>
        <p:spPr>
          <a:xfrm>
            <a:off x="9372600" y="6126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6-4  배경 텍스처 분류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제6장 · 방법론 — 신규 도식: 채널 → 힌트 → 프롬프트 조립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2단계 ControlNet 구성: 3채널 힌트 이미지 + 4필드 시맨틱 프롬프트</a:t>
            </a:r>
            <a:endParaRPr lang="en-US" sz="2400" dirty="0"/>
          </a:p>
        </p:txBody>
      </p:sp>
      <p:sp>
        <p:nvSpPr>
          <p:cNvPr id="4" name="ch"/>
          <p:cNvSpPr/>
          <p:nvPr/>
        </p:nvSpPr>
        <p:spPr>
          <a:xfrm>
            <a:off x="548640" y="1463040"/>
            <a:ext cx="82296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R"/>
          <p:cNvSpPr txBox="1"/>
          <p:nvPr/>
        </p:nvSpPr>
        <p:spPr>
          <a:xfrm>
            <a:off x="5486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</a:t>
            </a:r>
            <a:endParaRPr lang="en-US" sz="2600" dirty="0"/>
          </a:p>
        </p:txBody>
      </p:sp>
      <p:sp>
        <p:nvSpPr>
          <p:cNvPr id="6" name="결함 기하"/>
          <p:cNvSpPr txBox="1"/>
          <p:nvPr/>
        </p:nvSpPr>
        <p:spPr>
          <a:xfrm>
            <a:off x="1508760" y="1536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결함 기하</a:t>
            </a:r>
            <a:endParaRPr lang="en-US" sz="1300" dirty="0"/>
          </a:p>
        </p:txBody>
      </p:sp>
      <p:sp>
        <p:nvSpPr>
          <p:cNvPr id="7" name="픽셀 단위 결함 마스크"/>
          <p:cNvSpPr txBox="1"/>
          <p:nvPr/>
        </p:nvSpPr>
        <p:spPr>
          <a:xfrm>
            <a:off x="150876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픽셀 단위 결함 마스크</a:t>
            </a:r>
            <a:endParaRPr lang="en-US" sz="1100" dirty="0"/>
          </a:p>
        </p:txBody>
      </p:sp>
      <p:sp>
        <p:nvSpPr>
          <p:cNvPr id="8" name="× 0.5"/>
          <p:cNvSpPr txBox="1"/>
          <p:nvPr/>
        </p:nvSpPr>
        <p:spPr>
          <a:xfrm>
            <a:off x="3474720" y="1463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× 0.5</a:t>
            </a:r>
            <a:endParaRPr lang="en-US" sz="1600" dirty="0"/>
          </a:p>
        </p:txBody>
      </p:sp>
      <p:sp>
        <p:nvSpPr>
          <p:cNvPr id="9" name="ch"/>
          <p:cNvSpPr/>
          <p:nvPr/>
        </p:nvSpPr>
        <p:spPr>
          <a:xfrm>
            <a:off x="548640" y="2423160"/>
            <a:ext cx="822960" cy="82296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G"/>
          <p:cNvSpPr txBox="1"/>
          <p:nvPr/>
        </p:nvSpPr>
        <p:spPr>
          <a:xfrm>
            <a:off x="5486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G</a:t>
            </a:r>
            <a:endParaRPr lang="en-US" sz="2600" dirty="0"/>
          </a:p>
        </p:txBody>
      </p:sp>
      <p:sp>
        <p:nvSpPr>
          <p:cNvPr id="11" name="표면 방향성"/>
          <p:cNvSpPr txBox="1"/>
          <p:nvPr/>
        </p:nvSpPr>
        <p:spPr>
          <a:xfrm>
            <a:off x="150876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표면 방향성</a:t>
            </a:r>
            <a:endParaRPr lang="en-US" sz="1300" dirty="0"/>
          </a:p>
        </p:txBody>
      </p:sp>
      <p:sp>
        <p:nvSpPr>
          <p:cNvPr id="12" name="Sobel 연산 기반"/>
          <p:cNvSpPr txBox="1"/>
          <p:nvPr/>
        </p:nvSpPr>
        <p:spPr>
          <a:xfrm>
            <a:off x="150876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Sobel 연산 기반</a:t>
            </a:r>
            <a:endParaRPr lang="en-US" sz="1100" dirty="0"/>
          </a:p>
        </p:txBody>
      </p:sp>
      <p:sp>
        <p:nvSpPr>
          <p:cNvPr id="13" name="× 0.3"/>
          <p:cNvSpPr txBox="1"/>
          <p:nvPr/>
        </p:nvSpPr>
        <p:spPr>
          <a:xfrm>
            <a:off x="3474720" y="2423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× 0.3</a:t>
            </a:r>
            <a:endParaRPr lang="en-US" sz="1600" dirty="0"/>
          </a:p>
        </p:txBody>
      </p:sp>
      <p:sp>
        <p:nvSpPr>
          <p:cNvPr id="14" name="ch"/>
          <p:cNvSpPr/>
          <p:nvPr/>
        </p:nvSpPr>
        <p:spPr>
          <a:xfrm>
            <a:off x="548640" y="3383280"/>
            <a:ext cx="82296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"/>
          <p:cNvSpPr txBox="1"/>
          <p:nvPr/>
        </p:nvSpPr>
        <p:spPr>
          <a:xfrm>
            <a:off x="54864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</a:t>
            </a:r>
            <a:endParaRPr lang="en-US" sz="2600" dirty="0"/>
          </a:p>
        </p:txBody>
      </p:sp>
      <p:sp>
        <p:nvSpPr>
          <p:cNvPr id="16" name="표면 거칠기"/>
          <p:cNvSpPr txBox="1"/>
          <p:nvPr/>
        </p:nvSpPr>
        <p:spPr>
          <a:xfrm>
            <a:off x="150876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표면 거칠기</a:t>
            </a:r>
            <a:endParaRPr lang="en-US" sz="1300" dirty="0"/>
          </a:p>
        </p:txBody>
      </p:sp>
      <p:sp>
        <p:nvSpPr>
          <p:cNvPr id="17" name="7×7 국소 분산"/>
          <p:cNvSpPr txBox="1"/>
          <p:nvPr/>
        </p:nvSpPr>
        <p:spPr>
          <a:xfrm>
            <a:off x="150876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7×7 국소 분산</a:t>
            </a:r>
            <a:endParaRPr lang="en-US" sz="1100" dirty="0"/>
          </a:p>
        </p:txBody>
      </p:sp>
      <p:sp>
        <p:nvSpPr>
          <p:cNvPr id="18" name="× 0.2"/>
          <p:cNvSpPr txBox="1"/>
          <p:nvPr/>
        </p:nvSpPr>
        <p:spPr>
          <a:xfrm>
            <a:off x="3474720" y="3383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× 0.2</a:t>
            </a:r>
            <a:endParaRPr lang="en-US" sz="1600" dirty="0"/>
          </a:p>
        </p:txBody>
      </p:sp>
      <p:sp>
        <p:nvSpPr>
          <p:cNvPr id="19" name="arrow"/>
          <p:cNvSpPr/>
          <p:nvPr/>
        </p:nvSpPr>
        <p:spPr>
          <a:xfrm>
            <a:off x="4297680" y="2651760"/>
            <a:ext cx="45720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20" name="hint"/>
          <p:cNvSpPr/>
          <p:nvPr/>
        </p:nvSpPr>
        <p:spPr>
          <a:xfrm>
            <a:off x="4892040" y="1920240"/>
            <a:ext cx="1737360" cy="1828800"/>
          </a:xfrm>
          <a:prstGeom prst="roundRect">
            <a:avLst>
              <a:gd name="adj" fmla="val 5263"/>
            </a:avLst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힌트 이미지 0.5R + 0.3G +"/>
          <p:cNvSpPr txBox="1"/>
          <p:nvPr/>
        </p:nvSpPr>
        <p:spPr>
          <a:xfrm>
            <a:off x="4892040" y="19202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힌트 이미지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0.5R + 0.3G + 0.2B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548640" y="4480560"/>
            <a:ext cx="60807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프롬프트 = F1 결함 유형 · F2"/>
          <p:cNvSpPr txBox="1"/>
          <p:nvPr/>
        </p:nvSpPr>
        <p:spPr>
          <a:xfrm>
            <a:off x="731520" y="4572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프롬프트 = F1 결함 유형 · F2 배경 표면 · F3 방향성 텍스처 · F4 안정성 점수 기반 표면 상태</a:t>
            </a:r>
            <a:endParaRPr lang="en-US" sz="1100" dirty="0"/>
          </a:p>
        </p:txBody>
      </p:sp>
      <p:sp>
        <p:nvSpPr>
          <p:cNvPr id="24" name="prompt"/>
          <p:cNvSpPr txBox="1"/>
          <p:nvPr/>
        </p:nvSpPr>
        <p:spPr>
          <a:xfrm>
            <a:off x="731520" y="5074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linear scratch defect </a:t>
            </a:r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vertical striped metal surface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directional texture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(pristine)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class 2.</a:t>
            </a:r>
            <a:endParaRPr lang="en-US" sz="1300" dirty="0"/>
          </a:p>
        </p:txBody>
      </p:sp>
      <p:sp>
        <p:nvSpPr>
          <p:cNvPr id="25" name="F1 · F2 · F3 · F4 (F"/>
          <p:cNvSpPr txBox="1"/>
          <p:nvPr/>
        </p:nvSpPr>
        <p:spPr>
          <a:xfrm>
            <a:off x="731520" y="5852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F1 · F2 · F3 · F4 (F4 = 0.85 → pristine) — 고정 템플릿으로 자동 생성</a:t>
            </a:r>
            <a:endParaRPr lang="en-US" sz="1000" dirty="0"/>
          </a:p>
        </p:txBody>
      </p:sp>
      <p:pic>
        <p:nvPicPr>
          <p:cNvPr id="26" name="fig6-8.jpg" descr="D:\project\aroma\GRADUATION\figures\fig6-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741" y="1463040"/>
            <a:ext cx="3844270" cy="3108960"/>
          </a:xfrm>
          <a:prstGeom prst="rect">
            <a:avLst/>
          </a:prstGeom>
        </p:spPr>
      </p:pic>
      <p:sp>
        <p:nvSpPr>
          <p:cNvPr id="27" name="caption"/>
          <p:cNvSpPr txBox="1"/>
          <p:nvPr/>
        </p:nvSpPr>
        <p:spPr>
          <a:xfrm>
            <a:off x="6949440" y="461772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6-8  3채널 힌트 이미지 구성 (Class 1~4)</a:t>
            </a:r>
            <a:endParaRPr lang="en-US" sz="1000" dirty="0"/>
          </a:p>
        </p:txBody>
      </p:sp>
      <p:sp>
        <p:nvSpPr>
          <p:cNvPr id="28" name="bullets"/>
          <p:cNvSpPr txBox="1"/>
          <p:nvPr/>
        </p:nvSpPr>
        <p:spPr>
          <a:xfrm>
            <a:off x="6949440" y="502920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ControlNet(canny) + Stable Diffusion v1.5, AdamW lr 1e-5, min-SNR γ=5, ≤20 epoch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추론 30 step, CFG 7.5, conditioning scale 0.7 → grayscale 변환(VAE 색 아티팩트 제거)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제6장 · 방법론 · 생성 샘플 (표 6-2, 그림 6-9)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3~5단계: 호환성 기반 배경 선택 → Poisson → 품질 게이트 → 통합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③ 맥락 기반 합성"/>
          <p:cNvSpPr txBox="1"/>
          <p:nvPr/>
        </p:nvSpPr>
        <p:spPr>
          <a:xfrm>
            <a:off x="731520" y="1536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③ 맥락 기반 합성</a:t>
            </a:r>
            <a:endParaRPr lang="en-US" sz="1300" dirty="0"/>
          </a:p>
        </p:txBody>
      </p:sp>
      <p:sp>
        <p:nvSpPr>
          <p:cNvPr id="6" name="결함 유형 × 배경 텍스처 공존 확률"/>
          <p:cNvSpPr txBox="1"/>
          <p:nvPr/>
        </p:nvSpPr>
        <p:spPr>
          <a:xfrm>
            <a:off x="731520" y="18470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결함 유형 × 배경 텍스처 공존 확률을 인코딩한 호환성 매트릭스에 따라 배경을 확률적으로 선택. Poisson blending으로 경계 불연속 제거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548640" y="251460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④ 품질 검증 게이트"/>
          <p:cNvSpPr txBox="1"/>
          <p:nvPr/>
        </p:nvSpPr>
        <p:spPr>
          <a:xfrm>
            <a:off x="731520" y="2587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④ 품질 검증 게이트</a:t>
            </a:r>
            <a:endParaRPr lang="en-US" sz="1300" dirty="0"/>
          </a:p>
        </p:txBody>
      </p:sp>
      <p:sp>
        <p:nvSpPr>
          <p:cNvPr id="9" name="Q = 형태 일관성 Q_morph +"/>
          <p:cNvSpPr txBox="1"/>
          <p:nvPr/>
        </p:nvSpPr>
        <p:spPr>
          <a:xfrm>
            <a:off x="731520" y="28986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 = 형태 일관성 Q_morph + 선명도 Q_sharp + 아티팩트 Q_artifact + 면적비 Q_area 가중합, Q ≥ 0.7만 채택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548640" y="356616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⑤ 데이터셋 통합"/>
          <p:cNvSpPr txBox="1"/>
          <p:nvPr/>
        </p:nvSpPr>
        <p:spPr>
          <a:xfrm>
            <a:off x="731520" y="36393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⑤ 데이터셋 통합</a:t>
            </a:r>
            <a:endParaRPr lang="en-US" sz="1300" dirty="0"/>
          </a:p>
        </p:txBody>
      </p:sp>
      <p:sp>
        <p:nvSpPr>
          <p:cNvPr id="12" name="채택 합성 이미지의 결함 마스크를 인"/>
          <p:cNvSpPr txBox="1"/>
          <p:nvPr/>
        </p:nvSpPr>
        <p:spPr>
          <a:xfrm>
            <a:off x="731520" y="39502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채택 합성 이미지의 결함 마스크를 인코딩해 기존 학습셋에 통합</a:t>
            </a:r>
            <a:endParaRPr lang="en-US" sz="1100" dirty="0"/>
          </a:p>
        </p:txBody>
      </p:sp>
      <p:graphicFrame>
        <p:nvGraphicFramePr>
          <p:cNvPr id="29" name="aug-sta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항목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값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품질 검증 배치의 생성 후보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2,500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품질 검증 통과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2,075 (83.0%)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561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Class 2 표본 수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561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247 → 519 (+110.1%)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최종 통합 합성 표본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2,238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최종 학습 데이터셋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7,475 (원본 5,237 + 합성 2,238, 42.7%)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pic>
        <p:nvPicPr>
          <p:cNvPr id="14" name="fig6-9.png" descr="D:\project\aroma\GRADUATION\figures\fig6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694" y="1463040"/>
            <a:ext cx="3790604" cy="3657600"/>
          </a:xfrm>
          <a:prstGeom prst="rect">
            <a:avLst/>
          </a:prstGeom>
        </p:spPr>
      </p:pic>
      <p:sp>
        <p:nvSpPr>
          <p:cNvPr id="15" name="caption"/>
          <p:cNvSpPr txBox="1"/>
          <p:nvPr/>
        </p:nvSpPr>
        <p:spPr>
          <a:xfrm>
            <a:off x="6583680" y="5166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그림 6-9  동일 힌트 조건에서 생성된 결함 샘플 vs 원본 GT</a:t>
            </a:r>
            <a:endParaRPr lang="en-US" sz="1000" dirty="0"/>
          </a:p>
        </p:txBody>
      </p:sp>
      <p:sp>
        <p:nvSpPr>
          <p:cNvPr id="16" name="card"/>
          <p:cNvSpPr/>
          <p:nvPr/>
        </p:nvSpPr>
        <p:spPr>
          <a:xfrm>
            <a:off x="6583680" y="5486400"/>
            <a:ext cx="50566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6766560" y="5577840"/>
            <a:ext cx="4690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LPIPS Diversity  CASDA 0.448 &gt; Copy-Paste 0.394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LPIPS Realism  CASDA 0.467 &lt; Copy-Paste 0.491 (낮을수록 우수)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단일 힌트에서 시각적으로 다른 복수 출력 — 단순 복제가 아닌 구조적 다양성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제6장 · 실험 결과 (EB-YOLOv8, 표 6-3, n = 2 seeds)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6장 결과: CASDA mAP@0.5 0.3196, 희소 Class 2 AP +22.09 pp</a:t>
            </a:r>
            <a:endParaRPr lang="en-US" sz="2400" dirty="0"/>
          </a:p>
        </p:txBody>
      </p:sp>
      <p:graphicFrame>
        <p:nvGraphicFramePr>
          <p:cNvPr id="4" name="chart-ch6" descr=""/>
          <p:cNvGraphicFramePr/>
          <p:nvPr/>
        </p:nvGraphicFramePr>
        <p:xfrm>
          <a:off x="548640" y="146304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7955280" y="1463040"/>
            <a:ext cx="368503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" name="+22.09 pp"/>
          <p:cNvSpPr txBox="1"/>
          <p:nvPr/>
        </p:nvSpPr>
        <p:spPr>
          <a:xfrm>
            <a:off x="8138160" y="1554480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+22.09 pp</a:t>
            </a:r>
            <a:endParaRPr lang="en-US" sz="2200" dirty="0"/>
          </a:p>
        </p:txBody>
      </p:sp>
      <p:sp>
        <p:nvSpPr>
          <p:cNvPr id="7" name="Class 2 AP vs Copy-P"/>
          <p:cNvSpPr txBox="1"/>
          <p:nvPr/>
        </p:nvSpPr>
        <p:spPr>
          <a:xfrm>
            <a:off x="8138160" y="212140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Class 2 AP vs Copy-Paste (0.0550 → 0.2759)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7955280" y="2670048"/>
            <a:ext cx="368503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+10.03 pp"/>
          <p:cNvSpPr txBox="1"/>
          <p:nvPr/>
        </p:nvSpPr>
        <p:spPr>
          <a:xfrm>
            <a:off x="8138160" y="2761488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+10.03 pp</a:t>
            </a:r>
            <a:endParaRPr lang="en-US" sz="2200" dirty="0"/>
          </a:p>
        </p:txBody>
      </p:sp>
      <p:sp>
        <p:nvSpPr>
          <p:cNvPr id="10" name="Class 1 AP vs Raw — "/>
          <p:cNvSpPr txBox="1"/>
          <p:nvPr/>
        </p:nvSpPr>
        <p:spPr>
          <a:xfrm>
            <a:off x="8138160" y="332841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Class 1 AP vs Raw — 최대 향상</a:t>
            </a:r>
            <a:endParaRPr lang="en-US" sz="1000" dirty="0"/>
          </a:p>
        </p:txBody>
      </p:sp>
      <p:sp>
        <p:nvSpPr>
          <p:cNvPr id="11" name="card"/>
          <p:cNvSpPr/>
          <p:nvPr/>
        </p:nvSpPr>
        <p:spPr>
          <a:xfrm>
            <a:off x="7955280" y="3877056"/>
            <a:ext cx="368503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−4.93 / −10.20 pp"/>
          <p:cNvSpPr txBox="1"/>
          <p:nvPr/>
        </p:nvSpPr>
        <p:spPr>
          <a:xfrm>
            <a:off x="8138160" y="3968496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−4.93 / −10.20 pp</a:t>
            </a:r>
            <a:endParaRPr lang="en-US" sz="2200" dirty="0"/>
          </a:p>
        </p:txBody>
      </p:sp>
      <p:sp>
        <p:nvSpPr>
          <p:cNvPr id="13" name="Class 4 AP vs Raw / "/>
          <p:cNvSpPr txBox="1"/>
          <p:nvPr/>
        </p:nvSpPr>
        <p:spPr>
          <a:xfrm>
            <a:off x="8138160" y="4535424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Class 4 AP vs Raw / Copy-Paste — 하락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5303520"/>
            <a:ext cx="11091672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5" name="해석: context-aware 생성"/>
          <p:cNvSpPr txBox="1"/>
          <p:nvPr/>
        </p:nvSpPr>
        <p:spPr>
          <a:xfrm>
            <a:off x="822960" y="53949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해석: context-aware 생성이 단순 patch 재사용보다 판별력 높은 minority-class 샘플을 제공. 다만 Class 3·4는 하락 — 전 클래스 균일 개선은 아님. n=2 소규모 실험으로 Wilcoxon(BH-FDR)은 유의 미달(d = 0.47 / 0.19) → 확정 결론이 아닌 기술 통계로 제시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제7장 결론 · 연구 요약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연구 요약: 생성 → 배치 도입 → 데이터 기반 자동화 → 도메인 특화·생성 통합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pill"/>
          <p:cNvSpPr/>
          <p:nvPr/>
        </p:nvSpPr>
        <p:spPr>
          <a:xfrm>
            <a:off x="731520" y="1737360"/>
            <a:ext cx="146304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ill-text"/>
          <p:cNvSpPr txBox="1"/>
          <p:nvPr/>
        </p:nvSpPr>
        <p:spPr>
          <a:xfrm>
            <a:off x="73152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3장 PCB</a:t>
            </a:r>
            <a:endParaRPr lang="en-US" sz="1200" dirty="0"/>
          </a:p>
        </p:txBody>
      </p:sp>
      <p:sp>
        <p:nvSpPr>
          <p:cNvPr id="7" name="GAN/Diffusion 패치 증강 "/>
          <p:cNvSpPr txBox="1"/>
          <p:nvPr/>
        </p:nvSpPr>
        <p:spPr>
          <a:xfrm>
            <a:off x="2377440" y="15727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GAN/Diffusion 패치 증강 + 원위치 재배치</a:t>
            </a:r>
            <a:endParaRPr lang="en-US" sz="1200" dirty="0"/>
          </a:p>
        </p:txBody>
      </p:sp>
      <p:sp>
        <p:nvSpPr>
          <p:cNvPr id="8" name="YOLOv8m Basic mAP50-"/>
          <p:cNvSpPr txBox="1"/>
          <p:nvPr/>
        </p:nvSpPr>
        <p:spPr>
          <a:xfrm>
            <a:off x="6766560" y="15727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YOLOv8m Basic mAP50-95 0.54 · Diffusion &gt; GAN(mAP) · GAN 과적합 소폭 우위</a:t>
            </a:r>
            <a:endParaRPr lang="en-US" sz="1100" dirty="0"/>
          </a:p>
        </p:txBody>
      </p:sp>
      <p:sp>
        <p:nvSpPr>
          <p:cNvPr id="9" name="pill"/>
          <p:cNvSpPr/>
          <p:nvPr/>
        </p:nvSpPr>
        <p:spPr>
          <a:xfrm>
            <a:off x="10360152" y="1737360"/>
            <a:ext cx="109728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pill-text"/>
          <p:cNvSpPr txBox="1"/>
          <p:nvPr/>
        </p:nvSpPr>
        <p:spPr>
          <a:xfrm>
            <a:off x="10360152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P1</a:t>
            </a:r>
            <a:endParaRPr lang="en-US" sz="1000" dirty="0"/>
          </a:p>
        </p:txBody>
      </p:sp>
      <p:sp>
        <p:nvSpPr>
          <p:cNvPr id="11" name="down"/>
          <p:cNvSpPr/>
          <p:nvPr/>
        </p:nvSpPr>
        <p:spPr>
          <a:xfrm>
            <a:off x="1325880" y="2514600"/>
            <a:ext cx="274320" cy="137160"/>
          </a:xfrm>
          <a:prstGeom prst="downArrow">
            <a:avLst/>
          </a:prstGeom>
          <a:solidFill>
            <a:schemeClr val="accent3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548640" y="265176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pill"/>
          <p:cNvSpPr/>
          <p:nvPr/>
        </p:nvSpPr>
        <p:spPr>
          <a:xfrm>
            <a:off x="731520" y="2926080"/>
            <a:ext cx="146304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pill-text"/>
          <p:cNvSpPr txBox="1"/>
          <p:nvPr/>
        </p:nvSpPr>
        <p:spPr>
          <a:xfrm>
            <a:off x="73152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4장 ROI</a:t>
            </a:r>
            <a:endParaRPr lang="en-US" sz="1200" dirty="0"/>
          </a:p>
        </p:txBody>
      </p:sp>
      <p:sp>
        <p:nvSpPr>
          <p:cNvPr id="15" name="ControlNet 생성 + 밝기 유"/>
          <p:cNvSpPr txBox="1"/>
          <p:nvPr/>
        </p:nvSpPr>
        <p:spPr>
          <a:xfrm>
            <a:off x="2377440" y="276148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ControlNet 생성 + 밝기 유사도 ROI + Poisson</a:t>
            </a:r>
            <a:endParaRPr lang="en-US" sz="1200" dirty="0"/>
          </a:p>
        </p:txBody>
      </p:sp>
      <p:sp>
        <p:nvSpPr>
          <p:cNvPr id="16" name="ResNet34 mIoU 0.567 "/>
          <p:cNvSpPr txBox="1"/>
          <p:nvPr/>
        </p:nvSpPr>
        <p:spPr>
          <a:xfrm>
            <a:off x="6766560" y="27614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ResNet34 mIoU 0.567 → 0.892 · EfficientNet 0.168 → 0.686</a:t>
            </a:r>
            <a:endParaRPr lang="en-US" sz="1100" dirty="0"/>
          </a:p>
        </p:txBody>
      </p:sp>
      <p:sp>
        <p:nvSpPr>
          <p:cNvPr id="17" name="pill"/>
          <p:cNvSpPr/>
          <p:nvPr/>
        </p:nvSpPr>
        <p:spPr>
          <a:xfrm>
            <a:off x="10360152" y="2926080"/>
            <a:ext cx="109728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pill-text"/>
          <p:cNvSpPr txBox="1"/>
          <p:nvPr/>
        </p:nvSpPr>
        <p:spPr>
          <a:xfrm>
            <a:off x="10360152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P1 + P2</a:t>
            </a:r>
            <a:endParaRPr lang="en-US" sz="1000" dirty="0"/>
          </a:p>
        </p:txBody>
      </p:sp>
      <p:sp>
        <p:nvSpPr>
          <p:cNvPr id="19" name="down"/>
          <p:cNvSpPr/>
          <p:nvPr/>
        </p:nvSpPr>
        <p:spPr>
          <a:xfrm>
            <a:off x="1325880" y="3703320"/>
            <a:ext cx="274320" cy="137160"/>
          </a:xfrm>
          <a:prstGeom prst="downArrow">
            <a:avLst/>
          </a:prstGeom>
          <a:solidFill>
            <a:schemeClr val="accent3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0" name="card"/>
          <p:cNvSpPr/>
          <p:nvPr/>
        </p:nvSpPr>
        <p:spPr>
          <a:xfrm>
            <a:off x="548640" y="384048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1" name="pill"/>
          <p:cNvSpPr/>
          <p:nvPr/>
        </p:nvSpPr>
        <p:spPr>
          <a:xfrm>
            <a:off x="731520" y="4114800"/>
            <a:ext cx="14630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pill-text"/>
          <p:cNvSpPr txBox="1"/>
          <p:nvPr/>
        </p:nvSpPr>
        <p:spPr>
          <a:xfrm>
            <a:off x="73152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5장 AROMA</a:t>
            </a:r>
            <a:endParaRPr lang="en-US" sz="1200" dirty="0"/>
          </a:p>
        </p:txBody>
      </p:sp>
      <p:sp>
        <p:nvSpPr>
          <p:cNvPr id="23" name="데이터 기반 대칭 호환성 게이트, 5"/>
          <p:cNvSpPr txBox="1"/>
          <p:nvPr/>
        </p:nvSpPr>
        <p:spPr>
          <a:xfrm>
            <a:off x="2377440" y="39502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데이터 기반 대칭 호환성 게이트, 5개 도메인 재설계 없이 적용</a:t>
            </a:r>
            <a:endParaRPr lang="en-US" sz="1200" dirty="0"/>
          </a:p>
        </p:txBody>
      </p:sp>
      <p:sp>
        <p:nvSpPr>
          <p:cNvPr id="24" name="AITeX +4.96 pp · Sev"/>
          <p:cNvSpPr txBox="1"/>
          <p:nvPr/>
        </p:nvSpPr>
        <p:spPr>
          <a:xfrm>
            <a:off x="6766560" y="39502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AITeX +4.96 pp · Severstal +1.06 pp · 효과는 CCI 순서와 일치, 4/5에서 배경 유사도 유의</a:t>
            </a:r>
            <a:endParaRPr lang="en-US" sz="1100" dirty="0"/>
          </a:p>
        </p:txBody>
      </p:sp>
      <p:sp>
        <p:nvSpPr>
          <p:cNvPr id="25" name="pill"/>
          <p:cNvSpPr/>
          <p:nvPr/>
        </p:nvSpPr>
        <p:spPr>
          <a:xfrm>
            <a:off x="10360152" y="4114800"/>
            <a:ext cx="109728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pill-text"/>
          <p:cNvSpPr txBox="1"/>
          <p:nvPr/>
        </p:nvSpPr>
        <p:spPr>
          <a:xfrm>
            <a:off x="10360152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P2 자동화</a:t>
            </a:r>
            <a:endParaRPr lang="en-US" sz="1000" dirty="0"/>
          </a:p>
        </p:txBody>
      </p:sp>
      <p:sp>
        <p:nvSpPr>
          <p:cNvPr id="27" name="down"/>
          <p:cNvSpPr/>
          <p:nvPr/>
        </p:nvSpPr>
        <p:spPr>
          <a:xfrm>
            <a:off x="1325880" y="4892040"/>
            <a:ext cx="274320" cy="137160"/>
          </a:xfrm>
          <a:prstGeom prst="downArrow">
            <a:avLst/>
          </a:prstGeom>
          <a:solidFill>
            <a:schemeClr val="accent3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8" name="card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9" name="pill"/>
          <p:cNvSpPr/>
          <p:nvPr/>
        </p:nvSpPr>
        <p:spPr>
          <a:xfrm>
            <a:off x="731520" y="5303520"/>
            <a:ext cx="146304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pill-text"/>
          <p:cNvSpPr txBox="1"/>
          <p:nvPr/>
        </p:nvSpPr>
        <p:spPr>
          <a:xfrm>
            <a:off x="731520" y="5303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6장 CASDA</a:t>
            </a:r>
            <a:endParaRPr lang="en-US" sz="1200" dirty="0"/>
          </a:p>
        </p:txBody>
      </p:sp>
      <p:sp>
        <p:nvSpPr>
          <p:cNvPr id="31" name="철강 특화 호환성 + ControlN"/>
          <p:cNvSpPr txBox="1"/>
          <p:nvPr/>
        </p:nvSpPr>
        <p:spPr>
          <a:xfrm>
            <a:off x="2377440" y="51389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철강 특화 호환성 + ControlNet 생성 결합</a:t>
            </a:r>
            <a:endParaRPr lang="en-US" sz="1200" dirty="0"/>
          </a:p>
        </p:txBody>
      </p:sp>
      <p:sp>
        <p:nvSpPr>
          <p:cNvPr id="32" name="mAP 0.3196 (Raw +2.6"/>
          <p:cNvSpPr txBox="1"/>
          <p:nvPr/>
        </p:nvSpPr>
        <p:spPr>
          <a:xfrm>
            <a:off x="6766560" y="51389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mAP 0.3196 (Raw +2.60, CP +4.74 pp) · Class 2 AP +22.09 pp · LPIPS Div 0.448</a:t>
            </a:r>
            <a:endParaRPr lang="en-US" sz="1100" dirty="0"/>
          </a:p>
        </p:txBody>
      </p:sp>
      <p:sp>
        <p:nvSpPr>
          <p:cNvPr id="33" name="pill"/>
          <p:cNvSpPr/>
          <p:nvPr/>
        </p:nvSpPr>
        <p:spPr>
          <a:xfrm>
            <a:off x="10360152" y="5303520"/>
            <a:ext cx="109728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pill-text"/>
          <p:cNvSpPr txBox="1"/>
          <p:nvPr/>
        </p:nvSpPr>
        <p:spPr>
          <a:xfrm>
            <a:off x="10360152" y="5303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P1 + P2 통합</a:t>
            </a:r>
            <a:endParaRPr lang="en-US" sz="1000" dirty="0"/>
          </a:p>
        </p:txBody>
      </p:sp>
      <p:sp>
        <p:nvSpPr>
          <p:cNvPr id="35" name="AROMA → CASDA: 다중 도메"/>
          <p:cNvSpPr txBox="1"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AROMA → CASDA: 다중 도메인 자동화와 단일 도메인 생성적 특화는 배타적이 아니라, 일반화된 배치 원리를 먼저 확립한 뒤 특정 도메인의 생성 문제에 적용하는 순차 결합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제7장 결론 · 2~3절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연구의 의의와 한계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362956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pill"/>
          <p:cNvSpPr/>
          <p:nvPr/>
        </p:nvSpPr>
        <p:spPr>
          <a:xfrm>
            <a:off x="777240" y="1691640"/>
            <a:ext cx="4905756" cy="41148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pill-text"/>
          <p:cNvSpPr txBox="1"/>
          <p:nvPr/>
        </p:nvSpPr>
        <p:spPr>
          <a:xfrm>
            <a:off x="777240" y="169164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학술적 기여</a:t>
            </a:r>
            <a:endParaRPr lang="en-US" sz="1300" dirty="0"/>
          </a:p>
        </p:txBody>
      </p:sp>
      <p:sp>
        <p:nvSpPr>
          <p:cNvPr id="7" name="bullets"/>
          <p:cNvSpPr txBox="1"/>
          <p:nvPr/>
        </p:nvSpPr>
        <p:spPr>
          <a:xfrm>
            <a:off x="777240" y="2286000"/>
            <a:ext cx="490575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결함 생성(What)과 ROI 배치(Where) 문제의 명시적 분리와 단계적 정교화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수작업 ROI 탐색의 데이터 기반 자동화 — 공존 통계로부터 호환성 기준을 자동 도출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다중 도메인 일반화 → 특정 도메인 특화·생성적 확장으로의 발전 경로 제시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6개 산업 데이터셋에서 mAP·mIoU·Dice·FID·KID·LPIPS로 실증 검증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효과가 제한·역전되는 조건까지 규명 (증강 비율 0.7, 개선 여지 × CCI, 클래스별 불균일)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277356" y="1463040"/>
            <a:ext cx="5362956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pill"/>
          <p:cNvSpPr/>
          <p:nvPr/>
        </p:nvSpPr>
        <p:spPr>
          <a:xfrm>
            <a:off x="6505956" y="1691640"/>
            <a:ext cx="4905756" cy="41148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ill-text"/>
          <p:cNvSpPr txBox="1"/>
          <p:nvPr/>
        </p:nvSpPr>
        <p:spPr>
          <a:xfrm>
            <a:off x="6505956" y="169164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한계</a:t>
            </a:r>
            <a:endParaRPr lang="en-US" sz="1300" dirty="0"/>
          </a:p>
        </p:txBody>
      </p:sp>
      <p:sp>
        <p:nvSpPr>
          <p:cNvPr id="11" name="bullets"/>
          <p:cNvSpPr txBox="1"/>
          <p:nvPr/>
        </p:nvSpPr>
        <p:spPr>
          <a:xfrm>
            <a:off x="6505956" y="2286000"/>
            <a:ext cx="490575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배경 통계 의존: 결함–배경 통계 관계가 결함 발생 위치를 충분히 설명한다는 전제. 공정·표면 구조 변화 시 적용 어려움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고정 ROI 크기: 결함 크기·형태 변화를 충분히 반영하지 못함 — 작은 결함은 맥락 부족, 큰 결함은 불필요한 배경 포함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대상 영역 미식별: 결함 위치가 특정 객체·구조에 의해 결정되는 경우 배경 통계만으로는 사전 식별 불가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소규모 시드(AROMA n=3, CASDA n=2)로 통계적 유의성 제한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2801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제7장 결론 · 4절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향후 연구: 세 한계에 대응하는 세 방향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4206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한계 1"/>
          <p:cNvSpPr txBox="1"/>
          <p:nvPr/>
        </p:nvSpPr>
        <p:spPr>
          <a:xfrm>
            <a:off x="77724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한계 1</a:t>
            </a:r>
            <a:endParaRPr lang="en-US" sz="1000" dirty="0"/>
          </a:p>
        </p:txBody>
      </p:sp>
      <p:sp>
        <p:nvSpPr>
          <p:cNvPr id="6" name="고정 ROI 크기"/>
          <p:cNvSpPr txBox="1"/>
          <p:nvPr/>
        </p:nvSpPr>
        <p:spPr>
          <a:xfrm>
            <a:off x="777240" y="1847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고정 ROI 크기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4892040" y="1847088"/>
            <a:ext cx="50292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5532120" y="1463040"/>
            <a:ext cx="6108192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가변 ROI(variable-size"/>
          <p:cNvSpPr txBox="1"/>
          <p:nvPr/>
        </p:nvSpPr>
        <p:spPr>
          <a:xfrm>
            <a:off x="5760720" y="15727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가변 ROI(variable-size) 탐색</a:t>
            </a:r>
            <a:endParaRPr lang="en-US" sz="1400" dirty="0"/>
          </a:p>
        </p:txBody>
      </p:sp>
      <p:sp>
        <p:nvSpPr>
          <p:cNvPr id="10" name="결함 크기·형태에 따라 ROI 범위를"/>
          <p:cNvSpPr txBox="1"/>
          <p:nvPr/>
        </p:nvSpPr>
        <p:spPr>
          <a:xfrm>
            <a:off x="5760720" y="2011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결함 크기·형태에 따라 ROI 범위를 동적으로 결정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548640" y="2788920"/>
            <a:ext cx="4206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한계 2"/>
          <p:cNvSpPr txBox="1"/>
          <p:nvPr/>
        </p:nvSpPr>
        <p:spPr>
          <a:xfrm>
            <a:off x="777240" y="2898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한계 2</a:t>
            </a:r>
            <a:endParaRPr lang="en-US" sz="1000" dirty="0"/>
          </a:p>
        </p:txBody>
      </p:sp>
      <p:sp>
        <p:nvSpPr>
          <p:cNvPr id="13" name="대상 영역 사전 식별의 부재"/>
          <p:cNvSpPr txBox="1"/>
          <p:nvPr/>
        </p:nvSpPr>
        <p:spPr>
          <a:xfrm>
            <a:off x="777240" y="31729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대상 영역 사전 식별의 부재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4892040" y="3172968"/>
            <a:ext cx="50292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15" name="card"/>
          <p:cNvSpPr/>
          <p:nvPr/>
        </p:nvSpPr>
        <p:spPr>
          <a:xfrm>
            <a:off x="5532120" y="2788920"/>
            <a:ext cx="6108192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객체탐지 기반 선행 위치 추정"/>
          <p:cNvSpPr txBox="1"/>
          <p:nvPr/>
        </p:nvSpPr>
        <p:spPr>
          <a:xfrm>
            <a:off x="5760720" y="28986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객체탐지 기반 선행 위치 추정</a:t>
            </a:r>
            <a:endParaRPr lang="en-US" sz="1400" dirty="0"/>
          </a:p>
        </p:txBody>
      </p:sp>
      <p:sp>
        <p:nvSpPr>
          <p:cNvPr id="17" name="결함이 발생할 수 있는 대상 영역을 "/>
          <p:cNvSpPr txBox="1"/>
          <p:nvPr/>
        </p:nvSpPr>
        <p:spPr>
          <a:xfrm>
            <a:off x="5760720" y="33375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결함이 발생할 수 있는 대상 영역을 먼저 탐지한 뒤 그 영역의 특성으로 ROI 결정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548640" y="4114800"/>
            <a:ext cx="4206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9" name="한계 3"/>
          <p:cNvSpPr txBox="1"/>
          <p:nvPr/>
        </p:nvSpPr>
        <p:spPr>
          <a:xfrm>
            <a:off x="77724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한계 3</a:t>
            </a:r>
            <a:endParaRPr lang="en-US" sz="1000" dirty="0"/>
          </a:p>
        </p:txBody>
      </p:sp>
      <p:sp>
        <p:nvSpPr>
          <p:cNvPr id="20" name="배경 통계 중심의 매칭"/>
          <p:cNvSpPr txBox="1"/>
          <p:nvPr/>
        </p:nvSpPr>
        <p:spPr>
          <a:xfrm>
            <a:off x="777240" y="44988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배경 통계 중심의 매칭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4892040" y="4498848"/>
            <a:ext cx="50292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5532120" y="4114800"/>
            <a:ext cx="6108192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공간적·구조적 정보의 통합"/>
          <p:cNvSpPr txBox="1"/>
          <p:nvPr/>
        </p:nvSpPr>
        <p:spPr>
          <a:xfrm>
            <a:off x="5760720" y="42245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공간적·구조적 정보의 통합</a:t>
            </a:r>
            <a:endParaRPr lang="en-US" sz="1400" dirty="0"/>
          </a:p>
        </p:txBody>
      </p:sp>
      <p:sp>
        <p:nvSpPr>
          <p:cNvPr id="24" name="형태·크기·위치·주변 구조를 함께 모"/>
          <p:cNvSpPr txBox="1"/>
          <p:nvPr/>
        </p:nvSpPr>
        <p:spPr>
          <a:xfrm>
            <a:off x="5760720" y="4663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형태·크기·위치·주변 구조를 함께 모델링하는 적응형 결함 합성 프레임워크</a:t>
            </a:r>
            <a:endParaRPr lang="en-US" sz="1100" dirty="0"/>
          </a:p>
        </p:txBody>
      </p:sp>
      <p:sp>
        <p:nvSpPr>
          <p:cNvPr id="25" name="thanks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ED561B"/>
            </a:solidFill>
            <a:prstDash val="solid"/>
          </a:ln>
        </p:spPr>
      </p:sp>
      <p:sp>
        <p:nvSpPr>
          <p:cNvPr id="26" name="감사합니다 — 질의응답"/>
          <p:cNvSpPr txBox="1"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감사합니다 — 질의응답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58DC7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000000"/>
      </a:dk1>
      <a:lt1>
        <a:srgbClr val="FFFFFF"/>
      </a:lt1>
      <a:dk2>
        <a:srgbClr val="595959"/>
      </a:dk2>
      <a:lt2>
        <a:srgbClr val="F3F3F3"/>
      </a:lt2>
      <a:accent1>
        <a:srgbClr val="ED561B"/>
      </a:accent1>
      <a:accent2>
        <a:srgbClr val="158158"/>
      </a:accent2>
      <a:accent3>
        <a:srgbClr val="8C8C8C"/>
      </a:accent3>
      <a:accent4>
        <a:srgbClr val="50B432"/>
      </a:accent4>
      <a:accent5>
        <a:srgbClr val="C0392B"/>
      </a:accent5>
      <a:accent6>
        <a:srgbClr val="BFE3E3"/>
      </a:accent6>
      <a:hlink>
        <a:srgbClr val="058DC7"/>
      </a:hlink>
      <a:folHlink>
        <a:srgbClr val="551A8B"/>
      </a:folHlink>
    </a:clrScheme>
    <a:fontScheme name="Streamline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Context-Aware 데이터 증강 기반 산업용 결함 검출 연구</dc:title>
  <dc:subject>PptxGenJS Presentation</dc:subject>
  <dc:creator>한호준</dc:creator>
  <cp:lastModifiedBy>한호준</cp:lastModifiedBy>
  <cp:revision>1</cp:revision>
  <dcterms:created xsi:type="dcterms:W3CDTF">2026-10-23T14:51:25Z</dcterms:created>
  <dcterms:modified xsi:type="dcterms:W3CDTF">2026-10-23T14:51:25Z</dcterms:modified>
</cp:coreProperties>
</file>