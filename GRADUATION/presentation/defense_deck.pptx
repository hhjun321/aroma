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theme" Target="theme/theme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네 편의 게재 논문을 하나의 연구 궤적으로 통합한 학위논문입니다.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데이터 희소성과 불균형이 출발점입니다.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B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1" name="Rectangle 2"/>
          <p:cNvSpPr/>
          <p:nvPr/>
        </p:nvSpPr>
        <p:spPr>
          <a:xfrm>
            <a:off x="1016000" y="3810000"/>
            <a:ext cx="2032000" cy="635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2" name="TextBox 3"/>
          <p:cNvSpPr txBox="1"/>
          <p:nvPr/>
        </p:nvSpPr>
        <p:spPr>
          <a:xfrm>
            <a:off x="1016000" y="1524000"/>
            <a:ext cx="10160000" cy="1249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algun Gothic"/>
              </a:rPr>
              <a:t>Context-Aware 데이터 증강 기반</a:t>
            </a:r>
            <a:endParaRPr sz="3800" b="1">
              <a:solidFill>
                <a:srgbClr val="FFFFFF"/>
              </a:solidFill>
              <a:latin typeface="Malgun Gothic"/>
            </a:endParaRPr>
          </a:p>
          <a:p>
            <a:r>
              <a:rPr sz="3800" b="1">
                <a:solidFill>
                  <a:srgbClr val="FFFFFF"/>
                </a:solidFill>
                <a:latin typeface="Malgun Gothic"/>
              </a:rPr>
              <a:t>산업용 결함 검출 연구</a:t>
            </a:r>
            <a:endParaRPr sz="3800" b="1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63" name="TextBox 4"/>
          <p:cNvSpPr txBox="1"/>
          <p:nvPr/>
        </p:nvSpPr>
        <p:spPr>
          <a:xfrm>
            <a:off x="1016000" y="4064000"/>
            <a:ext cx="10160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800">
                <a:solidFill>
                  <a:srgbClr val="C9D3E0"/>
                </a:solidFill>
                <a:latin typeface="Malgun Gothic"/>
              </a:rPr>
              <a:t>한국기술교육대학교 컴퓨터공학과</a:t>
            </a:r>
            <a:endParaRPr sz="1800">
              <a:solidFill>
                <a:srgbClr val="C9D3E0"/>
              </a:solidFill>
              <a:latin typeface="Malgun Gothic"/>
            </a:endParaRPr>
          </a:p>
          <a:p>
            <a:r>
              <a:rPr sz="1800">
                <a:solidFill>
                  <a:srgbClr val="C9D3E0"/>
                </a:solidFill>
                <a:latin typeface="Malgun Gothic"/>
              </a:rPr>
              <a:t>한호준 · 지도교수 문일영 · 2026</a:t>
            </a:r>
            <a:endParaRPr sz="1800">
              <a:solidFill>
                <a:srgbClr val="C9D3E0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발표 순서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266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7" name="TextBox 3"/>
          <p:cNvSpPr txBox="1"/>
          <p:nvPr/>
        </p:nvSpPr>
        <p:spPr>
          <a:xfrm>
            <a:off x="635000" y="1397000"/>
            <a:ext cx="10922000" cy="2987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79400">
              <a:spcAft>
                <a:spcPts val="1000"/>
              </a:spcAft>
              <a:buClr>
                <a:srgbClr val="2E6FD8"/>
              </a:buClr>
              <a:buAutoNum type="arabicPeriod"/>
            </a:pPr>
            <a:r>
              <a:rPr sz="2000">
                <a:solidFill>
                  <a:srgbClr val="1E2B3C"/>
                </a:solidFill>
                <a:latin typeface="Malgun Gothic"/>
              </a:rPr>
              <a:t>연구 배경 및 문제 정의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AutoNum type="arabicPeriod"/>
            </a:pPr>
            <a:r>
              <a:rPr sz="2000">
                <a:solidFill>
                  <a:srgbClr val="1E2B3C"/>
                </a:solidFill>
                <a:latin typeface="Malgun Gothic"/>
              </a:rPr>
              <a:t>연구 질문과 발전 서사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AutoNum type="arabicPeriod"/>
            </a:pPr>
            <a:r>
              <a:rPr sz="2000">
                <a:solidFill>
                  <a:srgbClr val="1E2B3C"/>
                </a:solidFill>
                <a:latin typeface="Malgun Gothic"/>
              </a:rPr>
              <a:t>제3장  YOLOv8 + GAN/Diffusion 결함 patch 증강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AutoNum type="arabicPeriod"/>
            </a:pPr>
            <a:r>
              <a:rPr sz="2000">
                <a:solidFill>
                  <a:srgbClr val="1E2B3C"/>
                </a:solidFill>
                <a:latin typeface="Malgun Gothic"/>
              </a:rPr>
              <a:t>제4장  ControlNet + 밝기 유사도 ROI + Poisson blending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AutoNum type="arabicPeriod"/>
            </a:pPr>
            <a:r>
              <a:rPr sz="2000">
                <a:solidFill>
                  <a:srgbClr val="1E2B3C"/>
                </a:solidFill>
                <a:latin typeface="Malgun Gothic"/>
              </a:rPr>
              <a:t>제5장  AROMA: 데이터 기반 ROI 호환성 자동화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AutoNum type="arabicPeriod"/>
            </a:pPr>
            <a:r>
              <a:rPr sz="2000">
                <a:solidFill>
                  <a:srgbClr val="1E2B3C"/>
                </a:solidFill>
                <a:latin typeface="Malgun Gothic"/>
              </a:rPr>
              <a:t>제6장  CASDA: 강철 표면 context-aware 생성 증강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AutoNum type="arabicPeriod"/>
            </a:pPr>
            <a:r>
              <a:rPr sz="2000">
                <a:solidFill>
                  <a:srgbClr val="1E2B3C"/>
                </a:solidFill>
                <a:latin typeface="Malgun Gothic"/>
              </a:rPr>
              <a:t>결론 · 한계 · 향후 연구</a:t>
            </a:r>
            <a:endParaRPr sz="2000">
              <a:solidFill>
                <a:srgbClr val="1E2B3C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연구 배경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270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1" name="TextBox 3"/>
          <p:cNvSpPr txBox="1"/>
          <p:nvPr/>
        </p:nvSpPr>
        <p:spPr>
          <a:xfrm>
            <a:off x="635000" y="1397000"/>
            <a:ext cx="10922000" cy="2123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딥러닝 기반 자동 외관 검사(AVI)로 검사 효율·정확도 향상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실제 산업 현장: 결함 발생률이 낮아 결함 샘플이 근본적으로 희소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정상/결함 클래스 간 심각한 불균형 → 소수 결함 클래스 과소적합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해결 방향: 데이터 증강으로 결함 학습 데이터 확충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핵심 문제의식: 결함 후보 영역(ROI)을 어떻게 찾고, 그 자리에 무엇을 배치할 것인가</a:t>
            </a:r>
            <a:endParaRPr sz="2000">
              <a:solidFill>
                <a:srgbClr val="1E2B3C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문제 정의: 생성(P1)과 배치(P2)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274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5" name="Rectangle 3"/>
          <p:cNvSpPr/>
          <p:nvPr/>
        </p:nvSpPr>
        <p:spPr>
          <a:xfrm>
            <a:off x="635000" y="1397000"/>
            <a:ext cx="5334000" cy="3302000"/>
          </a:xfrm>
          <a:prstGeom prst="roundRect">
            <a:avLst/>
          </a:prstGeom>
          <a:solidFill>
            <a:srgbClr val="EEF3FB"/>
          </a:solidFill>
          <a:ln w="19050">
            <a:solidFill>
              <a:srgbClr val="2E6F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6" name="TextBox 4"/>
          <p:cNvSpPr txBox="1"/>
          <p:nvPr/>
        </p:nvSpPr>
        <p:spPr>
          <a:xfrm>
            <a:off x="889000" y="1587500"/>
            <a:ext cx="4826000" cy="426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E6FD8"/>
                </a:solidFill>
                <a:latin typeface="Malgun Gothic"/>
              </a:rPr>
              <a:t>P1 · What to place</a:t>
            </a:r>
            <a:endParaRPr sz="2200" b="1">
              <a:solidFill>
                <a:srgbClr val="2E6FD8"/>
              </a:solidFill>
              <a:latin typeface="Malgun Gothic"/>
            </a:endParaRPr>
          </a:p>
        </p:txBody>
      </p:sp>
      <p:sp>
        <p:nvSpPr>
          <p:cNvPr id="277" name="TextBox 5"/>
          <p:cNvSpPr txBox="1"/>
          <p:nvPr/>
        </p:nvSpPr>
        <p:spPr>
          <a:xfrm>
            <a:off x="889000" y="2222500"/>
            <a:ext cx="4826000" cy="1066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B3C"/>
                </a:solidFill>
                <a:latin typeface="Malgun Gothic"/>
              </a:rPr>
              <a:t>결함 patch를 어떻게 생성·증강할 것인가</a:t>
            </a:r>
            <a:endParaRPr sz="1600">
              <a:solidFill>
                <a:srgbClr val="1E2B3C"/>
              </a:solidFill>
              <a:latin typeface="Malgun Gothic"/>
            </a:endParaRPr>
          </a:p>
          <a:p>
            <a:endParaRPr sz="1600">
              <a:solidFill>
                <a:srgbClr val="1E2B3C"/>
              </a:solidFill>
              <a:latin typeface="Malgun Gothic"/>
            </a:endParaRPr>
          </a:p>
          <a:p>
            <a:r>
              <a:rPr sz="1600">
                <a:solidFill>
                  <a:srgbClr val="1E2B3C"/>
                </a:solidFill>
                <a:latin typeface="Malgun Gothic"/>
              </a:rPr>
              <a:t>형태·구조 보존 + 학습에 유효한 다양성</a:t>
            </a:r>
            <a:endParaRPr sz="1600">
              <a:solidFill>
                <a:srgbClr val="1E2B3C"/>
              </a:solidFill>
              <a:latin typeface="Malgun Gothic"/>
            </a:endParaRPr>
          </a:p>
          <a:p>
            <a:r>
              <a:rPr sz="1600">
                <a:solidFill>
                  <a:srgbClr val="1E2B3C"/>
                </a:solidFill>
                <a:latin typeface="Malgun Gothic"/>
              </a:rPr>
              <a:t>품질 미흡 시 비현실적 데이터가 성능 저하</a:t>
            </a:r>
            <a:endParaRPr sz="1600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278" name="Rectangle 6"/>
          <p:cNvSpPr/>
          <p:nvPr/>
        </p:nvSpPr>
        <p:spPr>
          <a:xfrm>
            <a:off x="6223000" y="1397000"/>
            <a:ext cx="5334000" cy="3302000"/>
          </a:xfrm>
          <a:prstGeom prst="roundRect">
            <a:avLst/>
          </a:prstGeom>
          <a:solidFill>
            <a:srgbClr val="EEF3FB"/>
          </a:solidFill>
          <a:ln w="19050">
            <a:solidFill>
              <a:srgbClr val="2E6F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9" name="TextBox 7"/>
          <p:cNvSpPr txBox="1"/>
          <p:nvPr/>
        </p:nvSpPr>
        <p:spPr>
          <a:xfrm>
            <a:off x="6477000" y="1587500"/>
            <a:ext cx="4826000" cy="426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E6FD8"/>
                </a:solidFill>
                <a:latin typeface="Malgun Gothic"/>
              </a:rPr>
              <a:t>P2 · Where to place</a:t>
            </a:r>
            <a:endParaRPr sz="2200" b="1">
              <a:solidFill>
                <a:srgbClr val="2E6FD8"/>
              </a:solidFill>
              <a:latin typeface="Malgun Gothic"/>
            </a:endParaRPr>
          </a:p>
        </p:txBody>
      </p:sp>
      <p:sp>
        <p:nvSpPr>
          <p:cNvPr id="280" name="TextBox 8"/>
          <p:cNvSpPr txBox="1"/>
          <p:nvPr/>
        </p:nvSpPr>
        <p:spPr>
          <a:xfrm>
            <a:off x="6477000" y="2222500"/>
            <a:ext cx="4826000" cy="1310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B3C"/>
                </a:solidFill>
                <a:latin typeface="Malgun Gothic"/>
              </a:rPr>
              <a:t>결함 patch를 정상 이미지의 어느 ROI에 합성할 것인가</a:t>
            </a:r>
            <a:endParaRPr sz="1600">
              <a:solidFill>
                <a:srgbClr val="1E2B3C"/>
              </a:solidFill>
              <a:latin typeface="Malgun Gothic"/>
            </a:endParaRPr>
          </a:p>
          <a:p>
            <a:endParaRPr sz="1600">
              <a:solidFill>
                <a:srgbClr val="1E2B3C"/>
              </a:solidFill>
              <a:latin typeface="Malgun Gothic"/>
            </a:endParaRPr>
          </a:p>
          <a:p>
            <a:r>
              <a:rPr sz="1600">
                <a:solidFill>
                  <a:srgbClr val="1E2B3C"/>
                </a:solidFill>
                <a:latin typeface="Malgun Gothic"/>
              </a:rPr>
              <a:t>결함 발생은 배경의 통계·형태 특성과 연관</a:t>
            </a:r>
            <a:endParaRPr sz="1600">
              <a:solidFill>
                <a:srgbClr val="1E2B3C"/>
              </a:solidFill>
              <a:latin typeface="Malgun Gothic"/>
            </a:endParaRPr>
          </a:p>
          <a:p>
            <a:r>
              <a:rPr sz="1600">
                <a:solidFill>
                  <a:srgbClr val="1E2B3C"/>
                </a:solidFill>
                <a:latin typeface="Malgun Gothic"/>
              </a:rPr>
              <a:t>호환성 낮은 위치 → 실제 분포와 괴리</a:t>
            </a:r>
            <a:endParaRPr sz="1600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281" name="TextBox 9"/>
          <p:cNvSpPr txBox="1"/>
          <p:nvPr/>
        </p:nvSpPr>
        <p:spPr>
          <a:xfrm>
            <a:off x="508000" y="5080000"/>
            <a:ext cx="11176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B6573"/>
                </a:solidFill>
                <a:latin typeface="Malgun Gothic"/>
              </a:rPr>
              <a:t>기존 연구는 P1 중심 · P2는 원위치 재사용/무작위 또는 도메인별 수작업 규칙 → 본 논문은 P2를 중심으로 확장</a:t>
            </a:r>
            <a:endParaRPr sz="13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연구 질문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284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5" name="TextBox 3"/>
          <p:cNvSpPr txBox="1"/>
          <p:nvPr/>
        </p:nvSpPr>
        <p:spPr>
          <a:xfrm>
            <a:off x="635000" y="1397000"/>
            <a:ext cx="10922000" cy="2606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RQ1  생성모델(GAN/Diffusion) 결함 patch 증강은 검출 성능과 일반화 안정성에 어떤 영향을 주는가? (제3장)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RQ2  주변 배경 유사도 기준 ROI 선정이 원위치 재배치 대비 성능을 개선하는가? (제4장)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RQ3  데이터로부터 자동 도출된 defect–background 호환성 기준이 다수 도메인에 재설계 없이 일반화되는가? 효과는 어떤 조건에서 나타나는가? (제5장)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RQ4  자동화된 ROI 프레임워크를 도메인 특화 + 조건부 생성모델과 결합하면 copy-paste의 다양성 한계를 넘어 소수 클래스 성능을 개선하는가? (제6장)</a:t>
            </a:r>
            <a:endParaRPr sz="2000">
              <a:solidFill>
                <a:srgbClr val="1E2B3C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연구 발전 서사: 네 편의 게재 논문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288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graphicFrame>
        <p:nvGraphicFramePr>
          <p:cNvPr id="289" name="Table 3"/>
          <p:cNvGraphicFramePr>
            <a:graphicFrameLocks noGrp="1"/>
          </p:cNvGraphicFramePr>
          <p:nvPr/>
        </p:nvGraphicFramePr>
        <p:xfrm>
          <a:off x="508000" y="1397000"/>
          <a:ext cx="1117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2540000"/>
                <a:gridCol w="5334000"/>
                <a:gridCol w="2540000"/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단계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연구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핵심 방식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극복한 한계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1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YOLOv8 + 생성모델 증강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GAN/Diffusion 결함 patch 증강 → 원위치 copy-paste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결함 데이터 부족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2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결함데이터 증강 방법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ControlNet 생성 + 밝기 유사도 ROI 탐색 + Poisson blending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위치 무관 재배치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3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AROMA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데이터 기반 defect/background 호환성 게이트 → copy-paste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수작업 규칙 의존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4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CASDA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강철 특화 조건부 prompt + 힌트 → ControlNet 생성 → 배치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copy-paste 다양성 한계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90" name="TextBox 4"/>
          <p:cNvSpPr txBox="1"/>
          <p:nvPr/>
        </p:nvSpPr>
        <p:spPr>
          <a:xfrm>
            <a:off x="508000" y="5588000"/>
            <a:ext cx="11176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B6573"/>
                </a:solidFill>
                <a:latin typeface="Malgun Gothic"/>
              </a:rPr>
              <a:t>P1(생성) → P2(배치) 정교화 → 일반화(AROMA) → 특화·생성 재결합(CASDA)</a:t>
            </a:r>
            <a:endParaRPr sz="13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제3장 · YOLOv8 + GAN/Diffusion 결함 patch 증강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293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4" name="TextBox 3"/>
          <p:cNvSpPr txBox="1"/>
          <p:nvPr/>
        </p:nvSpPr>
        <p:spPr>
          <a:xfrm>
            <a:off x="635000" y="1397000"/>
            <a:ext cx="5080000" cy="176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PKU-HRI PCB 6종 결함(Short, Spur, Missing hole …)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GAN / Diffusion으로 결함 patch 생성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증강 patch를 원본과 동일 위치에 재배치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YOLOv8s / YOLOv8m 학습·비교</a:t>
            </a:r>
            <a:endParaRPr sz="1700">
              <a:solidFill>
                <a:srgbClr val="1E2B3C"/>
              </a:solidFill>
              <a:latin typeface="Malgun Gothic"/>
            </a:endParaRPr>
          </a:p>
        </p:txBody>
      </p:sp>
      <p:pic>
        <p:nvPicPr>
          <p:cNvPr id="296" name="Picture 4" descr="fig3-4.jp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969000" y="1775460"/>
            <a:ext cx="5842000" cy="1428750"/>
          </a:xfrm>
          <a:prstGeom prst="rect">
            <a:avLst/>
          </a:prstGeom>
        </p:spPr>
      </p:pic>
      <p:pic>
        <p:nvPicPr>
          <p:cNvPr id="298" name="Picture 5" descr="fig3-6.jp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69000" y="4206240"/>
            <a:ext cx="5842000" cy="1492250"/>
          </a:xfrm>
          <a:prstGeom prst="rect">
            <a:avLst/>
          </a:prstGeom>
        </p:spPr>
      </p:pic>
      <p:sp>
        <p:nvSpPr>
          <p:cNvPr id="299" name="TextBox 6"/>
          <p:cNvSpPr txBox="1"/>
          <p:nvPr/>
        </p:nvSpPr>
        <p:spPr>
          <a:xfrm>
            <a:off x="5969000" y="6261100"/>
            <a:ext cx="584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B6573"/>
                </a:solidFill>
                <a:latin typeface="Malgun Gothic"/>
              </a:rPr>
              <a:t>위: GAN 생성 · 아래: Diffusion 생성</a:t>
            </a:r>
            <a:endParaRPr sz="12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제3장 · 결과: 성능–일반화 트레이드오프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02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graphicFrame>
        <p:nvGraphicFramePr>
          <p:cNvPr id="303" name="Table 3"/>
          <p:cNvGraphicFramePr>
            <a:graphicFrameLocks noGrp="1"/>
          </p:cNvGraphicFramePr>
          <p:nvPr/>
        </p:nvGraphicFramePr>
        <p:xfrm>
          <a:off x="508000" y="1397000"/>
          <a:ext cx="11176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571"/>
                <a:gridCol w="1596571"/>
                <a:gridCol w="1596571"/>
                <a:gridCol w="1596571"/>
                <a:gridCol w="1596571"/>
                <a:gridCol w="1596571"/>
                <a:gridCol w="1596571"/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Model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Type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Precision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Recall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mAP50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mAP50-95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Train–Test Gap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YOLOv8s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Basic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0.94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0.93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0.94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0.49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0.02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YOLOv8s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GAN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0.91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0.90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0.94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0.49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0.52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YOLOv8s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Diffusion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0.97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0.93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0.96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0.51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0.53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YOLOv8m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Basic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0.96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0.96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0.97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0.54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–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YOLOv8m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GAN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0.93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0.95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0.96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0.52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–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YOLOv8m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Diffusion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0.97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0.93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0.96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0.53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–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4" name="TextBox 4"/>
          <p:cNvSpPr txBox="1"/>
          <p:nvPr/>
        </p:nvSpPr>
        <p:spPr>
          <a:xfrm>
            <a:off x="508000" y="5588000"/>
            <a:ext cx="11176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B6573"/>
                </a:solidFill>
                <a:latin typeface="Malgun Gothic"/>
              </a:rPr>
              <a:t>Diffusion: 검출 지표 우수 · GAN: 과적합 측면 안정 → 한계: 배경과의 호환성(어디에 둘지)은 미고려</a:t>
            </a:r>
            <a:endParaRPr sz="13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제4장 · ControlNet + 밝기 유사도 ROI + Poisson blending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07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8" name="TextBox 3"/>
          <p:cNvSpPr txBox="1"/>
          <p:nvPr/>
        </p:nvSpPr>
        <p:spPr>
          <a:xfrm>
            <a:off x="635000" y="1397000"/>
            <a:ext cx="5080000" cy="176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KolektorSDD (금속 표면)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ControlNet으로 결함 이미지·마스크 생성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결함 주변 pixel 밝기 유사도를 슬라이딩 윈도우로 탐색 → 유효 영역(ROI) 선정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Poisson blending으로 이질감 없이 합성</a:t>
            </a:r>
            <a:endParaRPr sz="1700">
              <a:solidFill>
                <a:srgbClr val="1E2B3C"/>
              </a:solidFill>
              <a:latin typeface="Malgun Gothic"/>
            </a:endParaRPr>
          </a:p>
        </p:txBody>
      </p:sp>
      <p:pic>
        <p:nvPicPr>
          <p:cNvPr id="310" name="Picture 4" descr="fig4-3.jp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969000" y="1964690"/>
            <a:ext cx="2844800" cy="3666490"/>
          </a:xfrm>
          <a:prstGeom prst="rect">
            <a:avLst/>
          </a:prstGeom>
        </p:spPr>
      </p:pic>
      <p:pic>
        <p:nvPicPr>
          <p:cNvPr id="312" name="Picture 5" descr="fig4-4.jp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966200" y="2849880"/>
            <a:ext cx="2844800" cy="1893570"/>
          </a:xfrm>
          <a:prstGeom prst="rect">
            <a:avLst/>
          </a:prstGeom>
        </p:spPr>
      </p:pic>
      <p:sp>
        <p:nvSpPr>
          <p:cNvPr id="313" name="TextBox 6"/>
          <p:cNvSpPr txBox="1"/>
          <p:nvPr/>
        </p:nvSpPr>
        <p:spPr>
          <a:xfrm>
            <a:off x="5969000" y="6261100"/>
            <a:ext cx="584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B6573"/>
                </a:solidFill>
                <a:latin typeface="Malgun Gothic"/>
              </a:rPr>
              <a:t>좌: 유효 영역 추출 · 우: Poisson blending 합성</a:t>
            </a:r>
            <a:endParaRPr sz="12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제4장 · 결과: ROI 배치 도입의 효과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16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graphicFrame>
        <p:nvGraphicFramePr>
          <p:cNvPr id="317" name="Table 3"/>
          <p:cNvGraphicFramePr>
            <a:graphicFrameLocks noGrp="1"/>
          </p:cNvGraphicFramePr>
          <p:nvPr/>
        </p:nvGraphicFramePr>
        <p:xfrm>
          <a:off x="508000" y="1397000"/>
          <a:ext cx="6350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  <a:gridCol w="1270000"/>
              </a:tblGrid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증강 비율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ResNet34 mIoU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ResNet34 Dice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EffNet mIoU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EffNet Dice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Real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0.5667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0.6766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0.1682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0.2531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0.3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0.8069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0.8799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0.5378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0.6070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0.5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0.8919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0.9400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0.5347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0.5862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0.7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0.8071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0.8813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0.6860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0.7770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19" name="Picture 4" descr="fig4-5.jp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112000" y="2346960"/>
            <a:ext cx="4699000" cy="2165350"/>
          </a:xfrm>
          <a:prstGeom prst="rect">
            <a:avLst/>
          </a:prstGeom>
        </p:spPr>
      </p:pic>
      <p:sp>
        <p:nvSpPr>
          <p:cNvPr id="320" name="TextBox 5"/>
          <p:cNvSpPr txBox="1"/>
          <p:nvPr/>
        </p:nvSpPr>
        <p:spPr>
          <a:xfrm>
            <a:off x="508000" y="5689600"/>
            <a:ext cx="11176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B6573"/>
                </a:solidFill>
                <a:latin typeface="Malgun Gothic"/>
              </a:rPr>
              <a:t>ResNet34 mIoU 0.567 → 0.892 · 비율 0.7에서 하락 → 한계: 밝기 단일 통계량 휴리스틱, 텍스처·구조 미반영</a:t>
            </a:r>
            <a:endParaRPr sz="13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제5장 · AROMA 파이프라인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23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4" name="TextBox 3"/>
          <p:cNvSpPr txBox="1"/>
          <p:nvPr/>
        </p:nvSpPr>
        <p:spPr>
          <a:xfrm>
            <a:off x="635000" y="1397000"/>
            <a:ext cx="5080000" cy="228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5개 산업 데이터셋: AITeX(섬유) · Kolektor(금속) · Severstal(철강) · MTD(자기타일) · MVTec Leather(가죽)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MCI: 결함 형태 복잡도 · CCI: 배경 맥락 복잡도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patch-level 공존 통계 → 대칭 호환성 게이트(ctx_prior)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도메인별 규칙 재설계 없이 동작</a:t>
            </a:r>
            <a:endParaRPr sz="1700">
              <a:solidFill>
                <a:srgbClr val="1E2B3C"/>
              </a:solidFill>
              <a:latin typeface="Malgun Gothic"/>
            </a:endParaRPr>
          </a:p>
        </p:txBody>
      </p:sp>
      <p:pic>
        <p:nvPicPr>
          <p:cNvPr id="326" name="Picture 4" descr="fig5-1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08700" y="1333500"/>
            <a:ext cx="5562600" cy="4927600"/>
          </a:xfrm>
          <a:prstGeom prst="rect">
            <a:avLst/>
          </a:prstGeom>
        </p:spPr>
      </p:pic>
      <p:sp>
        <p:nvSpPr>
          <p:cNvPr id="327" name="TextBox 5"/>
          <p:cNvSpPr txBox="1"/>
          <p:nvPr/>
        </p:nvSpPr>
        <p:spPr>
          <a:xfrm>
            <a:off x="5969000" y="6261100"/>
            <a:ext cx="584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B6573"/>
                </a:solidFill>
                <a:latin typeface="Malgun Gothic"/>
              </a:rPr>
              <a:t>그림 5-1. AROMA 파이프라인</a:t>
            </a:r>
            <a:endParaRPr sz="12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제5장 · 데이터 기반 호환성 게이트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30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332" name="Picture 3" descr="fig5-6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8000" y="1812290"/>
            <a:ext cx="5511800" cy="3208020"/>
          </a:xfrm>
          <a:prstGeom prst="rect">
            <a:avLst/>
          </a:prstGeom>
        </p:spPr>
      </p:pic>
      <p:pic>
        <p:nvPicPr>
          <p:cNvPr id="334" name="Picture 4" descr="fig5-8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03720" y="1270000"/>
            <a:ext cx="4048760" cy="4292600"/>
          </a:xfrm>
          <a:prstGeom prst="rect">
            <a:avLst/>
          </a:prstGeom>
        </p:spPr>
      </p:pic>
      <p:sp>
        <p:nvSpPr>
          <p:cNvPr id="335" name="TextBox 5"/>
          <p:cNvSpPr txBox="1"/>
          <p:nvPr/>
        </p:nvSpPr>
        <p:spPr>
          <a:xfrm>
            <a:off x="508000" y="5562600"/>
            <a:ext cx="11176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B6573"/>
                </a:solidFill>
                <a:latin typeface="Malgun Gothic"/>
              </a:rPr>
              <a:t>좌: 데이터셋별 대칭 호환성 히트맵 · 우: 실제 이미지에서의 배경 할당</a:t>
            </a:r>
            <a:endParaRPr sz="1200">
              <a:solidFill>
                <a:srgbClr val="5B6573"/>
              </a:solidFill>
              <a:latin typeface="Malgun Gothic"/>
            </a:endParaRPr>
          </a:p>
        </p:txBody>
      </p:sp>
      <p:sp>
        <p:nvSpPr>
          <p:cNvPr id="336" name="TextBox 6"/>
          <p:cNvSpPr txBox="1"/>
          <p:nvPr/>
        </p:nvSpPr>
        <p:spPr>
          <a:xfrm>
            <a:off x="508000" y="5943600"/>
            <a:ext cx="11176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B6573"/>
                </a:solidFill>
                <a:latin typeface="Malgun Gothic"/>
              </a:rPr>
              <a:t>배경 선택: 5개 중 4개 데이터셋에서 AROMA 할당 배경이 Random보다 유의하게 실제 결함 맥락에 근접 (Mann–Whitney U)</a:t>
            </a:r>
            <a:endParaRPr sz="13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제5장 · 결과: 효과가 나타나는 조건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39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graphicFrame>
        <p:nvGraphicFramePr>
          <p:cNvPr id="340" name="Table 3"/>
          <p:cNvGraphicFramePr>
            <a:graphicFrameLocks noGrp="1"/>
          </p:cNvGraphicFramePr>
          <p:nvPr/>
        </p:nvGraphicFramePr>
        <p:xfrm>
          <a:off x="508000" y="1397000"/>
          <a:ext cx="11176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810000"/>
                <a:gridCol w="4318000"/>
              </a:tblGrid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데이터셋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AROMA − Random (mAP, pp)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개선 여지 + 배경 복잡도(CCI) 동시 충족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AITeX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+4.96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충족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Severstal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+1.06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충족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MTD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−0.25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미충족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Kolektor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−0.68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미충족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MVTec Leather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−4.91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Malgun Gothic"/>
                        </a:rPr>
                        <a:t>미충족</a:t>
                      </a:r>
                      <a:endParaRPr sz="1500">
                        <a:latin typeface="Malgun Gothic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1" name="TextBox 4"/>
          <p:cNvSpPr txBox="1"/>
          <p:nvPr/>
        </p:nvSpPr>
        <p:spPr>
          <a:xfrm>
            <a:off x="508000" y="5588000"/>
            <a:ext cx="11176000" cy="487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B6573"/>
                </a:solidFill>
                <a:latin typeface="Malgun Gothic"/>
              </a:rPr>
              <a:t>YOLOv8n, 3 seeds paired t (df=2) — 유의성 미도달, CCI 순서와 일치하는 일관된 방향성으로 해석</a:t>
            </a:r>
            <a:endParaRPr sz="1300">
              <a:solidFill>
                <a:srgbClr val="5B6573"/>
              </a:solidFill>
              <a:latin typeface="Malgun Gothic"/>
            </a:endParaRPr>
          </a:p>
          <a:p>
            <a:r>
              <a:rPr sz="1300">
                <a:solidFill>
                  <a:srgbClr val="5B6573"/>
                </a:solidFill>
                <a:latin typeface="Malgun Gothic"/>
              </a:rPr>
              <a:t>두 조건이 동시에 충족될 때만 context-aware 배치가 유효 → '언제 유효한가'의 적용 조건 제시</a:t>
            </a:r>
            <a:endParaRPr sz="13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제6장 · CASDA 5단계 파이프라인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44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5" name="TextBox 3"/>
          <p:cNvSpPr txBox="1"/>
          <p:nvPr/>
        </p:nvSpPr>
        <p:spPr>
          <a:xfrm>
            <a:off x="635000" y="1397000"/>
            <a:ext cx="5080000" cy="241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Severstal 강철 표면 (1600×256, Class 2 극희소)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1단계: ROI 형태·배경 텍스처 특성화 → 적합도 분류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2단계: defect_type·background_type 조건 prompt + 3채널 힌트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3단계: ControlNet으로 결함 자체를 새로 생성</a:t>
            </a:r>
            <a:endParaRPr sz="17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1700">
                <a:solidFill>
                  <a:srgbClr val="1E2B3C"/>
                </a:solidFill>
                <a:latin typeface="Malgun Gothic"/>
              </a:rPr>
              <a:t>4–5단계: 배치·품질 관리 → EB-YOLOv8 학습</a:t>
            </a:r>
            <a:endParaRPr sz="1700">
              <a:solidFill>
                <a:srgbClr val="1E2B3C"/>
              </a:solidFill>
              <a:latin typeface="Malgun Gothic"/>
            </a:endParaRPr>
          </a:p>
        </p:txBody>
      </p:sp>
      <p:pic>
        <p:nvPicPr>
          <p:cNvPr id="347" name="Picture 4" descr="fig6-1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78880" y="1333500"/>
            <a:ext cx="5223510" cy="4927600"/>
          </a:xfrm>
          <a:prstGeom prst="rect">
            <a:avLst/>
          </a:prstGeom>
        </p:spPr>
      </p:pic>
      <p:sp>
        <p:nvSpPr>
          <p:cNvPr id="348" name="TextBox 5"/>
          <p:cNvSpPr txBox="1"/>
          <p:nvPr/>
        </p:nvSpPr>
        <p:spPr>
          <a:xfrm>
            <a:off x="5969000" y="6261100"/>
            <a:ext cx="584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B6573"/>
                </a:solidFill>
                <a:latin typeface="Malgun Gothic"/>
              </a:rPr>
              <a:t>그림 6-1. CASDA 파이프라인</a:t>
            </a:r>
            <a:endParaRPr sz="12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제6장 · 결과: 소수 클래스 개선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51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graphicFrame>
        <p:nvGraphicFramePr>
          <p:cNvPr id="352" name="Table 3"/>
          <p:cNvGraphicFramePr>
            <a:graphicFrameLocks noGrp="1"/>
          </p:cNvGraphicFramePr>
          <p:nvPr/>
        </p:nvGraphicFramePr>
        <p:xfrm>
          <a:off x="508000" y="1397000"/>
          <a:ext cx="6350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333"/>
                <a:gridCol w="1058333"/>
                <a:gridCol w="1058333"/>
                <a:gridCol w="1058333"/>
                <a:gridCol w="1058333"/>
                <a:gridCol w="1058333"/>
              </a:tblGrid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Method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mAP@0.5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C1 AP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C2 AP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C3 AP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C4 AP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Raw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0.2936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0.1490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0.2548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0.3966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0.3739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Copy-Paste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0.2722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0.1479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0.0550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0.4594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0.4266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CASDA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0.3196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0.2493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0.2759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0.4287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0.3246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vs. Raw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+2.60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+10.03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+2.11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+3.21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−4.93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vs. CP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+4.74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+10.14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+22.09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−3.07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−10.20</a:t>
                      </a:r>
                      <a:endParaRPr sz="1300">
                        <a:latin typeface="Malgun Gothic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54" name="Picture 4" descr="fig6-9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223760" y="1270000"/>
            <a:ext cx="4475480" cy="4318000"/>
          </a:xfrm>
          <a:prstGeom prst="rect">
            <a:avLst/>
          </a:prstGeom>
        </p:spPr>
      </p:pic>
      <p:sp>
        <p:nvSpPr>
          <p:cNvPr id="355" name="TextBox 5"/>
          <p:cNvSpPr txBox="1"/>
          <p:nvPr/>
        </p:nvSpPr>
        <p:spPr>
          <a:xfrm>
            <a:off x="508000" y="5689600"/>
            <a:ext cx="11176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B6573"/>
                </a:solidFill>
                <a:latin typeface="Malgun Gothic"/>
              </a:rPr>
              <a:t>LPIPS Diversity: CASDA 0.448 vs Copy-Paste 0.394 · 2 seeds(42, 456) 기술통계, α=0.05 미통과 → 경향으로 해석</a:t>
            </a:r>
            <a:endParaRPr sz="1300">
              <a:solidFill>
                <a:srgbClr val="5B65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결론 및 기여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58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9" name="TextBox 3"/>
          <p:cNvSpPr txBox="1"/>
          <p:nvPr/>
        </p:nvSpPr>
        <p:spPr>
          <a:xfrm>
            <a:off x="635000" y="1397000"/>
            <a:ext cx="10922000" cy="2733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ROI 문제의 명시적 분리: What to place(P1) vs Where to place(P2)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수작업 의존성의 데이터 기반 대체: 밝기 휴리스틱 → 공존 통계 호환성 게이트(AROMA)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일반화 → 특화로의 전환과 생성적 확장: AROMA 프레임워크 + ControlNet 조건부 생성(CASDA)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일관된 실증 검증: 6개 산업 데이터셋, 검출·분할 지표 + 합성 품질 지표(FID·KID·LPIPS)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실패·무효화 조건까지 규명: 성능–일반화 트레이드오프, 증강 비율 과다, 조건 미충족 시 역전, 소수 시드 한계</a:t>
            </a:r>
            <a:endParaRPr sz="2000">
              <a:solidFill>
                <a:srgbClr val="1E2B3C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Box 1"/>
          <p:cNvSpPr txBox="1"/>
          <p:nvPr/>
        </p:nvSpPr>
        <p:spPr>
          <a:xfrm>
            <a:off x="508000" y="304800"/>
            <a:ext cx="11176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B3C"/>
                </a:solidFill>
                <a:latin typeface="Malgun Gothic"/>
              </a:rPr>
              <a:t>한계 및 향후 연구</a:t>
            </a:r>
            <a:endParaRPr sz="2800" b="1">
              <a:solidFill>
                <a:srgbClr val="1E2B3C"/>
              </a:solidFill>
              <a:latin typeface="Malgun Gothic"/>
            </a:endParaRPr>
          </a:p>
        </p:txBody>
      </p:sp>
      <p:sp>
        <p:nvSpPr>
          <p:cNvPr id="362" name="Rectangle 2"/>
          <p:cNvSpPr/>
          <p:nvPr/>
        </p:nvSpPr>
        <p:spPr>
          <a:xfrm>
            <a:off x="508000" y="1066800"/>
            <a:ext cx="1524000" cy="50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3" name="TextBox 3"/>
          <p:cNvSpPr txBox="1"/>
          <p:nvPr/>
        </p:nvSpPr>
        <p:spPr>
          <a:xfrm>
            <a:off x="635000" y="1397000"/>
            <a:ext cx="10922000" cy="2123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ROI 매칭이 결함 주변 배경의 통계적 속성에 크게 의존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→ 다양한 제조 현장의 결함 발생 양상을 모두 설명하지 못함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소수 시드(n=2~3)로 통계적 유의성 미확보 → multi-seed 확장 필요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향후: 가변 ROI 사이즈 대응</a:t>
            </a:r>
            <a:endParaRPr sz="2000">
              <a:solidFill>
                <a:srgbClr val="1E2B3C"/>
              </a:solidFill>
              <a:latin typeface="Malgun Gothic"/>
            </a:endParaRPr>
          </a:p>
          <a:p>
            <a:pPr marL="279400" indent="-279400">
              <a:spcAft>
                <a:spcPts val="1000"/>
              </a:spcAft>
              <a:buClr>
                <a:srgbClr val="2E6FD8"/>
              </a:buClr>
              <a:buFont typeface="Arial"/>
              <a:buChar char="•"/>
            </a:pPr>
            <a:r>
              <a:rPr sz="2000">
                <a:solidFill>
                  <a:srgbClr val="1E2B3C"/>
                </a:solidFill>
                <a:latin typeface="Malgun Gothic"/>
              </a:rPr>
              <a:t>향후: 결함 위치가 ROI인 경우 object detection 선행</a:t>
            </a:r>
            <a:endParaRPr sz="2000">
              <a:solidFill>
                <a:srgbClr val="1E2B3C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B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6" name="Rectangle 2"/>
          <p:cNvSpPr/>
          <p:nvPr/>
        </p:nvSpPr>
        <p:spPr>
          <a:xfrm>
            <a:off x="1016000" y="3810000"/>
            <a:ext cx="2032000" cy="635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7" name="TextBox 3"/>
          <p:cNvSpPr txBox="1"/>
          <p:nvPr/>
        </p:nvSpPr>
        <p:spPr>
          <a:xfrm>
            <a:off x="1016000" y="2159000"/>
            <a:ext cx="10160000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Malgun Gothic"/>
              </a:rPr>
              <a:t>감사합니다</a:t>
            </a:r>
            <a:endParaRPr sz="4800" b="1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68" name="TextBox 4"/>
          <p:cNvSpPr txBox="1"/>
          <p:nvPr/>
        </p:nvSpPr>
        <p:spPr>
          <a:xfrm>
            <a:off x="1016000" y="4064000"/>
            <a:ext cx="101600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>
                <a:solidFill>
                  <a:srgbClr val="C9D3E0"/>
                </a:solidFill>
                <a:latin typeface="Malgun Gothic"/>
              </a:rPr>
              <a:t>Q &amp; A</a:t>
            </a:r>
            <a:endParaRPr sz="2800">
              <a:solidFill>
                <a:srgbClr val="C9D3E0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6366F1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6366F1"/>
      </a:hlink>
      <a:folHlink>
        <a:srgbClr val="8B5CF6"/>
      </a:folHlink>
    </a:clrScheme>
    <a:fontScheme name="Slate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6366F1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6366F1"/>
      </a:hlink>
      <a:folHlink>
        <a:srgbClr val="8B5CF6"/>
      </a:folHlink>
    </a:clrScheme>
    <a:fontScheme name="Slate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18</Slides>
  <Notes>2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