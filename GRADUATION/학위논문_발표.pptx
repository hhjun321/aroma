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c07ffc0f-980c-07b0-d377-f11e01133116}">
          <p14:sldIdLst>
            <p14:sldId id="256"/>
            <p14:sldId id="257"/>
            <p14:sldId id="258"/>
          </p14:sldIdLst>
        </p14:section>
        <p14:section name="제3장" id="{96e5479a-a17d-8aeb-6504-4501bf41e17d}">
          <p14:sldIdLst>
            <p14:sldId id="259"/>
            <p14:sldId id="260"/>
            <p14:sldId id="261"/>
            <p14:sldId id="262"/>
          </p14:sldIdLst>
        </p14:section>
        <p14:section name="제4장" id="{3a1b0ae0-34d3-b77d-a3e2-add09151bddb}">
          <p14:sldIdLst>
            <p14:sldId id="263"/>
            <p14:sldId id="264"/>
            <p14:sldId id="265"/>
            <p14:sldId id="266"/>
          </p14:sldIdLst>
        </p14:section>
        <p14:section name="제5장" id="{d39c05fb-b7f7-f835-c752-a5341bf2d3a6}">
          <p14:sldIdLst>
            <p14:sldId id="267"/>
            <p14:sldId id="268"/>
            <p14:sldId id="269"/>
            <p14:sldId id="270"/>
            <p14:sldId id="271"/>
            <p14:sldId id="272"/>
            <p14:sldId id="273"/>
            <p14:sldId id="274"/>
            <p14:sldId id="275"/>
            <p14:sldId id="276"/>
            <p14:sldId id="277"/>
            <p14:sldId id="278"/>
            <p14:sldId id="279"/>
            <p14:sldId id="280"/>
            <p14:sldId id="281"/>
          </p14:sldIdLst>
        </p14:section>
        <p14:section name="제6장" id="{615ca576-02b6-6667-5df0-8055829bd76b}">
          <p14:sldIdLst>
            <p14:sldId id="282"/>
            <p14:sldId id="283"/>
            <p14:sldId id="284"/>
            <p14:sldId id="285"/>
            <p14:sldId id="286"/>
            <p14:sldId id="287"/>
            <p14:sldId id="288"/>
            <p14:sldId id="289"/>
            <p14:sldId id="290"/>
            <p14:sldId id="291"/>
          </p14:sldIdLst>
        </p14:section>
        <p14:section name="종합" id="{500c0c33-ca6f-96d2-7dc0-b986e8f919f2}">
          <p14:sldIdLst>
            <p14:sldId id="292"/>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MCI (결함 형태)</c:v>
                </c:pt>
              </c:strCache>
            </c:strRef>
          </c:tx>
          <c:spPr>
            <a:solidFill>
              <a:srgbClr val="0E7C7B"/>
            </a:solidFill>
            <a:effectLst/>
          </c:spPr>
          <c:invertIfNegative val="0"/>
          <c:dLbls>
            <c:numFmt formatCode="0.00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cat>
            <c:multiLvlStrRef>
              <c:f>Sheet1!$A$2:$A$6</c:f>
              <c:multiLvlStrCache>
                <c:ptCount val="5"/>
                <c:lvl>
                  <c:pt idx="0">
                    <c:v>AITeX</c:v>
                  </c:pt>
                  <c:pt idx="1">
                    <c:v>Kolektor</c:v>
                  </c:pt>
                  <c:pt idx="2">
                    <c:v>Severstal</c:v>
                  </c:pt>
                  <c:pt idx="3">
                    <c:v>MTD</c:v>
                  </c:pt>
                  <c:pt idx="4">
                    <c:v>MVTec Leather</c:v>
                  </c:pt>
                </c:lvl>
              </c:multiLvlStrCache>
            </c:multiLvlStrRef>
          </c:cat>
          <c:val>
            <c:numRef>
              <c:f>Sheet1!$B$2:$B$6</c:f>
              <c:numCache>
                <c:formatCode>General</c:formatCode>
                <c:ptCount val="5"/>
                <c:pt idx="0">
                  <c:v>0.392</c:v>
                </c:pt>
                <c:pt idx="1">
                  <c:v>0.328</c:v>
                </c:pt>
                <c:pt idx="2">
                  <c:v>0.455</c:v>
                </c:pt>
                <c:pt idx="3">
                  <c:v>0.561</c:v>
                </c:pt>
                <c:pt idx="4">
                  <c:v>0.595</c:v>
                </c:pt>
              </c:numCache>
            </c:numRef>
          </c:val>
        </c:ser>
        <c:ser>
          <c:idx val="1"/>
          <c:order val="1"/>
          <c:tx>
            <c:strRef>
              <c:f>Sheet1!$C$1</c:f>
              <c:strCache>
                <c:ptCount val="1"/>
                <c:pt idx="0">
                  <c:v>CCI (배경 문맥)</c:v>
                </c:pt>
              </c:strCache>
            </c:strRef>
          </c:tx>
          <c:spPr>
            <a:solidFill>
              <a:srgbClr val="E8833A"/>
            </a:solidFill>
            <a:effectLst/>
          </c:spPr>
          <c:invertIfNegative val="0"/>
          <c:dLbls>
            <c:numFmt formatCode="0.00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cat>
            <c:multiLvlStrRef>
              <c:f>Sheet1!$A$2:$A$6</c:f>
              <c:multiLvlStrCache>
                <c:ptCount val="5"/>
                <c:lvl>
                  <c:pt idx="0">
                    <c:v>AITeX</c:v>
                  </c:pt>
                  <c:pt idx="1">
                    <c:v>Kolektor</c:v>
                  </c:pt>
                  <c:pt idx="2">
                    <c:v>Severstal</c:v>
                  </c:pt>
                  <c:pt idx="3">
                    <c:v>MTD</c:v>
                  </c:pt>
                  <c:pt idx="4">
                    <c:v>MVTec Leather</c:v>
                  </c:pt>
                </c:lvl>
              </c:multiLvlStrCache>
            </c:multiLvlStrRef>
          </c:cat>
          <c:val>
            <c:numRef>
              <c:f>Sheet1!$C$2:$C$6</c:f>
              <c:numCache>
                <c:formatCode>General</c:formatCode>
                <c:ptCount val="5"/>
                <c:pt idx="0">
                  <c:v>0.44</c:v>
                </c:pt>
                <c:pt idx="1">
                  <c:v>0.224</c:v>
                </c:pt>
                <c:pt idx="2">
                  <c:v>0.306</c:v>
                </c:pt>
                <c:pt idx="3">
                  <c:v>0.246</c:v>
                </c:pt>
                <c:pt idx="4">
                  <c:v>0.2</c:v>
                </c:pt>
              </c:numCache>
            </c:numRef>
          </c:val>
        </c:ser>
        <c:dLbls>
          <c:numFmt formatCode="0.000" sourceLinked="0"/>
          <c:txPr>
            <a:bodyPr/>
            <a:lstStyle/>
            <a:p>
              <a:pPr>
                <a:defRPr b="0" i="0" strike="noStrike" sz="1100" u="none">
                  <a:solidFill>
                    <a:srgbClr val="1F29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A"/>
                </a:solidFill>
                <a:latin typeface="+mn-lt"/>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9525" cap="flat">
              <a:solidFill>
                <a:srgbClr val="E5E8EB"/>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A"/>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학위논문 『Context-Aware 데이터 증강 기반 산업용 결함 검출 연구』의 본론 4개 장(제3장~제6장)을 발표한다. 각 장은 게재 논문 1편에 대응한다.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각 장은 저자의 게재 논문 1편에 대응하며, 논문 게재 순서가 아니라 연구의 발전 흐름에 따라 구성한다. 연구는 결함 패치 생성에서 출발하여 배치 위치 탐색, 형태·문맥 호환성의 데이터 기반 자동화, 도메인 특화 문맥 인지 생성으로 확장된다.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연구 문제는 두 축으로 정리된다. P1 What to place는 어떤 결함 패치를 생성·선택할 것인가의 문제이며 제3장과 제6장에서 다룬다. P2 Where to place는 결함 패치를 어떤 배경과 위치에 배치할 것인가의 문제이며 제4장과 제5장, 제6장에서 다룬다. 두 축은 제6장에서 문맥 조건부 생성과 배치로 결합된다.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제3장에서는 PKU-HRI PCB 데이터셋(693장, 결함 6종: open, short, mouse bite, spur, missing hole, spurious copper)을 대상으로 YOLOv8s/m 기반 결함 검출을 수행하였다. 결함 부위를 카테고리별로 분리한 뒤 GAN과 Diffusion으로 결함 패치를 생성하고, 원본 라벨 위치에 재배치하여 증강 데이터를 구성하였다(최적 증강 비율 30%). 실험에서는 Diffusion이 mAP에서 우위를 보였으며, GAN은 과적합이 상대적으로 낮아 실활용 측면의 가능성을 보였다. 다만 원본 라벨 위치를 재활용하는 방식은 기존 데이터와 배치 위치가 중복될 수 있다. 이러한 배치 위치의 다양성 한계가 제4장 연구의 출발점이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식 (1)(2)는 GAN의 적대적 학습 목표와 가치함수이다. 생성자 G는 V를 최소화하고 판별자 D는 최대화하며, 이를 통해 G가 실제 분포를 근사하도록 학습한다. 식 (3)(4)는 Diffusion의 순방향과 역방향 과정이다. 순방향에서 정규분포 노이즈를 점진적으로 추가하고, 역방향에서 U-Net이 노이즈를 예측·제거해 원 분포를 복원한다. 식 (5)~(8)은 정밀도, 재현율, 클래스별 AP, 전 클래스 평균 mAP이다.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생성형 데이터 증강을 통해 결함 검출 성능을 향상시킬 수 있음을 확인하였다. 그러나 생성된 결함 패치의 배치 위치를 충분히 고려하지 않으면 기존 데이터와의 중복 및 과적합 문제가 남을 수 있다. box loss의 과적합 gap 분석도 함께 수행하였다.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제3장에서 확인한 결함 패치 배치 위치의 한계를 개선하기 위해, KolektorSDD(결함 52장)를 대상으로 ControlNet 기반 결함 생성, 유효 ROI 탐색, Poisson blending을 결합한 3단계 증강 방법을 제안하였다. 먼저 결함 마스크를 조건으로 결함 패치를 생성하고, 결함 주변 배경의 평균 밝기와 유사한 정상 영역을 탐색한 후 Poisson blending으로 결함을 삽입하였다. ResNet34 기반 실험에서 mIoU는 0.5667에서 0.8919로 향상되었다(증강 비율 0.5). 다만 배치 위치를 평균 밝기만으로 선정하기 때문에 배경 텍스처와 결함 주변의 구조적 특성을 충분히 반영하지 못한다.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식 (1)은 ControlNet 조건부 디노이징이다. x_t는 t시점 잠재공간, D는 Diffusion U-Net, C는 조건(결함 마스크), t는 노이즈 step이며 C를 U-Net 중간 레이어에 결합한다. 식 (2)는 마스크를 원형 팽창한 뒤 원 마스크를 빼 결함 둘레 고리만 남기고 평균 휘도를 산출한다. 식 (3)은 정상 이미지 후보 패치 i(128×128, stride 32 슬라이딩)의 평균 밝기와의 차이며, 최소 상위 k개 중 무작위 1개를 유효 ROI로 정한다. 식 (2)에서 사용한 결함 주변의 고리 영역은 제5장 site_score의 ring 히스토그램으로 이어진다. 다만 제4장은 주변 영역의 평균 밝기라는 단일 값을 사용하고, 제5장은 주변 영역의 문맥 셀 분포를 비교한다.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결함 주변 배경과 밝기 특성이 유사한 영역에 결함 패치를 배치함으로써 검출 성능을 향상시킬 수 있음을 확인하였다. 그러나 평균 밝기라는 단일 기준만으로는 다양한 배경 텍스처와 구조적 특성을 충분히 반영하기 어렵다. 이러한 한계를 개선하기 위해 제5장에서는 결함 형태와 배경 문맥의 관계를 데이터 기반으로 분석하는 방법을 제안한다.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제4장에서 제기된 평균 밝기 중심의 배치 위치 탐색 한계를 개선하기 위해, 결함 형태와 배경 문맥 간 호환성을 데이터로부터 자동 도출하는 copy-paste 증강 프레임워크 AROMA를 제안하였다. 결함 형태(MCI)와 배경 문맥(CCI)을 프로파일링하고, 패치 단위 공동출현 통계를 바탕으로 대칭 호환성 게이트를 구성한다. 이를 통해 어떤 결함 패치를 선택할지, 어느 배경 이미지에 배치할지, 해당 배경의 어느 위치에 삽입할지를 순차적으로 결정한다. 생성 모델 자체의 품질과 배치 효과를 분리하여 평가하기 위해 training-free copy-paste 엔진을 사용하였다. AITeX, Kolektor, Severstal, MTD, MVTec Leather 등 5개 이종 데이터셋에 별도의 재설계 없이 적용하였다.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CCI와 MCI는 데이터셋 단위 복잡도 지표로, 각각 4개 성분을 min-max 정규화한 뒤 동일 가중 평균한다. CCI의 TE는 TextureEntropy, CC는 ContextClusterCount, FC는 FreqComplexity, OV는 OrientVariance이다. MCI의 Ent는 Entropy, VC는 ValleyCount, CD는 ClassDiversity, Sil은 Silhouette이다. K*는 GMM과 BIC로 결함 형태 군집 개수를 자동 결정하며 BIC는 낮을수록 좋다. 식 (2)가 핵심으로, 결함 형태 클러스터 k와 배경 문맥 셀 c 간 대칭 호환성을 나타낸다. 결함 주변에서 관측되고(P_def) 정상 이미지에도 존재하는(P_clean) 셀에 높은 점수를 부여하며, 기하평균을 사용해 한쪽 분포만 높은 후보의 점수를 억제한다. 식 (3)~(6)은 결함 패치, 배경 이미지, 삽입 위치를 순서대로 고르는 점수이다.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정상 이미지를 64px 격자로 자르고(결함 마스크 과반 패치 제외) 각 grayscale 패치 p에서 5개 값을 뽑는다. 이 5개 값의 P33/P66 삼분위 조합이 문맥 셀 키(예 2_2_1_2_0, 최대 3의 5제곱 = 243개)가 되고, 같은 값을 집계한 것이 CCI 성분이다. 엔트로피 H는 값이 여러 칸에 고르게 퍼져 있으면 크고 한 칸에 몰려 있으면 작다. 설명 흐름: 1·2는 얼마나 거친가, 3·4는 어떤 결인가, 5는 어느 방향인가. 5번은 이름이 consistency지만 엔트로피라서 낮을수록 방향이 일관된다. 세부 설정: S_x, S_y는 Sobel 3×3 가로·세로 미분, N은 패치 픽셀 수. LBP는 주변 8픽셀(반경 1)을 중심과 비교한 회전불변 패턴 10종. F는 저주파가 중심에 오도록 정렬한 2D FFT, r은 스펙트럼 중심까지의 거리. θ = atan2(S_y, S_x)이며 부호를 살려 18칸으로 세고 경계 세기 가중은 하지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데이터셋당 20,000 패치 표본으로 CCI 4성분을 집계한다. TextureEntropy만 평균이고 Freq·Orient는 분산이다. 즉 고주파가 많다·방향이 흐트러졌다가 아니라 패치마다 그 값이 얼마나 들쭉날쭉한가(배경 이질성)를 잰다. ContextClusterCount는 5특징 z-score 벡터에 GMM(k = 1..5)을 적합한 BIC 최적 k이다. 표 2에서 TextureEntropy는 폭이 좁고(2.58~3.22), 데이터셋을 가르는 것은 OrientVariance·FreqComplexity이다. 강도가 아니라 구조적 특징이 배경 복잡도를 지배한다.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위에서부터 첫 매치가 이긴다. 임계값은 패치 디스크립터 분포 관찰에 근거해 정한 고정값으로, 데이터셋마다 판정 기준이 흔들리지 않도록 범위를 고정했다. 범주 라벨은 해석·보고용이며 핵심 배치 경로(식 2~6)에는 쓰이지 않는다. 세부 설정: ∇p는 Sobel 3×3, 경계 방향 θ는 mod 180°(부호 무시)를 22.5° 간격 8칸으로 나누고 경계 세기로 가중한다. 자기상관 R은 실제 계산에서 Wiener–Khinchin 정리로 FFT를 이용해 한 번에 구하며, 위의 합 정의(패치 경계에서는 반대편으로 순환 이동)와 같은 값이다. 이름 주의: 표 3 디스크립터는 이름이 비슷한 5특징·CCI 성분과 다른 양이다. LBPEntropy는 texture_entropy와 같은 식이지만 패치 값 그대로 쓰고(CCI는 평균), AutocorrPeak는 반복성을 재며(FreqComplexity는 고주파 비율의 분산), 경계 방향 엔트로피는 부호를 접은 8칸·크기 가중이다(5특징의 방향 엔트로피는 부호를 살린 18칸·비가중).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결함 이미지 1장의 마스크(GT 우선, 없으면 SAM → Otsu 폴백)에서 8-연결 성분 중 최대 면적 blob 1개를 골라 6개 형태 특징을 잰다. 이 6종이 군집 K*와 MCI의 공통 원료다(배경 쪽 5특징에 대응). 설명 흐름: 1·4·5는 얼마나 긴가, 2·3은 얼마나 꽉 찼나, 6은 경계가 얼마나 매끈한가. 1·4·5는 같은 등가 타원의 함수로 linearity = 1 − 1/α², eccentricity = √linearity가 정확히 성립한다(Spearman 1.000). 실질 자유도는 4축(세장·solidity·extent·circularity)이다.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6특징을 특징별 min-max로 [0,1] 정규화한 뒤 GaussianMixture(k = 1..5)를 적합하고 BIC가 가장 낮은 k를 K*로 정한다. BIC는 적합도와 모형 복잡도를 함께 본 점수로 낮을수록 좋다. 군집 개수와 경계가 모두 데이터에서 정해지며, 군집 k는 morph_prior P(k) = n_k/N(식 3)와 호환성 행렬(식 2)의 행 인덱스로 쓰인다. 배경 쪽 ContextClusterCount는 z-score, 여기는 min-max로 정규화 방식이 다르다. MCI는 CCI와 대칭 구조로, 4성분을 min-max 정규화 후 동일 가중 평균한다. Entropy는 군집 라벨 분포의 엔트로피(군집 크기 균형), ValleyCount는 6특징 각 분포의 골짜기 수 합(다봉성), ClassDiversity는 GT 결함 클래스의 실효 개수(Hill 수), 1 − Silhouette은 군집이 잘 안 갈릴수록 커진다.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 1. 데이터셋별 결함 수는 AITeX 352, Kolektor 52, Severstal 3620, MTD 388, MVTec Leather 92이다. MCI와 CCI는 역상관 경향을 보인다(MVTec Leather: MCI 최고·CCI 최저). 형태 복잡도와 배경 복잡도는 서로 다른 축이다.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6특징 중 α(종횡비)·σ(견고도) 2개만 사용하며 GMM 군집과 별개 경로이다. α는 얼마나 긴가, σ는 얼마나 꽉 찼나. 길면 scratch, 짧고 꽉 찼으면 blob, 꽉 차지 않았으면 irregular. 6장 CASDA와 같은 이름의 지표를 쓰되, 임계값을 고정 상수 대신 데이터셋별 분포(P33/P66)에서 정한다는 점이 차이다. linearity = 1 − 1/α², eccentricity = √linearity로 둘 다 α의 단조 함수라 모든 linearity 임계는 α 임계로 환원되므로 분류에서 제외한다. AspectRatio P66이 3.62(MTD)~16.43(AITeX)로 4.5배 차이가 나며, 고정 상수가 놓쳤을 형태 변이다. 중간 구간이 지나치게 좁은 경우(Kolektor solidity)는 0.70/0.90 고정값으로 대체한다. 하위유형은 GMM 군집 k와 다른 라벨로, 합성 시 elastic-warping 변형 파라미터를 고르는 데 쓰이며 ROI 순위(식 2·3)에는 쓰이지 않는다. P33/P66을 ±5 섭동해도 라벨 3.1~14.5%만 바뀌고 배치는 불변이다.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행 k는 결함 형태 군집, 열 c는 배경 문맥 셀이다. 두 번의 집계로 만든다. P_def(k, c)는 군집 k 결함 둘레 타일 중 셀 c의 비율, P_clean(c)는 정상 이미지 전체 타일 중 셀 c의 비율이다. 둘을 기하평균(√곱)으로 AND 결합하므로 결함 주변에서 실제로 관측되고 정상 이미지에도 충분히 존재하는 셀만 높은 점수를 받는다. 결과는 행 최댓값 = 1로 저장한 matrix_symmetric이다. 사용 직전에는 합 = 1로 재정규화해 tgt[k]로 쓰며, 이는 단조 rescale이라 분포 모양은 변하지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논문 식 (3)·(5)·(6)은 어떤 결함 → 어느 배경 이미지 → 그 안의 어느 자리의 3단 선택 체인이다. 공통 재료는 프로파일링 산출물 하나(matrix_symmetric)이고, 픽셀은 다시 보지 않는다. ① ctx_prior는 결함 자신의 소스 문맥 셀에서 읽은 스칼라, morph_prior는 P(k) = n_k/N이다. 선발 규칙은 (k,c) pair quota + 클래스 floor + 소스 크롭 1회 사용 → top_k(Severstal 1000 / 나머지 200)이다. ② src_fit은 결함이 원래 살던 이미지의 표면과 닮았나(개체 단위), class_fit은 이 클래스 결함들의 배경 집계와 닮았나(클래스 단위), size_fit은 왜곡 없이 들어가나(기하)이다. 필터가 아니라 랭킹이며, void 게이트(P15 분산·엣지, 과반-void 컷)로 거른 뒤 bg_score 상위 배경을 배정한다. 이미지 선택은 전역, 자리 선택은 국소다. 결함 인접 타일로 국소화한 대안은 self-retrieval MRR에서 5/5 열세였다. ③ tgt[k]는 군집 k의 목표 문맥 분포, h_s는 자리 s를 둘러싼 ring 타일들의 셀 정규화 히스토그램(void 제외)이며, footprint 전 타일이 관측·비void인 자리만 후보가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ring인가: footprint는 결함이 덮어 사라진다. 합성 후 경계 연속성을 결정하는 것은 둘레다. 왜 분포 매칭인가: 평균 argmax는 흔한 셀이 많은 자리로 수렴한다. min-겹침은 초과분을 잘라 흔한 셀 몰빵을 차단한다. footprint→ring(평균 유지)은 4/5 데이터셋에서 악화, 평균→분포 매칭은 5/5 개선 — 개선의 원천은 score 정의다. 성질: 교집합 = 1 − TV이므로 교집합 최대화는 total variation 거리 최소화와 같다. 한 줄 암기: 지도 1개(matrix_symmetric)를 이미지는 h_g로, 자리는 h_s로 질의한다. 결함 → 배경(전역) → 자리(국소).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데이터셋 프로파일링으로 MCI와 CCI를 산출한다. 결함 형태는 최대 blob 6특징으로 GMM 군집(K* = argmin BIC)을 만들고, 배경 문맥은 64px 패치 5특징을 P33/P66 삼분위로 셀 이산화한다. 패치 공동출현 통계로 대칭 호환성 게이트(식 2)를 만든 뒤, ROI 선택(식 3) → 배경 배정(식 5) → 위치 확정(식 6)을 거쳐 copy-paste로 합성한다(gradient-domain / alpha blending). 평가는 YOLOv8n으로 Baseline, Random-ROI, AROMA를 seed 1·2·42에서 비교한다.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AROMA의 증강 효과는 기존 검출 모델의 성능 개선 여지(baseline headroom)와 배경 문맥의 복잡도(CCI)가 함께 작용할 때 두드러진다. 이러한 조건이 충분하지 않은 경우에는 Random-ROI 방식과 유사한 성능을 보였으며, 증강으로 인한 성능 저하도 나타나지 않았다. 이는 형태·문맥 호환성 분석이 모든 데이터셋에서 일률적인 성능 향상을 보장하기보다, 데이터셋의 특성과 기존 검출 성능에 따라 효과를 발휘한다는 점을 보여준다. 검출기 교체 재현(YOLOv11n): Severstal에서 AROMA−Random이 +1.48 pp(3/3 seed)를 보였다. 이는 관찰된 효과가 특정 검출기 하나에만 국한되지 않음을 보완적으로 보여준다. 선택 분포 균등도(정규화 엔트로피·Gini): 5개 데이터셋 중 4개에서 AROMA가 Random 이상을 보였다. AITeX에서는 선택 분포의 균등도보다 호환성을 우선하는 양상이 나타났다. 이처럼 배치 단계의 문맥 자동화를 확립한 뒤, 제6장에서는 철강 도메인에 특화된 규칙을 적용하고 문맥 정보를 결함 생성 조건까지 확장한다.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제5장에서 제안한 결함 형태와 배경 문맥 간 호환성 개념을 철강(Severstal) 도메인에 특화하고, 문맥 정보를 결함 배치뿐 아니라 생성 단계까지 확장한 CASDA 프레임워크를 제안하였다. 먼저 결함의 기하학적 특성을 기반으로 결함 형태를 분류하고, Canny 및 Sobel 특성을 활용하여 배경 유형을 구분한다. 이후 형태와 배경 유형 간 호환성 행렬을 구성하여 적합한 배경을 선택한다. 선정된 배경의 문맥 정보는 3채널 힌트 이미지와 4개 필드의 문맥 프롬프트로 구성하여 ControlNet의 조건으로 활용한다. 생성된 결함은 Poisson blending으로 배경에 합성하고, 품질 게이트(Q ≥ 0.7)를 적용하여 증강 데이터의 품질을 관리한다. EB-YOLOv8에서 Copy-Paste 대비 mAP@0.5가 +2.60 pp, Class 2 AP가 +22.09 pp 개선되었다. 다만 YOLO-MFD에서는 개선이 나타나지 않아, 증강 효과가 검출 모델 아키텍처에 따라 달라질 수 있음을 확인하였다.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식 (1)~(4)는 결함 기하 4지표다. 선형성은 5장 linearity와 같은 식으로 통일했다. 식 (5)는 ROI 적합도로 매칭 품질·공간 연속성·배경 안정성의 가중합이다(평균 0.68, 0.7 이상 고품질군 61.3%). 식 (6)은 문맥 프롬프트다. 표 2·표 7·§4.3의 수식은 논문에서 본문 식 번호 없이 표와 절 안에 정의되어 있어 위치를 번호 대신 적었다. hint는 ControlNet 3채널 힌트 이미지, Q는 품질 점수(Q ≥ 0.7만 채택), BGD는 합성 경계 밴드의 평균 Sobel 크기로 경계 기울기 불연속을 재는 평가 지표다.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64px 격자 패치마다 표면 지표를 구하고, 고정 임계값으로 배경 5유형(호환성 행렬의 열)을 정한다. 5장 배경 문맥 특징 5종에 대응한다. 배경 5유형은 위에서부터 첫 매치로 정한다. 배경 적합도 임계값은 clean 배경 패치 분포에서 log-scale Otsu로 정했다. 분산 τ = 14.09 이하, 엣지 밀도 0.607 이하인 저분산·저엣지 배경만 선택해 도메인 불일치(BGD)를 줄인다. 엣지 밀도 임계값은 논문에서 ε로 표기되지만, 식 (3)의 면적비 ε와 기호가 겹치므로 발표 시 구분해 부른다.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결함 마스크에서 기하 4지표를 구하고, 고정 임계값으로 결함 4유형(호환성 행렬의 행)을 정한다. 5장 결함 하위유형에 대응한다. 선형성은 마스크 픽셀 좌표 2×2 공분산의 고유값으로 산출하며 5장 linearity와 같은 식이다. 설명 흐름: λ·α는 얼마나 길게 뻗었나, σ·ε는 얼마나 꽉 찼나. 이 4지표를 고정 임계값으로 잘라 4유형을 만든다(5장 AROMA는 같은 α·σ를 데이터셋별 P33/P66으로 자른다). 표 1 임계값은 N = 19,958 분포에서 도출했으며, 고경계 λ = 0.85, σ = 0.9는 log-scale Otsu, 저경계는 백분위다.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식 (5) ROI 적합도는 결함–배경 매칭 품질, 공간 연속성, 배경 안정성의 가중합이다. 평균 0.68이며, 0.7 이상 고품질 61.3% / 사용 가능 31.5% / 제외 7.2%로 나뉜다. 표 6 호환성 행렬의 셀 값은 결함유형 × 배경유형 매칭 점수이며, 행마다 최적 배경이 1.0이다. 배경은 이 점수를 가중치로 한 확률 추출로 고른다. 통계는 결함 중심이 든 64px 셀 단위로 잡히지만, 적용은 이미지 1장 = 배경 라벨 1개 단위(이미지 선택)다. 이미지 안의 위치까지 고르는 것은 5장 AROMA의 설계다.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 2 3채널 힌트: R(0.5)은 결함 기하로 λ &gt; 0.7이면 skeleton + edge, σ &gt; 0.8이면 filled, 그 외 edge. G(0.3)는 배경 표면 방향으로 V-stripe는 Sobel_x, H-stripe는 Sobel_y, Complex는 전방향(omni), Smooth·Textured는 0. B(0.2)는 표면 거칠기로 7×7 국소분산(Smooth는 ×0.5). 식 (6) 문맥 프롬프트: F1 결함유형, F2 배경표면, F3 방향성 텍스처, F4 배경 안정성 점수 s에 따른 상태어 — pristine(s ≥ 0.8) / standard(0.5 ≤ s &lt; 0.8) / worn(s &lt; 0.5). 힌트가 어떤 모양을 어디에, 프롬프트가 어떤 표면 위의 무슨 결함인지를 ControlNet에 알려준다. 생성된 결함은 Poisson blending(cv2.seamlessClone, 마스크 8px 팽창)으로 배경에 합성한다.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 7 품질 게이트: Q_morph(0.3)는 형태 일치로 마스크 유형 일치 1.0 / general 0.7 / 불일치 0.3. Q_sharp(0.3)는 선명도로 Laplacian 분산이 100 미만이면 블러. Q_artifact(0.2)는 노이즈·아티팩트로 없음 1.0 / 10% 초과 0.0. Q_area(0.2)는 면적 적정성으로 0.1~30% 1.0 / 그 외 0.5. Q ≥ 0.7만 채택하며 2,500 중 2,075가 통과(83.0%)했다. §4.3 BGD는 합성 결함 경계를 따라 띠 B를 만들고 그 안의 평균 Sobel 크기를 잰다. 경계가 자연스럽게 이어질수록 낮다. CASDA 49.6 vs Copy-Paste 71.4 (−30.5%, Cohen's d ≈ 0.87).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1단계 결함·배경 특성 분석: λ σ ε α (1)~(4) → 표 1 → 결함 4유형, 64px 격자에서 Canny 엣지밀도 + Sobel 방향 → 배경 5유형, ROI 적합도(5)로 고품질 61.3% / 사용가능 31.5% / 제외 7.2%. 2단계 ControlNet 구성: SD v1.5 + sd-controlnet-canny, 20 ep, lr 1e-5, 3채널 힌트(표 2) + 프롬프트(6). 3단계 문맥 기반 합성: 표 6 호환성 행렬로 배경 확률 선택 → ControlNet 생성 → Poisson blending. 4단계 품질 게이트: Q(표 7) ≥ 0.7 → 2,500 중 2,075 통과(83.0%). 5단계 데이터셋 통합: Class 2 +519(+110.1%), 합성 비중 42.7%. EB-YOLOv8 / YOLO-MFD 평가(seed 42·456) + FID/KID/LPIPS/BGD.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문맥 정보를 결함 생성 조건(힌트 이미지·프롬프트)에 반영함으로써, 결함 배치뿐 아니라 생성 단계까지 문맥을 고려하는 증강 접근을 제시하였다. 특히 희소 클래스에서 성능 개선을 확인하였다. 다만 철강 결함에 특화된 분류 및 호환성 규칙을 사용하므로 다른 도메인에 적용할 때는 재설계가 필요하다. 따라서 CASDA는 범용 자동화보다는 특정 제조 도메인에서 생성 단계까지 문맥을 반영하는 접근으로 정리할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AROMA는 범용·데이터 기반, CASDA는 철강 특화·생성 결합이다. 행 k(결함), 열 c(배경), 셀 값, 대칭성, 배경 단위, 생성, 품질 관리, 데이터셋, 결론의 9개 축으로 비교한다.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P1(What to place): 제3장의 결함 패치 생성에서 제6장의 문맥 조건부 결함 생성으로 확장된다. P2(Where to place): 제4장의 밝기 유사도 기반 탐색에서 제5장의 데이터 기반 호환성 자동화로 발전하고, 제6장에서 철강 도메인에 특화된다. 통합 관점: 제3장부터 제6장까지 결함 자체의 생성뿐 아니라 배경과 삽입 위치, 생성 과정의 문맥까지 고려하는 방향으로 연구 범위를 확장하였다.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731520" y="1828800"/>
            <a:ext cx="1005840" cy="73152"/>
          </a:xfrm>
          <a:prstGeom prst="rect">
            <a:avLst/>
          </a:prstGeom>
          <a:solidFill>
            <a:schemeClr val="accent1"/>
          </a:solidFill>
          <a:ln/>
        </p:spPr>
      </p:sp>
      <p:sp>
        <p:nvSpPr>
          <p:cNvPr id="3" name="Shape 1"/>
          <p:cNvSpPr/>
          <p:nvPr/>
        </p:nvSpPr>
        <p:spPr>
          <a:xfrm>
            <a:off x="1737360" y="1828800"/>
            <a:ext cx="411480" cy="73152"/>
          </a:xfrm>
          <a:prstGeom prst="rect">
            <a:avLst/>
          </a:prstGeom>
          <a:solidFill>
            <a:schemeClr val="accent2"/>
          </a:solidFill>
          <a:ln/>
        </p:spPr>
      </p:sp>
      <p:sp>
        <p:nvSpPr>
          <p:cNvPr id="4" name="Text 2"/>
          <p:cNvSpPr/>
          <p:nvPr>
            <p:ph idx="102" type="title" hasCustomPrompt="1"/>
          </p:nvPr>
        </p:nvSpPr>
        <p:spPr>
          <a:xfrm>
            <a:off x="731520" y="2057400"/>
            <a:ext cx="10698480" cy="14630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5" name="Text 2"/>
          <p:cNvSpPr/>
          <p:nvPr>
            <p:ph idx="103" type="body" hasCustomPrompt="1"/>
          </p:nvPr>
        </p:nvSpPr>
        <p:spPr>
          <a:xfrm>
            <a:off x="731520" y="3657600"/>
            <a:ext cx="10698480" cy="548640"/>
          </a:xfrm>
          <a:prstGeom prst="rect">
            <a:avLst/>
          </a:prstGeom>
          <a:noFill/>
          <a:ln/>
        </p:spPr>
        <p:txBody>
          <a:bodyPr wrap="square" rtlCol="0"/>
          <a:lstStyle>
            <a:lvl1pPr indent="0" marL="0">
              <a:buNone/>
              <a:defRPr lang="en-US" sz="2000" dirty="0">
                <a:solidFill>
                  <a:schemeClr val="accent4"/>
                </a:solidFill>
              </a:defRPr>
            </a:lvl1pPr>
          </a:lstStyle>
          <a:p>
            <a:pPr indent="0" marL="0">
              <a:buNone/>
            </a:pPr>
            <a:endParaRPr lang="en-US" sz="2000" dirty="0"/>
          </a:p>
        </p:txBody>
      </p:sp>
      <p:sp>
        <p:nvSpPr>
          <p:cNvPr id="6" name="Text 2"/>
          <p:cNvSpPr/>
          <p:nvPr>
            <p:ph idx="104" type="body" hasCustomPrompt="1"/>
          </p:nvPr>
        </p:nvSpPr>
        <p:spPr>
          <a:xfrm>
            <a:off x="731520" y="5212080"/>
            <a:ext cx="10698480" cy="640080"/>
          </a:xfrm>
          <a:prstGeom prst="rect">
            <a:avLst/>
          </a:prstGeom>
          <a:noFill/>
          <a:ln/>
        </p:spPr>
        <p:txBody>
          <a:bodyPr wrap="square" rtlCol="0"/>
          <a:lstStyle>
            <a:lvl1pPr indent="0" marL="0">
              <a:buNone/>
              <a:defRPr lang="en-US" sz="1500" dirty="0">
                <a:solidFill>
                  <a:schemeClr val="bg1"/>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920240"/>
            <a:ext cx="5486400" cy="548640"/>
          </a:xfrm>
          <a:prstGeom prst="rect">
            <a:avLst/>
          </a:prstGeom>
          <a:noFill/>
          <a:ln/>
        </p:spPr>
        <p:txBody>
          <a:bodyPr wrap="square" rtlCol="0"/>
          <a:lstStyle>
            <a:lvl1pPr indent="0" marL="0">
              <a:buNone/>
              <a:defRPr lang="en-US" sz="2200" b="1" dirty="0">
                <a:solidFill>
                  <a:schemeClr val="accent2"/>
                </a:solidFill>
              </a:defRPr>
            </a:lvl1pPr>
          </a:lstStyle>
          <a:p>
            <a:pPr indent="0" marL="0">
              <a:buNone/>
            </a:pPr>
            <a:endParaRPr lang="en-US" sz="2200" dirty="0"/>
          </a:p>
        </p:txBody>
      </p:sp>
      <p:sp>
        <p:nvSpPr>
          <p:cNvPr id="3" name="Text 0"/>
          <p:cNvSpPr/>
          <p:nvPr>
            <p:ph idx="101" type="title" hasCustomPrompt="1"/>
          </p:nvPr>
        </p:nvSpPr>
        <p:spPr>
          <a:xfrm>
            <a:off x="731520" y="2560320"/>
            <a:ext cx="10698480" cy="11887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731520" y="3931920"/>
            <a:ext cx="10698480" cy="731520"/>
          </a:xfrm>
          <a:prstGeom prst="rect">
            <a:avLst/>
          </a:prstGeom>
          <a:noFill/>
          <a:ln/>
        </p:spPr>
        <p:txBody>
          <a:bodyPr wrap="square" rtlCol="0"/>
          <a:lstStyle>
            <a:lvl1pPr indent="0" marL="0">
              <a:buNone/>
              <a:defRPr lang="en-US" sz="1800" dirty="0">
                <a:solidFill>
                  <a:schemeClr val="accent4"/>
                </a:solidFill>
              </a:defRPr>
            </a:lvl1pPr>
          </a:lstStyle>
          <a:p>
            <a:pPr indent="0" marL="0">
              <a:buNone/>
            </a:pPr>
            <a:endParaRPr lang="en-US" sz="1800" dirty="0"/>
          </a:p>
        </p:txBody>
      </p:sp>
      <p:sp>
        <p:nvSpPr>
          <p:cNvPr id="5" name="Shape 0"/>
          <p:cNvSpPr/>
          <p:nvPr/>
        </p:nvSpPr>
        <p:spPr>
          <a:xfrm>
            <a:off x="731520" y="1691640"/>
            <a:ext cx="1005840" cy="73152"/>
          </a:xfrm>
          <a:prstGeom prst="rect">
            <a:avLst/>
          </a:prstGeom>
          <a:solidFill>
            <a:schemeClr val="accent1"/>
          </a:solidFill>
          <a:ln/>
        </p:spPr>
      </p:sp>
      <p:sp>
        <p:nvSpPr>
          <p:cNvPr id="6" name="Shape 1"/>
          <p:cNvSpPr/>
          <p:nvPr/>
        </p:nvSpPr>
        <p:spPr>
          <a:xfrm>
            <a:off x="1737360" y="1691640"/>
            <a:ext cx="411480" cy="73152"/>
          </a:xfrm>
          <a:prstGeom prst="rect">
            <a:avLst/>
          </a:prstGeom>
          <a:solidFill>
            <a:schemeClr val="accent2"/>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chemeClr val="bg2"/>
          </a:solidFill>
          <a:ln/>
        </p:spPr>
      </p:sp>
      <p:sp>
        <p:nvSpPr>
          <p:cNvPr id="3" name="Shape 1"/>
          <p:cNvSpPr/>
          <p:nvPr/>
        </p:nvSpPr>
        <p:spPr>
          <a:xfrm>
            <a:off x="548640" y="960120"/>
            <a:ext cx="822960" cy="54864"/>
          </a:xfrm>
          <a:prstGeom prst="rect">
            <a:avLst/>
          </a:prstGeom>
          <a:solidFill>
            <a:schemeClr val="accent1"/>
          </a:solidFill>
          <a:ln/>
        </p:spPr>
      </p:sp>
      <p:sp>
        <p:nvSpPr>
          <p:cNvPr id="4" name="Shape 2"/>
          <p:cNvSpPr/>
          <p:nvPr/>
        </p:nvSpPr>
        <p:spPr>
          <a:xfrm>
            <a:off x="1371600" y="960120"/>
            <a:ext cx="320040" cy="54864"/>
          </a:xfrm>
          <a:prstGeom prst="rect">
            <a:avLst/>
          </a:prstGeom>
          <a:solidFill>
            <a:schemeClr val="accent2"/>
          </a:solidFill>
          <a:ln/>
        </p:spPr>
      </p:sp>
      <p:sp>
        <p:nvSpPr>
          <p:cNvPr id="5" name="Text 3"/>
          <p:cNvSpPr/>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chemeClr val="accent3"/>
                </a:solidFill>
              </a:rPr>
              <a:t>Context-Aware 데이터 증강 기반 산업용 결함 검출 연구</a:t>
            </a:r>
            <a:endParaRPr lang="en-US" sz="900" dirty="0"/>
          </a:p>
        </p:txBody>
      </p:sp>
      <p:sp>
        <p:nvSpPr>
          <p:cNvPr id="6" name="Text 4"/>
          <p:cNvSpPr/>
          <p:nvPr>
            <p:ph idx="104" type="body" hasCustomPrompt="1"/>
          </p:nvPr>
        </p:nvSpPr>
        <p:spPr>
          <a:xfrm>
            <a:off x="548640" y="109728"/>
            <a:ext cx="9144000" cy="274320"/>
          </a:xfrm>
          <a:prstGeom prst="rect">
            <a:avLst/>
          </a:prstGeom>
          <a:noFill/>
          <a:ln/>
        </p:spPr>
        <p:txBody>
          <a:bodyPr wrap="square" rtlCol="0"/>
          <a:lstStyle>
            <a:lvl1pPr indent="0" marL="0">
              <a:buNone/>
              <a:defRPr lang="en-US" sz="1200" b="1" dirty="0">
                <a:solidFill>
                  <a:schemeClr val="accent1"/>
                </a:solidFill>
              </a:defRPr>
            </a:lvl1pPr>
          </a:lstStyle>
          <a:p>
            <a:pPr indent="0" marL="0">
              <a:buNone/>
            </a:pPr>
            <a:endParaRPr lang="en-US" sz="1200" dirty="0"/>
          </a:p>
        </p:txBody>
      </p:sp>
      <p:sp>
        <p:nvSpPr>
          <p:cNvPr id="7" name="Text 4"/>
          <p:cNvSpPr/>
          <p:nvPr>
            <p:ph idx="105" type="title" hasCustomPrompt="1"/>
          </p:nvPr>
        </p:nvSpPr>
        <p:spPr>
          <a:xfrm>
            <a:off x="548640" y="365760"/>
            <a:ext cx="11064240" cy="530352"/>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4.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4.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4.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slideLayout" Target="../slideLayouts/slideLayout4.xml"/><Relationship Id="rId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4.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slideLayout" Target="../slideLayouts/slideLayout4.xml"/><Relationship Id="rId1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4.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4.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p:nvPr>
            <p:ph idx="102" type="title" hasCustomPrompt="1"/>
          </p:nvPr>
        </p:nvSpPr>
        <p:spPr>
          <a:xfrm>
            <a:off x="731520" y="2057400"/>
            <a:ext cx="10698480" cy="1463040"/>
          </a:xfrm>
          <a:prstGeom prst="rect">
            <a:avLst/>
          </a:prstGeom>
          <a:noFill/>
          <a:ln/>
        </p:spPr>
        <p:txBody>
          <a:bodyPr wrap="square" lIns="0" tIns="0" rIns="0" bIns="0" rtlCol="0" anchor="t"/>
          <a:lstStyle/>
          <a:p>
            <a:pPr algn="l" indent="0" marL="0">
              <a:buNone/>
            </a:pPr>
            <a:r>
              <a:rPr lang="en-US" sz="3800" b="1" dirty="0">
                <a:solidFill>
                  <a:schemeClr val="bg1"/>
                </a:solidFill>
              </a:rPr>
              <a:t>Context-Aware 데이터 증강 기반</a:t>
            </a:r>
            <a:endParaRPr lang="en-US" sz="3800" dirty="0"/>
          </a:p>
          <a:p>
            <a:pPr algn="l" indent="0" marL="0">
              <a:buNone/>
            </a:pPr>
            <a:r>
              <a:rPr lang="en-US" sz="3800" b="1" dirty="0">
                <a:solidFill>
                  <a:schemeClr val="bg1"/>
                </a:solidFill>
              </a:rPr>
              <a:t>산업용 결함 검출 연구</a:t>
            </a:r>
            <a:endParaRPr lang="en-US" sz="3800" dirty="0"/>
          </a:p>
        </p:txBody>
      </p:sp>
      <p:sp>
        <p:nvSpPr>
          <p:cNvPr id="3" name="Text 2"/>
          <p:cNvSpPr/>
          <p:nvPr>
            <p:ph idx="103" type="body" hasCustomPrompt="1"/>
          </p:nvPr>
        </p:nvSpPr>
        <p:spPr>
          <a:xfrm>
            <a:off x="731520" y="3657600"/>
            <a:ext cx="10698480" cy="548640"/>
          </a:xfrm>
          <a:prstGeom prst="rect">
            <a:avLst/>
          </a:prstGeom>
          <a:noFill/>
          <a:ln/>
        </p:spPr>
        <p:txBody>
          <a:bodyPr wrap="square" lIns="0" tIns="0" rIns="0" bIns="0" rtlCol="0"/>
          <a:lstStyle/>
          <a:p>
            <a:pPr indent="0" marL="0">
              <a:buNone/>
            </a:pPr>
            <a:r>
              <a:rPr lang="en-US" sz="2000" dirty="0">
                <a:solidFill>
                  <a:schemeClr val="accent4"/>
                </a:solidFill>
              </a:rPr>
              <a:t>결함 생성에서 형태·문맥 호환성 기반 배치까지</a:t>
            </a:r>
            <a:endParaRPr lang="en-US" sz="2000" dirty="0"/>
          </a:p>
        </p:txBody>
      </p:sp>
      <p:sp>
        <p:nvSpPr>
          <p:cNvPr id="4" name="Text 2"/>
          <p:cNvSpPr/>
          <p:nvPr>
            <p:ph idx="104" type="body" hasCustomPrompt="1"/>
          </p:nvPr>
        </p:nvSpPr>
        <p:spPr>
          <a:xfrm>
            <a:off x="731520" y="5212080"/>
            <a:ext cx="10698480" cy="640080"/>
          </a:xfrm>
          <a:prstGeom prst="rect">
            <a:avLst/>
          </a:prstGeom>
          <a:noFill/>
          <a:ln/>
        </p:spPr>
        <p:txBody>
          <a:bodyPr wrap="square" lIns="0" tIns="0" rIns="0" bIns="0" rtlCol="0"/>
          <a:lstStyle/>
          <a:p>
            <a:pPr indent="0" marL="0">
              <a:buNone/>
            </a:pPr>
            <a:r>
              <a:rPr lang="en-US" sz="1500" dirty="0">
                <a:solidFill>
                  <a:schemeClr val="bg1"/>
                </a:solidFill>
              </a:rPr>
              <a:t>한호준 · 한국기술교육대학교 일반대학원 컴퓨터공학과</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OVERVIEW</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본론 4개 장의 구성</a:t>
            </a:r>
            <a:endParaRPr lang="en-US" sz="2400" dirty="0"/>
          </a:p>
        </p:txBody>
      </p:sp>
      <p:sp>
        <p:nvSpPr>
          <p:cNvPr id="5" name="Shape 2"/>
          <p:cNvSpPr/>
          <p:nvPr/>
        </p:nvSpPr>
        <p:spPr>
          <a:xfrm>
            <a:off x="548640" y="1325880"/>
            <a:ext cx="2560320" cy="4343400"/>
          </a:xfrm>
          <a:prstGeom prst="roundRect">
            <a:avLst>
              <a:gd name="adj" fmla="val 2857"/>
            </a:avLst>
          </a:prstGeom>
          <a:solidFill>
            <a:schemeClr val="bg2"/>
          </a:solidFill>
          <a:ln/>
        </p:spPr>
      </p:sp>
      <p:sp>
        <p:nvSpPr>
          <p:cNvPr id="6" name="Shape 3"/>
          <p:cNvSpPr/>
          <p:nvPr/>
        </p:nvSpPr>
        <p:spPr>
          <a:xfrm>
            <a:off x="731520" y="1527048"/>
            <a:ext cx="914400" cy="329184"/>
          </a:xfrm>
          <a:prstGeom prst="roundRect">
            <a:avLst>
              <a:gd name="adj" fmla="val 50000"/>
            </a:avLst>
          </a:prstGeom>
          <a:solidFill>
            <a:schemeClr val="accent3"/>
          </a:solidFill>
          <a:ln/>
        </p:spPr>
      </p:sp>
      <p:sp>
        <p:nvSpPr>
          <p:cNvPr id="7" name="Text 4"/>
          <p:cNvSpPr txBox="1"/>
          <p:nvPr/>
        </p:nvSpPr>
        <p:spPr>
          <a:xfrm>
            <a:off x="731520" y="1527048"/>
            <a:ext cx="914400" cy="329184"/>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제3장</a:t>
            </a:r>
            <a:endParaRPr lang="en-US" sz="1200" dirty="0"/>
          </a:p>
        </p:txBody>
      </p:sp>
      <p:sp>
        <p:nvSpPr>
          <p:cNvPr id="8" name="Text 5"/>
          <p:cNvSpPr txBox="1"/>
          <p:nvPr/>
        </p:nvSpPr>
        <p:spPr>
          <a:xfrm>
            <a:off x="731520" y="2011680"/>
            <a:ext cx="2194560" cy="777240"/>
          </a:xfrm>
          <a:prstGeom prst="rect">
            <a:avLst/>
          </a:prstGeom>
          <a:noFill/>
          <a:ln/>
        </p:spPr>
        <p:txBody>
          <a:bodyPr wrap="square" lIns="0" tIns="0" rIns="0" bIns="0" rtlCol="0" anchor="ctr"/>
          <a:lstStyle/>
          <a:p>
            <a:pPr algn="l" indent="0" marL="0">
              <a:lnSpc>
                <a:spcPct val="110000"/>
              </a:lnSpc>
              <a:buNone/>
            </a:pPr>
            <a:r>
              <a:rPr lang="en-US" sz="1600" b="1" dirty="0">
                <a:solidFill>
                  <a:schemeClr val="tx1"/>
                </a:solidFill>
              </a:rPr>
              <a:t>객체탐지 모델 기반</a:t>
            </a:r>
            <a:endParaRPr lang="en-US" sz="1600" dirty="0"/>
          </a:p>
          <a:p>
            <a:pPr algn="l" indent="0" marL="0">
              <a:lnSpc>
                <a:spcPct val="110000"/>
              </a:lnSpc>
              <a:buNone/>
            </a:pPr>
            <a:r>
              <a:rPr lang="en-US" sz="1600" b="1" dirty="0">
                <a:solidFill>
                  <a:schemeClr val="tx1"/>
                </a:solidFill>
              </a:rPr>
              <a:t>장비 결함검출</a:t>
            </a:r>
            <a:endParaRPr lang="en-US" sz="1600" dirty="0"/>
          </a:p>
        </p:txBody>
      </p:sp>
      <p:sp>
        <p:nvSpPr>
          <p:cNvPr id="9" name="Text 6"/>
          <p:cNvSpPr txBox="1"/>
          <p:nvPr/>
        </p:nvSpPr>
        <p:spPr>
          <a:xfrm>
            <a:off x="731520" y="2807208"/>
            <a:ext cx="2194560" cy="27432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JANT 29(6), 2025</a:t>
            </a:r>
            <a:endParaRPr lang="en-US" sz="1100" dirty="0"/>
          </a:p>
        </p:txBody>
      </p:sp>
      <p:sp>
        <p:nvSpPr>
          <p:cNvPr id="10" name="Text 7"/>
          <p:cNvSpPr txBox="1"/>
          <p:nvPr/>
        </p:nvSpPr>
        <p:spPr>
          <a:xfrm>
            <a:off x="731520" y="3227832"/>
            <a:ext cx="2194560" cy="256032"/>
          </a:xfrm>
          <a:prstGeom prst="rect">
            <a:avLst/>
          </a:prstGeom>
          <a:noFill/>
          <a:ln/>
        </p:spPr>
        <p:txBody>
          <a:bodyPr wrap="square" lIns="0" tIns="0" rIns="0" bIns="0" rtlCol="0" anchor="t"/>
          <a:lstStyle/>
          <a:p>
            <a:pPr algn="l" indent="0" marL="0">
              <a:lnSpc>
                <a:spcPct val="110000"/>
              </a:lnSpc>
              <a:buNone/>
            </a:pPr>
            <a:r>
              <a:rPr lang="en-US" sz="1100" b="1" dirty="0">
                <a:solidFill>
                  <a:schemeClr val="accent2"/>
                </a:solidFill>
              </a:rPr>
              <a:t>핵심 질문</a:t>
            </a:r>
            <a:endParaRPr lang="en-US" sz="1100" dirty="0"/>
          </a:p>
        </p:txBody>
      </p:sp>
      <p:sp>
        <p:nvSpPr>
          <p:cNvPr id="11" name="Text 8"/>
          <p:cNvSpPr txBox="1"/>
          <p:nvPr/>
        </p:nvSpPr>
        <p:spPr>
          <a:xfrm>
            <a:off x="731520" y="3502152"/>
            <a:ext cx="2194560" cy="685800"/>
          </a:xfrm>
          <a:prstGeom prst="rect">
            <a:avLst/>
          </a:prstGeom>
          <a:noFill/>
          <a:ln/>
        </p:spPr>
        <p:txBody>
          <a:bodyPr wrap="square" lIns="0" tIns="0" rIns="0" bIns="0" rtlCol="0" anchor="t"/>
          <a:lstStyle/>
          <a:p>
            <a:pPr algn="l" indent="0" marL="0">
              <a:lnSpc>
                <a:spcPct val="110000"/>
              </a:lnSpc>
              <a:buNone/>
            </a:pPr>
            <a:r>
              <a:rPr lang="en-US" sz="1400" b="1" dirty="0">
                <a:solidFill>
                  <a:schemeClr val="accent1"/>
                </a:solidFill>
              </a:rPr>
              <a:t>생성 증강이 검출에</a:t>
            </a:r>
            <a:endParaRPr lang="en-US" sz="1400" dirty="0"/>
          </a:p>
          <a:p>
            <a:pPr algn="l" indent="0" marL="0">
              <a:lnSpc>
                <a:spcPct val="110000"/>
              </a:lnSpc>
              <a:buNone/>
            </a:pPr>
            <a:r>
              <a:rPr lang="en-US" sz="1400" b="1" dirty="0">
                <a:solidFill>
                  <a:schemeClr val="accent1"/>
                </a:solidFill>
              </a:rPr>
              <a:t>효과가 있나</a:t>
            </a:r>
            <a:endParaRPr lang="en-US" sz="1400" dirty="0"/>
          </a:p>
        </p:txBody>
      </p:sp>
      <p:sp>
        <p:nvSpPr>
          <p:cNvPr id="12" name="Text 9"/>
          <p:cNvSpPr txBox="1"/>
          <p:nvPr/>
        </p:nvSpPr>
        <p:spPr>
          <a:xfrm>
            <a:off x="731520" y="4297680"/>
            <a:ext cx="2194560" cy="256032"/>
          </a:xfrm>
          <a:prstGeom prst="rect">
            <a:avLst/>
          </a:prstGeom>
          <a:noFill/>
          <a:ln/>
        </p:spPr>
        <p:txBody>
          <a:bodyPr wrap="square" lIns="0" tIns="0" rIns="0" bIns="0" rtlCol="0" anchor="t"/>
          <a:lstStyle/>
          <a:p>
            <a:pPr algn="l" indent="0" marL="0">
              <a:lnSpc>
                <a:spcPct val="110000"/>
              </a:lnSpc>
              <a:buNone/>
            </a:pPr>
            <a:r>
              <a:rPr lang="en-US" sz="1100" b="1" dirty="0">
                <a:solidFill>
                  <a:schemeClr val="accent2"/>
                </a:solidFill>
              </a:rPr>
              <a:t>핵심 방법</a:t>
            </a:r>
            <a:endParaRPr lang="en-US" sz="1100" dirty="0"/>
          </a:p>
        </p:txBody>
      </p:sp>
      <p:sp>
        <p:nvSpPr>
          <p:cNvPr id="13" name="Text 10"/>
          <p:cNvSpPr txBox="1"/>
          <p:nvPr/>
        </p:nvSpPr>
        <p:spPr>
          <a:xfrm>
            <a:off x="731520" y="4572000"/>
            <a:ext cx="2194560" cy="100584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GAN·Diffusion 결함 패치 생성 + 라벨 위치 재배치, YOLOv8</a:t>
            </a:r>
            <a:endParaRPr lang="en-US" sz="1300" dirty="0"/>
          </a:p>
        </p:txBody>
      </p:sp>
      <p:sp>
        <p:nvSpPr>
          <p:cNvPr id="14" name="Shape 11"/>
          <p:cNvSpPr/>
          <p:nvPr/>
        </p:nvSpPr>
        <p:spPr>
          <a:xfrm>
            <a:off x="3145536" y="3840480"/>
            <a:ext cx="210312" cy="0"/>
          </a:xfrm>
          <a:prstGeom prst="line">
            <a:avLst/>
          </a:prstGeom>
          <a:noFill/>
          <a:ln w="19050">
            <a:solidFill>
              <a:srgbClr val="5B6B7A"/>
            </a:solidFill>
            <a:prstDash val="solid"/>
            <a:tailEnd type="triangle"/>
          </a:ln>
        </p:spPr>
      </p:sp>
      <p:sp>
        <p:nvSpPr>
          <p:cNvPr id="15" name="Shape 12"/>
          <p:cNvSpPr/>
          <p:nvPr/>
        </p:nvSpPr>
        <p:spPr>
          <a:xfrm>
            <a:off x="3392424" y="1325880"/>
            <a:ext cx="2560320" cy="4343400"/>
          </a:xfrm>
          <a:prstGeom prst="roundRect">
            <a:avLst>
              <a:gd name="adj" fmla="val 2857"/>
            </a:avLst>
          </a:prstGeom>
          <a:solidFill>
            <a:schemeClr val="bg2"/>
          </a:solidFill>
          <a:ln/>
        </p:spPr>
      </p:sp>
      <p:sp>
        <p:nvSpPr>
          <p:cNvPr id="16" name="Shape 13"/>
          <p:cNvSpPr/>
          <p:nvPr/>
        </p:nvSpPr>
        <p:spPr>
          <a:xfrm>
            <a:off x="3575304" y="1527048"/>
            <a:ext cx="914400" cy="329184"/>
          </a:xfrm>
          <a:prstGeom prst="roundRect">
            <a:avLst>
              <a:gd name="adj" fmla="val 50000"/>
            </a:avLst>
          </a:prstGeom>
          <a:solidFill>
            <a:schemeClr val="accent3"/>
          </a:solidFill>
          <a:ln/>
        </p:spPr>
      </p:sp>
      <p:sp>
        <p:nvSpPr>
          <p:cNvPr id="17" name="Text 14"/>
          <p:cNvSpPr txBox="1"/>
          <p:nvPr/>
        </p:nvSpPr>
        <p:spPr>
          <a:xfrm>
            <a:off x="3575304" y="1527048"/>
            <a:ext cx="914400" cy="329184"/>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제4장</a:t>
            </a:r>
            <a:endParaRPr lang="en-US" sz="1200" dirty="0"/>
          </a:p>
        </p:txBody>
      </p:sp>
      <p:sp>
        <p:nvSpPr>
          <p:cNvPr id="18" name="Text 15"/>
          <p:cNvSpPr txBox="1"/>
          <p:nvPr/>
        </p:nvSpPr>
        <p:spPr>
          <a:xfrm>
            <a:off x="3575304" y="2011680"/>
            <a:ext cx="2194560" cy="777240"/>
          </a:xfrm>
          <a:prstGeom prst="rect">
            <a:avLst/>
          </a:prstGeom>
          <a:noFill/>
          <a:ln/>
        </p:spPr>
        <p:txBody>
          <a:bodyPr wrap="square" lIns="0" tIns="0" rIns="0" bIns="0" rtlCol="0" anchor="ctr"/>
          <a:lstStyle/>
          <a:p>
            <a:pPr algn="l" indent="0" marL="0">
              <a:lnSpc>
                <a:spcPct val="110000"/>
              </a:lnSpc>
              <a:buNone/>
            </a:pPr>
            <a:r>
              <a:rPr lang="en-US" sz="1600" b="1" dirty="0">
                <a:solidFill>
                  <a:schemeClr val="tx1"/>
                </a:solidFill>
              </a:rPr>
              <a:t>결함검출 성능 개선을 위한</a:t>
            </a:r>
            <a:endParaRPr lang="en-US" sz="1600" dirty="0"/>
          </a:p>
          <a:p>
            <a:pPr algn="l" indent="0" marL="0">
              <a:lnSpc>
                <a:spcPct val="110000"/>
              </a:lnSpc>
              <a:buNone/>
            </a:pPr>
            <a:r>
              <a:rPr lang="en-US" sz="1600" b="1" dirty="0">
                <a:solidFill>
                  <a:schemeClr val="tx1"/>
                </a:solidFill>
              </a:rPr>
              <a:t>결함데이터 증강</a:t>
            </a:r>
            <a:endParaRPr lang="en-US" sz="1600" dirty="0"/>
          </a:p>
        </p:txBody>
      </p:sp>
      <p:sp>
        <p:nvSpPr>
          <p:cNvPr id="19" name="Text 16"/>
          <p:cNvSpPr txBox="1"/>
          <p:nvPr/>
        </p:nvSpPr>
        <p:spPr>
          <a:xfrm>
            <a:off x="3575304" y="2807208"/>
            <a:ext cx="2194560" cy="27432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JANT 30(1), 2026</a:t>
            </a:r>
            <a:endParaRPr lang="en-US" sz="1100" dirty="0"/>
          </a:p>
        </p:txBody>
      </p:sp>
      <p:sp>
        <p:nvSpPr>
          <p:cNvPr id="20" name="Text 17"/>
          <p:cNvSpPr txBox="1"/>
          <p:nvPr/>
        </p:nvSpPr>
        <p:spPr>
          <a:xfrm>
            <a:off x="3575304" y="3227832"/>
            <a:ext cx="2194560" cy="256032"/>
          </a:xfrm>
          <a:prstGeom prst="rect">
            <a:avLst/>
          </a:prstGeom>
          <a:noFill/>
          <a:ln/>
        </p:spPr>
        <p:txBody>
          <a:bodyPr wrap="square" lIns="0" tIns="0" rIns="0" bIns="0" rtlCol="0" anchor="t"/>
          <a:lstStyle/>
          <a:p>
            <a:pPr algn="l" indent="0" marL="0">
              <a:lnSpc>
                <a:spcPct val="110000"/>
              </a:lnSpc>
              <a:buNone/>
            </a:pPr>
            <a:r>
              <a:rPr lang="en-US" sz="1100" b="1" dirty="0">
                <a:solidFill>
                  <a:schemeClr val="accent2"/>
                </a:solidFill>
              </a:rPr>
              <a:t>핵심 질문</a:t>
            </a:r>
            <a:endParaRPr lang="en-US" sz="1100" dirty="0"/>
          </a:p>
        </p:txBody>
      </p:sp>
      <p:sp>
        <p:nvSpPr>
          <p:cNvPr id="21" name="Text 18"/>
          <p:cNvSpPr txBox="1"/>
          <p:nvPr/>
        </p:nvSpPr>
        <p:spPr>
          <a:xfrm>
            <a:off x="3575304" y="3502152"/>
            <a:ext cx="2194560" cy="685800"/>
          </a:xfrm>
          <a:prstGeom prst="rect">
            <a:avLst/>
          </a:prstGeom>
          <a:noFill/>
          <a:ln/>
        </p:spPr>
        <p:txBody>
          <a:bodyPr wrap="square" lIns="0" tIns="0" rIns="0" bIns="0" rtlCol="0" anchor="t"/>
          <a:lstStyle/>
          <a:p>
            <a:pPr algn="l" indent="0" marL="0">
              <a:lnSpc>
                <a:spcPct val="110000"/>
              </a:lnSpc>
              <a:buNone/>
            </a:pPr>
            <a:r>
              <a:rPr lang="en-US" sz="1400" b="1" dirty="0">
                <a:solidFill>
                  <a:schemeClr val="accent1"/>
                </a:solidFill>
              </a:rPr>
              <a:t>어디에 붙여야</a:t>
            </a:r>
            <a:endParaRPr lang="en-US" sz="1400" dirty="0"/>
          </a:p>
          <a:p>
            <a:pPr algn="l" indent="0" marL="0">
              <a:lnSpc>
                <a:spcPct val="110000"/>
              </a:lnSpc>
              <a:buNone/>
            </a:pPr>
            <a:r>
              <a:rPr lang="en-US" sz="1400" b="1" dirty="0">
                <a:solidFill>
                  <a:schemeClr val="accent1"/>
                </a:solidFill>
              </a:rPr>
              <a:t>자연스러운가</a:t>
            </a:r>
            <a:endParaRPr lang="en-US" sz="1400" dirty="0"/>
          </a:p>
        </p:txBody>
      </p:sp>
      <p:sp>
        <p:nvSpPr>
          <p:cNvPr id="22" name="Text 19"/>
          <p:cNvSpPr txBox="1"/>
          <p:nvPr/>
        </p:nvSpPr>
        <p:spPr>
          <a:xfrm>
            <a:off x="3575304" y="4297680"/>
            <a:ext cx="2194560" cy="256032"/>
          </a:xfrm>
          <a:prstGeom prst="rect">
            <a:avLst/>
          </a:prstGeom>
          <a:noFill/>
          <a:ln/>
        </p:spPr>
        <p:txBody>
          <a:bodyPr wrap="square" lIns="0" tIns="0" rIns="0" bIns="0" rtlCol="0" anchor="t"/>
          <a:lstStyle/>
          <a:p>
            <a:pPr algn="l" indent="0" marL="0">
              <a:lnSpc>
                <a:spcPct val="110000"/>
              </a:lnSpc>
              <a:buNone/>
            </a:pPr>
            <a:r>
              <a:rPr lang="en-US" sz="1100" b="1" dirty="0">
                <a:solidFill>
                  <a:schemeClr val="accent2"/>
                </a:solidFill>
              </a:rPr>
              <a:t>핵심 방법</a:t>
            </a:r>
            <a:endParaRPr lang="en-US" sz="1100" dirty="0"/>
          </a:p>
        </p:txBody>
      </p:sp>
      <p:sp>
        <p:nvSpPr>
          <p:cNvPr id="23" name="Text 20"/>
          <p:cNvSpPr txBox="1"/>
          <p:nvPr/>
        </p:nvSpPr>
        <p:spPr>
          <a:xfrm>
            <a:off x="3575304" y="4572000"/>
            <a:ext cx="2194560" cy="100584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ControlNet 생성 + 밝기 유사도 유효 ROI + Poisson blending</a:t>
            </a:r>
            <a:endParaRPr lang="en-US" sz="1300" dirty="0"/>
          </a:p>
        </p:txBody>
      </p:sp>
      <p:sp>
        <p:nvSpPr>
          <p:cNvPr id="24" name="Shape 21"/>
          <p:cNvSpPr/>
          <p:nvPr/>
        </p:nvSpPr>
        <p:spPr>
          <a:xfrm>
            <a:off x="5989320" y="3840480"/>
            <a:ext cx="210312" cy="0"/>
          </a:xfrm>
          <a:prstGeom prst="line">
            <a:avLst/>
          </a:prstGeom>
          <a:noFill/>
          <a:ln w="19050">
            <a:solidFill>
              <a:srgbClr val="5B6B7A"/>
            </a:solidFill>
            <a:prstDash val="solid"/>
            <a:tailEnd type="triangle"/>
          </a:ln>
        </p:spPr>
      </p:sp>
      <p:sp>
        <p:nvSpPr>
          <p:cNvPr id="25" name="Shape 22"/>
          <p:cNvSpPr/>
          <p:nvPr/>
        </p:nvSpPr>
        <p:spPr>
          <a:xfrm>
            <a:off x="6236208" y="1325880"/>
            <a:ext cx="2560320" cy="4343400"/>
          </a:xfrm>
          <a:prstGeom prst="roundRect">
            <a:avLst>
              <a:gd name="adj" fmla="val 2857"/>
            </a:avLst>
          </a:prstGeom>
          <a:solidFill>
            <a:schemeClr val="bg2"/>
          </a:solidFill>
          <a:ln/>
        </p:spPr>
      </p:sp>
      <p:sp>
        <p:nvSpPr>
          <p:cNvPr id="26" name="Shape 23"/>
          <p:cNvSpPr/>
          <p:nvPr/>
        </p:nvSpPr>
        <p:spPr>
          <a:xfrm>
            <a:off x="6419088" y="1527048"/>
            <a:ext cx="914400" cy="329184"/>
          </a:xfrm>
          <a:prstGeom prst="roundRect">
            <a:avLst>
              <a:gd name="adj" fmla="val 50000"/>
            </a:avLst>
          </a:prstGeom>
          <a:solidFill>
            <a:schemeClr val="accent1"/>
          </a:solidFill>
          <a:ln/>
        </p:spPr>
      </p:sp>
      <p:sp>
        <p:nvSpPr>
          <p:cNvPr id="27" name="Text 24"/>
          <p:cNvSpPr txBox="1"/>
          <p:nvPr/>
        </p:nvSpPr>
        <p:spPr>
          <a:xfrm>
            <a:off x="6419088" y="1527048"/>
            <a:ext cx="914400" cy="329184"/>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제5장</a:t>
            </a:r>
            <a:endParaRPr lang="en-US" sz="1200" dirty="0"/>
          </a:p>
        </p:txBody>
      </p:sp>
      <p:sp>
        <p:nvSpPr>
          <p:cNvPr id="28" name="Text 25"/>
          <p:cNvSpPr txBox="1"/>
          <p:nvPr/>
        </p:nvSpPr>
        <p:spPr>
          <a:xfrm>
            <a:off x="6419088" y="2011680"/>
            <a:ext cx="2194560" cy="777240"/>
          </a:xfrm>
          <a:prstGeom prst="rect">
            <a:avLst/>
          </a:prstGeom>
          <a:noFill/>
          <a:ln/>
        </p:spPr>
        <p:txBody>
          <a:bodyPr wrap="square" lIns="0" tIns="0" rIns="0" bIns="0" rtlCol="0" anchor="ctr"/>
          <a:lstStyle/>
          <a:p>
            <a:pPr algn="l" indent="0" marL="0">
              <a:lnSpc>
                <a:spcPct val="110000"/>
              </a:lnSpc>
              <a:buNone/>
            </a:pPr>
            <a:r>
              <a:rPr lang="en-US" sz="1600" b="1" dirty="0">
                <a:solidFill>
                  <a:schemeClr val="tx1"/>
                </a:solidFill>
              </a:rPr>
              <a:t>AROMA</a:t>
            </a:r>
            <a:endParaRPr lang="en-US" sz="1600" dirty="0"/>
          </a:p>
        </p:txBody>
      </p:sp>
      <p:sp>
        <p:nvSpPr>
          <p:cNvPr id="29" name="Text 26"/>
          <p:cNvSpPr txBox="1"/>
          <p:nvPr/>
        </p:nvSpPr>
        <p:spPr>
          <a:xfrm>
            <a:off x="6419088" y="2807208"/>
            <a:ext cx="2194560" cy="27432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Appl. Sci. 16(18), 2026</a:t>
            </a:r>
            <a:endParaRPr lang="en-US" sz="1100" dirty="0"/>
          </a:p>
        </p:txBody>
      </p:sp>
      <p:sp>
        <p:nvSpPr>
          <p:cNvPr id="30" name="Text 27"/>
          <p:cNvSpPr txBox="1"/>
          <p:nvPr/>
        </p:nvSpPr>
        <p:spPr>
          <a:xfrm>
            <a:off x="6419088" y="3227832"/>
            <a:ext cx="2194560" cy="256032"/>
          </a:xfrm>
          <a:prstGeom prst="rect">
            <a:avLst/>
          </a:prstGeom>
          <a:noFill/>
          <a:ln/>
        </p:spPr>
        <p:txBody>
          <a:bodyPr wrap="square" lIns="0" tIns="0" rIns="0" bIns="0" rtlCol="0" anchor="t"/>
          <a:lstStyle/>
          <a:p>
            <a:pPr algn="l" indent="0" marL="0">
              <a:lnSpc>
                <a:spcPct val="110000"/>
              </a:lnSpc>
              <a:buNone/>
            </a:pPr>
            <a:r>
              <a:rPr lang="en-US" sz="1100" b="1" dirty="0">
                <a:solidFill>
                  <a:schemeClr val="accent2"/>
                </a:solidFill>
              </a:rPr>
              <a:t>핵심 질문</a:t>
            </a:r>
            <a:endParaRPr lang="en-US" sz="1100" dirty="0"/>
          </a:p>
        </p:txBody>
      </p:sp>
      <p:sp>
        <p:nvSpPr>
          <p:cNvPr id="31" name="Text 28"/>
          <p:cNvSpPr txBox="1"/>
          <p:nvPr/>
        </p:nvSpPr>
        <p:spPr>
          <a:xfrm>
            <a:off x="6419088" y="3502152"/>
            <a:ext cx="2194560" cy="685800"/>
          </a:xfrm>
          <a:prstGeom prst="rect">
            <a:avLst/>
          </a:prstGeom>
          <a:noFill/>
          <a:ln/>
        </p:spPr>
        <p:txBody>
          <a:bodyPr wrap="square" lIns="0" tIns="0" rIns="0" bIns="0" rtlCol="0" anchor="t"/>
          <a:lstStyle/>
          <a:p>
            <a:pPr algn="l" indent="0" marL="0">
              <a:lnSpc>
                <a:spcPct val="110000"/>
              </a:lnSpc>
              <a:buNone/>
            </a:pPr>
            <a:r>
              <a:rPr lang="en-US" sz="1400" b="1" dirty="0">
                <a:solidFill>
                  <a:schemeClr val="accent1"/>
                </a:solidFill>
              </a:rPr>
              <a:t>배치 규칙을 데이터에서</a:t>
            </a:r>
            <a:endParaRPr lang="en-US" sz="1400" dirty="0"/>
          </a:p>
          <a:p>
            <a:pPr algn="l" indent="0" marL="0">
              <a:lnSpc>
                <a:spcPct val="110000"/>
              </a:lnSpc>
              <a:buNone/>
            </a:pPr>
            <a:r>
              <a:rPr lang="en-US" sz="1400" b="1" dirty="0">
                <a:solidFill>
                  <a:schemeClr val="accent1"/>
                </a:solidFill>
              </a:rPr>
              <a:t>자동 도출할 수 있나</a:t>
            </a:r>
            <a:endParaRPr lang="en-US" sz="1400" dirty="0"/>
          </a:p>
        </p:txBody>
      </p:sp>
      <p:sp>
        <p:nvSpPr>
          <p:cNvPr id="32" name="Text 29"/>
          <p:cNvSpPr txBox="1"/>
          <p:nvPr/>
        </p:nvSpPr>
        <p:spPr>
          <a:xfrm>
            <a:off x="6419088" y="4297680"/>
            <a:ext cx="2194560" cy="256032"/>
          </a:xfrm>
          <a:prstGeom prst="rect">
            <a:avLst/>
          </a:prstGeom>
          <a:noFill/>
          <a:ln/>
        </p:spPr>
        <p:txBody>
          <a:bodyPr wrap="square" lIns="0" tIns="0" rIns="0" bIns="0" rtlCol="0" anchor="t"/>
          <a:lstStyle/>
          <a:p>
            <a:pPr algn="l" indent="0" marL="0">
              <a:lnSpc>
                <a:spcPct val="110000"/>
              </a:lnSpc>
              <a:buNone/>
            </a:pPr>
            <a:r>
              <a:rPr lang="en-US" sz="1100" b="1" dirty="0">
                <a:solidFill>
                  <a:schemeClr val="accent2"/>
                </a:solidFill>
              </a:rPr>
              <a:t>핵심 방법</a:t>
            </a:r>
            <a:endParaRPr lang="en-US" sz="1100" dirty="0"/>
          </a:p>
        </p:txBody>
      </p:sp>
      <p:sp>
        <p:nvSpPr>
          <p:cNvPr id="33" name="Text 30"/>
          <p:cNvSpPr txBox="1"/>
          <p:nvPr/>
        </p:nvSpPr>
        <p:spPr>
          <a:xfrm>
            <a:off x="6419088" y="4572000"/>
            <a:ext cx="2194560" cy="100584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결함 형태 × 배경 문맥 공동출현 통계 → 대칭 호환성 게이트, 5개 도메인</a:t>
            </a:r>
            <a:endParaRPr lang="en-US" sz="1300" dirty="0"/>
          </a:p>
        </p:txBody>
      </p:sp>
      <p:sp>
        <p:nvSpPr>
          <p:cNvPr id="34" name="Shape 31"/>
          <p:cNvSpPr/>
          <p:nvPr/>
        </p:nvSpPr>
        <p:spPr>
          <a:xfrm>
            <a:off x="8833104" y="3840480"/>
            <a:ext cx="210312" cy="0"/>
          </a:xfrm>
          <a:prstGeom prst="line">
            <a:avLst/>
          </a:prstGeom>
          <a:noFill/>
          <a:ln w="19050">
            <a:solidFill>
              <a:srgbClr val="5B6B7A"/>
            </a:solidFill>
            <a:prstDash val="solid"/>
            <a:tailEnd type="triangle"/>
          </a:ln>
        </p:spPr>
      </p:sp>
      <p:sp>
        <p:nvSpPr>
          <p:cNvPr id="35" name="Shape 32"/>
          <p:cNvSpPr/>
          <p:nvPr/>
        </p:nvSpPr>
        <p:spPr>
          <a:xfrm>
            <a:off x="9079992" y="1325880"/>
            <a:ext cx="2560320" cy="4343400"/>
          </a:xfrm>
          <a:prstGeom prst="roundRect">
            <a:avLst>
              <a:gd name="adj" fmla="val 2857"/>
            </a:avLst>
          </a:prstGeom>
          <a:solidFill>
            <a:schemeClr val="bg2"/>
          </a:solidFill>
          <a:ln/>
        </p:spPr>
      </p:sp>
      <p:sp>
        <p:nvSpPr>
          <p:cNvPr id="36" name="Shape 33"/>
          <p:cNvSpPr/>
          <p:nvPr/>
        </p:nvSpPr>
        <p:spPr>
          <a:xfrm>
            <a:off x="9262872" y="1527048"/>
            <a:ext cx="914400" cy="329184"/>
          </a:xfrm>
          <a:prstGeom prst="roundRect">
            <a:avLst>
              <a:gd name="adj" fmla="val 50000"/>
            </a:avLst>
          </a:prstGeom>
          <a:solidFill>
            <a:schemeClr val="accent1"/>
          </a:solidFill>
          <a:ln/>
        </p:spPr>
      </p:sp>
      <p:sp>
        <p:nvSpPr>
          <p:cNvPr id="37" name="Text 34"/>
          <p:cNvSpPr txBox="1"/>
          <p:nvPr/>
        </p:nvSpPr>
        <p:spPr>
          <a:xfrm>
            <a:off x="9262872" y="1527048"/>
            <a:ext cx="914400" cy="329184"/>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제6장</a:t>
            </a:r>
            <a:endParaRPr lang="en-US" sz="1200" dirty="0"/>
          </a:p>
        </p:txBody>
      </p:sp>
      <p:sp>
        <p:nvSpPr>
          <p:cNvPr id="38" name="Text 35"/>
          <p:cNvSpPr txBox="1"/>
          <p:nvPr/>
        </p:nvSpPr>
        <p:spPr>
          <a:xfrm>
            <a:off x="9262872" y="2011680"/>
            <a:ext cx="2194560" cy="777240"/>
          </a:xfrm>
          <a:prstGeom prst="rect">
            <a:avLst/>
          </a:prstGeom>
          <a:noFill/>
          <a:ln/>
        </p:spPr>
        <p:txBody>
          <a:bodyPr wrap="square" lIns="0" tIns="0" rIns="0" bIns="0" rtlCol="0" anchor="ctr"/>
          <a:lstStyle/>
          <a:p>
            <a:pPr algn="l" indent="0" marL="0">
              <a:lnSpc>
                <a:spcPct val="110000"/>
              </a:lnSpc>
              <a:buNone/>
            </a:pPr>
            <a:r>
              <a:rPr lang="en-US" sz="1600" b="1" dirty="0">
                <a:solidFill>
                  <a:schemeClr val="tx1"/>
                </a:solidFill>
              </a:rPr>
              <a:t>CASDA</a:t>
            </a:r>
            <a:endParaRPr lang="en-US" sz="1600" dirty="0"/>
          </a:p>
        </p:txBody>
      </p:sp>
      <p:sp>
        <p:nvSpPr>
          <p:cNvPr id="39" name="Text 36"/>
          <p:cNvSpPr txBox="1"/>
          <p:nvPr/>
        </p:nvSpPr>
        <p:spPr>
          <a:xfrm>
            <a:off x="9262872" y="2807208"/>
            <a:ext cx="2194560" cy="27432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Appl. Sci. 16(12), 2026</a:t>
            </a:r>
            <a:endParaRPr lang="en-US" sz="1100" dirty="0"/>
          </a:p>
        </p:txBody>
      </p:sp>
      <p:sp>
        <p:nvSpPr>
          <p:cNvPr id="40" name="Text 37"/>
          <p:cNvSpPr txBox="1"/>
          <p:nvPr/>
        </p:nvSpPr>
        <p:spPr>
          <a:xfrm>
            <a:off x="9262872" y="3227832"/>
            <a:ext cx="2194560" cy="256032"/>
          </a:xfrm>
          <a:prstGeom prst="rect">
            <a:avLst/>
          </a:prstGeom>
          <a:noFill/>
          <a:ln/>
        </p:spPr>
        <p:txBody>
          <a:bodyPr wrap="square" lIns="0" tIns="0" rIns="0" bIns="0" rtlCol="0" anchor="t"/>
          <a:lstStyle/>
          <a:p>
            <a:pPr algn="l" indent="0" marL="0">
              <a:lnSpc>
                <a:spcPct val="110000"/>
              </a:lnSpc>
              <a:buNone/>
            </a:pPr>
            <a:r>
              <a:rPr lang="en-US" sz="1100" b="1" dirty="0">
                <a:solidFill>
                  <a:schemeClr val="accent2"/>
                </a:solidFill>
              </a:rPr>
              <a:t>핵심 질문</a:t>
            </a:r>
            <a:endParaRPr lang="en-US" sz="1100" dirty="0"/>
          </a:p>
        </p:txBody>
      </p:sp>
      <p:sp>
        <p:nvSpPr>
          <p:cNvPr id="41" name="Text 38"/>
          <p:cNvSpPr txBox="1"/>
          <p:nvPr/>
        </p:nvSpPr>
        <p:spPr>
          <a:xfrm>
            <a:off x="9262872" y="3502152"/>
            <a:ext cx="2194560" cy="685800"/>
          </a:xfrm>
          <a:prstGeom prst="rect">
            <a:avLst/>
          </a:prstGeom>
          <a:noFill/>
          <a:ln/>
        </p:spPr>
        <p:txBody>
          <a:bodyPr wrap="square" lIns="0" tIns="0" rIns="0" bIns="0" rtlCol="0" anchor="t"/>
          <a:lstStyle/>
          <a:p>
            <a:pPr algn="l" indent="0" marL="0">
              <a:lnSpc>
                <a:spcPct val="110000"/>
              </a:lnSpc>
              <a:buNone/>
            </a:pPr>
            <a:r>
              <a:rPr lang="en-US" sz="1400" b="1" dirty="0">
                <a:solidFill>
                  <a:schemeClr val="accent1"/>
                </a:solidFill>
              </a:rPr>
              <a:t>특정 도메인에서 생성까지</a:t>
            </a:r>
            <a:endParaRPr lang="en-US" sz="1400" dirty="0"/>
          </a:p>
          <a:p>
            <a:pPr algn="l" indent="0" marL="0">
              <a:lnSpc>
                <a:spcPct val="110000"/>
              </a:lnSpc>
              <a:buNone/>
            </a:pPr>
            <a:r>
              <a:rPr lang="en-US" sz="1400" b="1" dirty="0">
                <a:solidFill>
                  <a:schemeClr val="accent1"/>
                </a:solidFill>
              </a:rPr>
              <a:t>문맥을 반영할 수 있나</a:t>
            </a:r>
            <a:endParaRPr lang="en-US" sz="1400" dirty="0"/>
          </a:p>
        </p:txBody>
      </p:sp>
      <p:sp>
        <p:nvSpPr>
          <p:cNvPr id="42" name="Text 39"/>
          <p:cNvSpPr txBox="1"/>
          <p:nvPr/>
        </p:nvSpPr>
        <p:spPr>
          <a:xfrm>
            <a:off x="9262872" y="4297680"/>
            <a:ext cx="2194560" cy="256032"/>
          </a:xfrm>
          <a:prstGeom prst="rect">
            <a:avLst/>
          </a:prstGeom>
          <a:noFill/>
          <a:ln/>
        </p:spPr>
        <p:txBody>
          <a:bodyPr wrap="square" lIns="0" tIns="0" rIns="0" bIns="0" rtlCol="0" anchor="t"/>
          <a:lstStyle/>
          <a:p>
            <a:pPr algn="l" indent="0" marL="0">
              <a:lnSpc>
                <a:spcPct val="110000"/>
              </a:lnSpc>
              <a:buNone/>
            </a:pPr>
            <a:r>
              <a:rPr lang="en-US" sz="1100" b="1" dirty="0">
                <a:solidFill>
                  <a:schemeClr val="accent2"/>
                </a:solidFill>
              </a:rPr>
              <a:t>핵심 방법</a:t>
            </a:r>
            <a:endParaRPr lang="en-US" sz="1100" dirty="0"/>
          </a:p>
        </p:txBody>
      </p:sp>
      <p:sp>
        <p:nvSpPr>
          <p:cNvPr id="43" name="Text 40"/>
          <p:cNvSpPr txBox="1"/>
          <p:nvPr/>
        </p:nvSpPr>
        <p:spPr>
          <a:xfrm>
            <a:off x="9262872" y="4572000"/>
            <a:ext cx="2194560" cy="100584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철강 특화 호환성 행렬 + 3채널 힌트 ControlNet + 품질 게이트</a:t>
            </a:r>
            <a:endParaRPr lang="en-US" sz="1300" dirty="0"/>
          </a:p>
        </p:txBody>
      </p:sp>
      <p:sp>
        <p:nvSpPr>
          <p:cNvPr id="44" name="Text 41"/>
          <p:cNvSpPr txBox="1"/>
          <p:nvPr/>
        </p:nvSpPr>
        <p:spPr>
          <a:xfrm>
            <a:off x="548640" y="5852160"/>
            <a:ext cx="11091672" cy="411480"/>
          </a:xfrm>
          <a:prstGeom prst="rect">
            <a:avLst/>
          </a:prstGeom>
          <a:noFill/>
          <a:ln/>
        </p:spPr>
        <p:txBody>
          <a:bodyPr wrap="square" lIns="0" tIns="0" rIns="0" bIns="0" rtlCol="0" anchor="ctr"/>
          <a:lstStyle/>
          <a:p>
            <a:pPr algn="l" indent="0" marL="0">
              <a:lnSpc>
                <a:spcPct val="110000"/>
              </a:lnSpc>
              <a:buNone/>
            </a:pPr>
            <a:r>
              <a:rPr lang="en-US" sz="1300" dirty="0">
                <a:solidFill>
                  <a:schemeClr val="accent3"/>
                </a:solidFill>
              </a:rPr>
              <a:t>게재 순서가 아닌 연구의 발전 흐름 순서: 결함 패치 생성 → 배치 위치 탐색 → 호환성의 데이터 기반 자동화 → 도메인 특화 문맥 인지 생성</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OVERVIEW</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연구 문제의 두 축: What to place × Where to place</a:t>
            </a:r>
            <a:endParaRPr lang="en-US" sz="2400" dirty="0"/>
          </a:p>
        </p:txBody>
      </p:sp>
      <p:sp>
        <p:nvSpPr>
          <p:cNvPr id="5" name="Shape 2"/>
          <p:cNvSpPr/>
          <p:nvPr/>
        </p:nvSpPr>
        <p:spPr>
          <a:xfrm>
            <a:off x="548640" y="1417320"/>
            <a:ext cx="2834640" cy="1600200"/>
          </a:xfrm>
          <a:prstGeom prst="roundRect">
            <a:avLst>
              <a:gd name="adj" fmla="val 4571"/>
            </a:avLst>
          </a:prstGeom>
          <a:solidFill>
            <a:schemeClr val="accent1"/>
          </a:solidFill>
          <a:ln/>
        </p:spPr>
      </p:sp>
      <p:sp>
        <p:nvSpPr>
          <p:cNvPr id="6" name="Text 3"/>
          <p:cNvSpPr txBox="1"/>
          <p:nvPr/>
        </p:nvSpPr>
        <p:spPr>
          <a:xfrm>
            <a:off x="777240" y="1600200"/>
            <a:ext cx="2468880" cy="411480"/>
          </a:xfrm>
          <a:prstGeom prst="rect">
            <a:avLst/>
          </a:prstGeom>
          <a:noFill/>
          <a:ln/>
        </p:spPr>
        <p:txBody>
          <a:bodyPr wrap="square" lIns="0" tIns="0" rIns="0" bIns="0" rtlCol="0" anchor="t"/>
          <a:lstStyle/>
          <a:p>
            <a:pPr algn="l" indent="0" marL="0">
              <a:lnSpc>
                <a:spcPct val="110000"/>
              </a:lnSpc>
              <a:buNone/>
            </a:pPr>
            <a:r>
              <a:rPr lang="en-US" sz="1700" b="1" dirty="0">
                <a:solidFill>
                  <a:schemeClr val="bg1"/>
                </a:solidFill>
              </a:rPr>
              <a:t>P1  What to place</a:t>
            </a:r>
            <a:endParaRPr lang="en-US" sz="1700" dirty="0"/>
          </a:p>
        </p:txBody>
      </p:sp>
      <p:sp>
        <p:nvSpPr>
          <p:cNvPr id="7" name="Text 4"/>
          <p:cNvSpPr txBox="1"/>
          <p:nvPr/>
        </p:nvSpPr>
        <p:spPr>
          <a:xfrm>
            <a:off x="777240" y="2194560"/>
            <a:ext cx="2468880" cy="685800"/>
          </a:xfrm>
          <a:prstGeom prst="rect">
            <a:avLst/>
          </a:prstGeom>
          <a:noFill/>
          <a:ln/>
        </p:spPr>
        <p:txBody>
          <a:bodyPr wrap="square" lIns="0" tIns="0" rIns="0" bIns="0" rtlCol="0" anchor="t"/>
          <a:lstStyle/>
          <a:p>
            <a:pPr algn="l" indent="0" marL="0">
              <a:lnSpc>
                <a:spcPct val="110000"/>
              </a:lnSpc>
              <a:buNone/>
            </a:pPr>
            <a:r>
              <a:rPr lang="en-US" sz="1300" dirty="0">
                <a:solidFill>
                  <a:schemeClr val="bg1"/>
                </a:solidFill>
              </a:rPr>
              <a:t>어떤 결함 패치를</a:t>
            </a:r>
            <a:endParaRPr lang="en-US" sz="1300" dirty="0"/>
          </a:p>
          <a:p>
            <a:pPr algn="l" indent="0" marL="0">
              <a:lnSpc>
                <a:spcPct val="110000"/>
              </a:lnSpc>
              <a:buNone/>
            </a:pPr>
            <a:r>
              <a:rPr lang="en-US" sz="1300" dirty="0">
                <a:solidFill>
                  <a:schemeClr val="bg1"/>
                </a:solidFill>
              </a:rPr>
              <a:t>생성·선택할 것인가</a:t>
            </a:r>
            <a:endParaRPr lang="en-US" sz="1300" dirty="0"/>
          </a:p>
        </p:txBody>
      </p:sp>
      <p:sp>
        <p:nvSpPr>
          <p:cNvPr id="8" name="Shape 5"/>
          <p:cNvSpPr/>
          <p:nvPr/>
        </p:nvSpPr>
        <p:spPr>
          <a:xfrm>
            <a:off x="3703320" y="1600200"/>
            <a:ext cx="2377440" cy="1234440"/>
          </a:xfrm>
          <a:prstGeom prst="roundRect">
            <a:avLst>
              <a:gd name="adj" fmla="val 5926"/>
            </a:avLst>
          </a:prstGeom>
          <a:solidFill>
            <a:schemeClr val="bg2"/>
          </a:solidFill>
          <a:ln w="12700">
            <a:solidFill>
              <a:srgbClr val="D9DEE3"/>
            </a:solidFill>
            <a:prstDash val="solid"/>
          </a:ln>
        </p:spPr>
      </p:sp>
      <p:sp>
        <p:nvSpPr>
          <p:cNvPr id="9" name="Text 6"/>
          <p:cNvSpPr txBox="1"/>
          <p:nvPr/>
        </p:nvSpPr>
        <p:spPr>
          <a:xfrm>
            <a:off x="3867912" y="1709928"/>
            <a:ext cx="2103120" cy="320040"/>
          </a:xfrm>
          <a:prstGeom prst="rect">
            <a:avLst/>
          </a:prstGeom>
          <a:noFill/>
          <a:ln/>
        </p:spPr>
        <p:txBody>
          <a:bodyPr wrap="square" lIns="0" tIns="0" rIns="0" bIns="0" rtlCol="0" anchor="t"/>
          <a:lstStyle/>
          <a:p>
            <a:pPr algn="l" indent="0" marL="0">
              <a:lnSpc>
                <a:spcPct val="110000"/>
              </a:lnSpc>
              <a:buNone/>
            </a:pPr>
            <a:r>
              <a:rPr lang="en-US" sz="1300" b="1" dirty="0">
                <a:solidFill>
                  <a:schemeClr val="accent1"/>
                </a:solidFill>
              </a:rPr>
              <a:t>제3장</a:t>
            </a:r>
            <a:endParaRPr lang="en-US" sz="1300" dirty="0"/>
          </a:p>
        </p:txBody>
      </p:sp>
      <p:sp>
        <p:nvSpPr>
          <p:cNvPr id="10" name="Text 7"/>
          <p:cNvSpPr txBox="1"/>
          <p:nvPr/>
        </p:nvSpPr>
        <p:spPr>
          <a:xfrm>
            <a:off x="3867912" y="2057400"/>
            <a:ext cx="2103120" cy="731520"/>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GAN·Diffusion</a:t>
            </a:r>
            <a:endParaRPr lang="en-US" sz="1400" dirty="0"/>
          </a:p>
          <a:p>
            <a:pPr algn="l" indent="0" marL="0">
              <a:lnSpc>
                <a:spcPct val="110000"/>
              </a:lnSpc>
              <a:buNone/>
            </a:pPr>
            <a:r>
              <a:rPr lang="en-US" sz="1400" b="1" dirty="0">
                <a:solidFill>
                  <a:schemeClr val="tx1"/>
                </a:solidFill>
              </a:rPr>
              <a:t>결함 패치 생성</a:t>
            </a:r>
            <a:endParaRPr lang="en-US" sz="1400" dirty="0"/>
          </a:p>
        </p:txBody>
      </p:sp>
      <p:sp>
        <p:nvSpPr>
          <p:cNvPr id="11" name="Shape 8"/>
          <p:cNvSpPr/>
          <p:nvPr/>
        </p:nvSpPr>
        <p:spPr>
          <a:xfrm>
            <a:off x="9317736" y="1600200"/>
            <a:ext cx="2377440" cy="1234440"/>
          </a:xfrm>
          <a:prstGeom prst="roundRect">
            <a:avLst>
              <a:gd name="adj" fmla="val 5926"/>
            </a:avLst>
          </a:prstGeom>
          <a:solidFill>
            <a:schemeClr val="bg2"/>
          </a:solidFill>
          <a:ln w="12700">
            <a:solidFill>
              <a:srgbClr val="D9DEE3"/>
            </a:solidFill>
            <a:prstDash val="solid"/>
          </a:ln>
        </p:spPr>
      </p:sp>
      <p:sp>
        <p:nvSpPr>
          <p:cNvPr id="12" name="Text 9"/>
          <p:cNvSpPr txBox="1"/>
          <p:nvPr/>
        </p:nvSpPr>
        <p:spPr>
          <a:xfrm>
            <a:off x="9482328" y="1709928"/>
            <a:ext cx="2103120" cy="320040"/>
          </a:xfrm>
          <a:prstGeom prst="rect">
            <a:avLst/>
          </a:prstGeom>
          <a:noFill/>
          <a:ln/>
        </p:spPr>
        <p:txBody>
          <a:bodyPr wrap="square" lIns="0" tIns="0" rIns="0" bIns="0" rtlCol="0" anchor="t"/>
          <a:lstStyle/>
          <a:p>
            <a:pPr algn="l" indent="0" marL="0">
              <a:lnSpc>
                <a:spcPct val="110000"/>
              </a:lnSpc>
              <a:buNone/>
            </a:pPr>
            <a:r>
              <a:rPr lang="en-US" sz="1300" b="1" dirty="0">
                <a:solidFill>
                  <a:schemeClr val="accent1"/>
                </a:solidFill>
              </a:rPr>
              <a:t>제6장</a:t>
            </a:r>
            <a:endParaRPr lang="en-US" sz="1300" dirty="0"/>
          </a:p>
        </p:txBody>
      </p:sp>
      <p:sp>
        <p:nvSpPr>
          <p:cNvPr id="13" name="Text 10"/>
          <p:cNvSpPr txBox="1"/>
          <p:nvPr/>
        </p:nvSpPr>
        <p:spPr>
          <a:xfrm>
            <a:off x="9482328" y="2057400"/>
            <a:ext cx="2103120" cy="731520"/>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문맥 조건부 생성</a:t>
            </a:r>
            <a:endParaRPr lang="en-US" sz="1400" dirty="0"/>
          </a:p>
          <a:p>
            <a:pPr algn="l" indent="0" marL="0">
              <a:lnSpc>
                <a:spcPct val="110000"/>
              </a:lnSpc>
              <a:buNone/>
            </a:pPr>
            <a:r>
              <a:rPr lang="en-US" sz="1400" b="1" dirty="0">
                <a:solidFill>
                  <a:schemeClr val="tx1"/>
                </a:solidFill>
              </a:rPr>
              <a:t>(ControlNet)</a:t>
            </a:r>
            <a:endParaRPr lang="en-US" sz="1400" dirty="0"/>
          </a:p>
        </p:txBody>
      </p:sp>
      <p:sp>
        <p:nvSpPr>
          <p:cNvPr id="14" name="Shape 11"/>
          <p:cNvSpPr/>
          <p:nvPr/>
        </p:nvSpPr>
        <p:spPr>
          <a:xfrm>
            <a:off x="6117336" y="2221992"/>
            <a:ext cx="3163824" cy="0"/>
          </a:xfrm>
          <a:prstGeom prst="line">
            <a:avLst/>
          </a:prstGeom>
          <a:noFill/>
          <a:ln w="19050">
            <a:solidFill>
              <a:srgbClr val="5B6B7A"/>
            </a:solidFill>
            <a:prstDash val="solid"/>
            <a:tailEnd type="triangle"/>
          </a:ln>
        </p:spPr>
      </p:sp>
      <p:sp>
        <p:nvSpPr>
          <p:cNvPr id="15" name="Shape 12"/>
          <p:cNvSpPr/>
          <p:nvPr/>
        </p:nvSpPr>
        <p:spPr>
          <a:xfrm>
            <a:off x="548640" y="3337560"/>
            <a:ext cx="2834640" cy="1600200"/>
          </a:xfrm>
          <a:prstGeom prst="roundRect">
            <a:avLst>
              <a:gd name="adj" fmla="val 4571"/>
            </a:avLst>
          </a:prstGeom>
          <a:solidFill>
            <a:schemeClr val="accent2"/>
          </a:solidFill>
          <a:ln/>
        </p:spPr>
      </p:sp>
      <p:sp>
        <p:nvSpPr>
          <p:cNvPr id="16" name="Text 13"/>
          <p:cNvSpPr txBox="1"/>
          <p:nvPr/>
        </p:nvSpPr>
        <p:spPr>
          <a:xfrm>
            <a:off x="777240" y="3520440"/>
            <a:ext cx="2468880" cy="411480"/>
          </a:xfrm>
          <a:prstGeom prst="rect">
            <a:avLst/>
          </a:prstGeom>
          <a:noFill/>
          <a:ln/>
        </p:spPr>
        <p:txBody>
          <a:bodyPr wrap="square" lIns="0" tIns="0" rIns="0" bIns="0" rtlCol="0" anchor="t"/>
          <a:lstStyle/>
          <a:p>
            <a:pPr algn="l" indent="0" marL="0">
              <a:lnSpc>
                <a:spcPct val="110000"/>
              </a:lnSpc>
              <a:buNone/>
            </a:pPr>
            <a:r>
              <a:rPr lang="en-US" sz="1700" b="1" dirty="0">
                <a:solidFill>
                  <a:schemeClr val="bg1"/>
                </a:solidFill>
              </a:rPr>
              <a:t>P2  Where to place</a:t>
            </a:r>
            <a:endParaRPr lang="en-US" sz="1700" dirty="0"/>
          </a:p>
        </p:txBody>
      </p:sp>
      <p:sp>
        <p:nvSpPr>
          <p:cNvPr id="17" name="Text 14"/>
          <p:cNvSpPr txBox="1"/>
          <p:nvPr/>
        </p:nvSpPr>
        <p:spPr>
          <a:xfrm>
            <a:off x="777240" y="4114800"/>
            <a:ext cx="2468880" cy="685800"/>
          </a:xfrm>
          <a:prstGeom prst="rect">
            <a:avLst/>
          </a:prstGeom>
          <a:noFill/>
          <a:ln/>
        </p:spPr>
        <p:txBody>
          <a:bodyPr wrap="square" lIns="0" tIns="0" rIns="0" bIns="0" rtlCol="0" anchor="t"/>
          <a:lstStyle/>
          <a:p>
            <a:pPr algn="l" indent="0" marL="0">
              <a:lnSpc>
                <a:spcPct val="110000"/>
              </a:lnSpc>
              <a:buNone/>
            </a:pPr>
            <a:r>
              <a:rPr lang="en-US" sz="1300" dirty="0">
                <a:solidFill>
                  <a:schemeClr val="bg1"/>
                </a:solidFill>
              </a:rPr>
              <a:t>어떤 배경과 위치에</a:t>
            </a:r>
            <a:endParaRPr lang="en-US" sz="1300" dirty="0"/>
          </a:p>
          <a:p>
            <a:pPr algn="l" indent="0" marL="0">
              <a:lnSpc>
                <a:spcPct val="110000"/>
              </a:lnSpc>
              <a:buNone/>
            </a:pPr>
            <a:r>
              <a:rPr lang="en-US" sz="1300" dirty="0">
                <a:solidFill>
                  <a:schemeClr val="bg1"/>
                </a:solidFill>
              </a:rPr>
              <a:t>배치할 것인가</a:t>
            </a:r>
            <a:endParaRPr lang="en-US" sz="1300" dirty="0"/>
          </a:p>
        </p:txBody>
      </p:sp>
      <p:sp>
        <p:nvSpPr>
          <p:cNvPr id="18" name="Shape 15"/>
          <p:cNvSpPr/>
          <p:nvPr/>
        </p:nvSpPr>
        <p:spPr>
          <a:xfrm>
            <a:off x="3703320" y="3520440"/>
            <a:ext cx="2377440" cy="1234440"/>
          </a:xfrm>
          <a:prstGeom prst="roundRect">
            <a:avLst>
              <a:gd name="adj" fmla="val 5926"/>
            </a:avLst>
          </a:prstGeom>
          <a:solidFill>
            <a:schemeClr val="bg2"/>
          </a:solidFill>
          <a:ln w="12700">
            <a:solidFill>
              <a:srgbClr val="D9DEE3"/>
            </a:solidFill>
            <a:prstDash val="solid"/>
          </a:ln>
        </p:spPr>
      </p:sp>
      <p:sp>
        <p:nvSpPr>
          <p:cNvPr id="19" name="Text 16"/>
          <p:cNvSpPr txBox="1"/>
          <p:nvPr/>
        </p:nvSpPr>
        <p:spPr>
          <a:xfrm>
            <a:off x="3867912" y="3630168"/>
            <a:ext cx="2103120" cy="320040"/>
          </a:xfrm>
          <a:prstGeom prst="rect">
            <a:avLst/>
          </a:prstGeom>
          <a:noFill/>
          <a:ln/>
        </p:spPr>
        <p:txBody>
          <a:bodyPr wrap="square" lIns="0" tIns="0" rIns="0" bIns="0" rtlCol="0" anchor="t"/>
          <a:lstStyle/>
          <a:p>
            <a:pPr algn="l" indent="0" marL="0">
              <a:lnSpc>
                <a:spcPct val="110000"/>
              </a:lnSpc>
              <a:buNone/>
            </a:pPr>
            <a:r>
              <a:rPr lang="en-US" sz="1300" b="1" dirty="0">
                <a:solidFill>
                  <a:schemeClr val="accent2"/>
                </a:solidFill>
              </a:rPr>
              <a:t>제4장</a:t>
            </a:r>
            <a:endParaRPr lang="en-US" sz="1300" dirty="0"/>
          </a:p>
        </p:txBody>
      </p:sp>
      <p:sp>
        <p:nvSpPr>
          <p:cNvPr id="20" name="Text 17"/>
          <p:cNvSpPr txBox="1"/>
          <p:nvPr/>
        </p:nvSpPr>
        <p:spPr>
          <a:xfrm>
            <a:off x="3867912" y="3977640"/>
            <a:ext cx="2103120" cy="731520"/>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밝기 유사도</a:t>
            </a:r>
            <a:endParaRPr lang="en-US" sz="1400" dirty="0"/>
          </a:p>
          <a:p>
            <a:pPr algn="l" indent="0" marL="0">
              <a:lnSpc>
                <a:spcPct val="110000"/>
              </a:lnSpc>
              <a:buNone/>
            </a:pPr>
            <a:r>
              <a:rPr lang="en-US" sz="1400" b="1" dirty="0">
                <a:solidFill>
                  <a:schemeClr val="tx1"/>
                </a:solidFill>
              </a:rPr>
              <a:t>기반 탐색</a:t>
            </a:r>
            <a:endParaRPr lang="en-US" sz="1400" dirty="0"/>
          </a:p>
        </p:txBody>
      </p:sp>
      <p:sp>
        <p:nvSpPr>
          <p:cNvPr id="21" name="Shape 18"/>
          <p:cNvSpPr/>
          <p:nvPr/>
        </p:nvSpPr>
        <p:spPr>
          <a:xfrm>
            <a:off x="6510528" y="3520440"/>
            <a:ext cx="2377440" cy="1234440"/>
          </a:xfrm>
          <a:prstGeom prst="roundRect">
            <a:avLst>
              <a:gd name="adj" fmla="val 5926"/>
            </a:avLst>
          </a:prstGeom>
          <a:solidFill>
            <a:schemeClr val="bg2"/>
          </a:solidFill>
          <a:ln w="12700">
            <a:solidFill>
              <a:srgbClr val="D9DEE3"/>
            </a:solidFill>
            <a:prstDash val="solid"/>
          </a:ln>
        </p:spPr>
      </p:sp>
      <p:sp>
        <p:nvSpPr>
          <p:cNvPr id="22" name="Text 19"/>
          <p:cNvSpPr txBox="1"/>
          <p:nvPr/>
        </p:nvSpPr>
        <p:spPr>
          <a:xfrm>
            <a:off x="6675120" y="3630168"/>
            <a:ext cx="2103120" cy="320040"/>
          </a:xfrm>
          <a:prstGeom prst="rect">
            <a:avLst/>
          </a:prstGeom>
          <a:noFill/>
          <a:ln/>
        </p:spPr>
        <p:txBody>
          <a:bodyPr wrap="square" lIns="0" tIns="0" rIns="0" bIns="0" rtlCol="0" anchor="t"/>
          <a:lstStyle/>
          <a:p>
            <a:pPr algn="l" indent="0" marL="0">
              <a:lnSpc>
                <a:spcPct val="110000"/>
              </a:lnSpc>
              <a:buNone/>
            </a:pPr>
            <a:r>
              <a:rPr lang="en-US" sz="1300" b="1" dirty="0">
                <a:solidFill>
                  <a:schemeClr val="accent2"/>
                </a:solidFill>
              </a:rPr>
              <a:t>제5장</a:t>
            </a:r>
            <a:endParaRPr lang="en-US" sz="1300" dirty="0"/>
          </a:p>
        </p:txBody>
      </p:sp>
      <p:sp>
        <p:nvSpPr>
          <p:cNvPr id="23" name="Text 20"/>
          <p:cNvSpPr txBox="1"/>
          <p:nvPr/>
        </p:nvSpPr>
        <p:spPr>
          <a:xfrm>
            <a:off x="6675120" y="3977640"/>
            <a:ext cx="2103120" cy="731520"/>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데이터 기반</a:t>
            </a:r>
            <a:endParaRPr lang="en-US" sz="1400" dirty="0"/>
          </a:p>
          <a:p>
            <a:pPr algn="l" indent="0" marL="0">
              <a:lnSpc>
                <a:spcPct val="110000"/>
              </a:lnSpc>
              <a:buNone/>
            </a:pPr>
            <a:r>
              <a:rPr lang="en-US" sz="1400" b="1" dirty="0">
                <a:solidFill>
                  <a:schemeClr val="tx1"/>
                </a:solidFill>
              </a:rPr>
              <a:t>호환성 자동화</a:t>
            </a:r>
            <a:endParaRPr lang="en-US" sz="1400" dirty="0"/>
          </a:p>
        </p:txBody>
      </p:sp>
      <p:sp>
        <p:nvSpPr>
          <p:cNvPr id="24" name="Shape 21"/>
          <p:cNvSpPr/>
          <p:nvPr/>
        </p:nvSpPr>
        <p:spPr>
          <a:xfrm>
            <a:off x="6117336" y="4142232"/>
            <a:ext cx="356616" cy="0"/>
          </a:xfrm>
          <a:prstGeom prst="line">
            <a:avLst/>
          </a:prstGeom>
          <a:noFill/>
          <a:ln w="19050">
            <a:solidFill>
              <a:srgbClr val="5B6B7A"/>
            </a:solidFill>
            <a:prstDash val="solid"/>
            <a:tailEnd type="triangle"/>
          </a:ln>
        </p:spPr>
      </p:sp>
      <p:sp>
        <p:nvSpPr>
          <p:cNvPr id="25" name="Shape 22"/>
          <p:cNvSpPr/>
          <p:nvPr/>
        </p:nvSpPr>
        <p:spPr>
          <a:xfrm>
            <a:off x="9317736" y="3520440"/>
            <a:ext cx="2377440" cy="1234440"/>
          </a:xfrm>
          <a:prstGeom prst="roundRect">
            <a:avLst>
              <a:gd name="adj" fmla="val 5926"/>
            </a:avLst>
          </a:prstGeom>
          <a:solidFill>
            <a:schemeClr val="bg2"/>
          </a:solidFill>
          <a:ln w="12700">
            <a:solidFill>
              <a:srgbClr val="D9DEE3"/>
            </a:solidFill>
            <a:prstDash val="solid"/>
          </a:ln>
        </p:spPr>
      </p:sp>
      <p:sp>
        <p:nvSpPr>
          <p:cNvPr id="26" name="Text 23"/>
          <p:cNvSpPr txBox="1"/>
          <p:nvPr/>
        </p:nvSpPr>
        <p:spPr>
          <a:xfrm>
            <a:off x="9482328" y="3630168"/>
            <a:ext cx="2103120" cy="320040"/>
          </a:xfrm>
          <a:prstGeom prst="rect">
            <a:avLst/>
          </a:prstGeom>
          <a:noFill/>
          <a:ln/>
        </p:spPr>
        <p:txBody>
          <a:bodyPr wrap="square" lIns="0" tIns="0" rIns="0" bIns="0" rtlCol="0" anchor="t"/>
          <a:lstStyle/>
          <a:p>
            <a:pPr algn="l" indent="0" marL="0">
              <a:lnSpc>
                <a:spcPct val="110000"/>
              </a:lnSpc>
              <a:buNone/>
            </a:pPr>
            <a:r>
              <a:rPr lang="en-US" sz="1300" b="1" dirty="0">
                <a:solidFill>
                  <a:schemeClr val="accent2"/>
                </a:solidFill>
              </a:rPr>
              <a:t>제6장</a:t>
            </a:r>
            <a:endParaRPr lang="en-US" sz="1300" dirty="0"/>
          </a:p>
        </p:txBody>
      </p:sp>
      <p:sp>
        <p:nvSpPr>
          <p:cNvPr id="27" name="Text 24"/>
          <p:cNvSpPr txBox="1"/>
          <p:nvPr/>
        </p:nvSpPr>
        <p:spPr>
          <a:xfrm>
            <a:off x="9482328" y="3977640"/>
            <a:ext cx="2103120" cy="731520"/>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철강 특화</a:t>
            </a:r>
            <a:endParaRPr lang="en-US" sz="1400" dirty="0"/>
          </a:p>
          <a:p>
            <a:pPr algn="l" indent="0" marL="0">
              <a:lnSpc>
                <a:spcPct val="110000"/>
              </a:lnSpc>
              <a:buNone/>
            </a:pPr>
            <a:r>
              <a:rPr lang="en-US" sz="1400" b="1" dirty="0">
                <a:solidFill>
                  <a:schemeClr val="tx1"/>
                </a:solidFill>
              </a:rPr>
              <a:t>호환성 행렬</a:t>
            </a:r>
            <a:endParaRPr lang="en-US" sz="1400" dirty="0"/>
          </a:p>
        </p:txBody>
      </p:sp>
      <p:sp>
        <p:nvSpPr>
          <p:cNvPr id="28" name="Shape 25"/>
          <p:cNvSpPr/>
          <p:nvPr/>
        </p:nvSpPr>
        <p:spPr>
          <a:xfrm>
            <a:off x="8924544" y="4142232"/>
            <a:ext cx="356616" cy="0"/>
          </a:xfrm>
          <a:prstGeom prst="line">
            <a:avLst/>
          </a:prstGeom>
          <a:noFill/>
          <a:ln w="19050">
            <a:solidFill>
              <a:srgbClr val="5B6B7A"/>
            </a:solidFill>
            <a:prstDash val="solid"/>
            <a:tailEnd type="triangle"/>
          </a:ln>
        </p:spPr>
      </p:sp>
      <p:sp>
        <p:nvSpPr>
          <p:cNvPr id="29" name="Shape 26"/>
          <p:cNvSpPr/>
          <p:nvPr/>
        </p:nvSpPr>
        <p:spPr>
          <a:xfrm>
            <a:off x="548640" y="5394960"/>
            <a:ext cx="11091672" cy="777240"/>
          </a:xfrm>
          <a:prstGeom prst="roundRect">
            <a:avLst>
              <a:gd name="adj" fmla="val 9412"/>
            </a:avLst>
          </a:prstGeom>
          <a:solidFill>
            <a:schemeClr val="accent1"/>
          </a:solidFill>
          <a:ln/>
        </p:spPr>
      </p:sp>
      <p:sp>
        <p:nvSpPr>
          <p:cNvPr id="30" name="Text 27"/>
          <p:cNvSpPr txBox="1"/>
          <p:nvPr/>
        </p:nvSpPr>
        <p:spPr>
          <a:xfrm>
            <a:off x="868680" y="5394960"/>
            <a:ext cx="10424160" cy="777240"/>
          </a:xfrm>
          <a:prstGeom prst="rect">
            <a:avLst/>
          </a:prstGeom>
          <a:noFill/>
          <a:ln/>
        </p:spPr>
        <p:txBody>
          <a:bodyPr wrap="square" lIns="0" tIns="0" rIns="0" bIns="0" rtlCol="0" anchor="ctr"/>
          <a:lstStyle/>
          <a:p>
            <a:pPr algn="l" indent="0" marL="0">
              <a:lnSpc>
                <a:spcPct val="110000"/>
              </a:lnSpc>
              <a:buNone/>
            </a:pPr>
            <a:r>
              <a:rPr lang="en-US" sz="1800" b="1" dirty="0">
                <a:solidFill>
                  <a:schemeClr val="bg1"/>
                </a:solidFill>
              </a:rPr>
              <a:t>두 축은 제6장에서 문맥 조건부 생성과 배치로 결합된다</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1920240"/>
            <a:ext cx="5486400" cy="548640"/>
          </a:xfrm>
          <a:prstGeom prst="rect">
            <a:avLst/>
          </a:prstGeom>
          <a:noFill/>
          <a:ln/>
        </p:spPr>
        <p:txBody>
          <a:bodyPr wrap="square" lIns="0" tIns="0" rIns="0" bIns="0" rtlCol="0"/>
          <a:lstStyle/>
          <a:p>
            <a:pPr indent="0" marL="0">
              <a:buNone/>
            </a:pPr>
            <a:r>
              <a:rPr lang="en-US" sz="2200" b="1" dirty="0">
                <a:solidFill>
                  <a:schemeClr val="accent2"/>
                </a:solidFill>
              </a:rPr>
              <a:t>제3장</a:t>
            </a:r>
            <a:endParaRPr lang="en-US" sz="2200" dirty="0"/>
          </a:p>
        </p:txBody>
      </p:sp>
      <p:sp>
        <p:nvSpPr>
          <p:cNvPr id="3" name="Text 0"/>
          <p:cNvSpPr/>
          <p:nvPr>
            <p:ph idx="101" type="title" hasCustomPrompt="1"/>
          </p:nvPr>
        </p:nvSpPr>
        <p:spPr>
          <a:xfrm>
            <a:off x="731520" y="2560320"/>
            <a:ext cx="10698480" cy="1188720"/>
          </a:xfrm>
          <a:prstGeom prst="rect">
            <a:avLst/>
          </a:prstGeom>
          <a:noFill/>
          <a:ln/>
        </p:spPr>
        <p:txBody>
          <a:bodyPr wrap="square" lIns="0" tIns="0" rIns="0" bIns="0" rtlCol="0" anchor="t"/>
          <a:lstStyle/>
          <a:p>
            <a:pPr algn="l" indent="0" marL="0">
              <a:buNone/>
            </a:pPr>
            <a:r>
              <a:rPr lang="en-US" sz="3600" b="1" dirty="0">
                <a:solidFill>
                  <a:schemeClr val="bg1"/>
                </a:solidFill>
              </a:rPr>
              <a:t>객체탐지 모델 기반 장비 결함검출</a:t>
            </a:r>
            <a:endParaRPr lang="en-US" sz="3600" dirty="0"/>
          </a:p>
        </p:txBody>
      </p:sp>
      <p:sp>
        <p:nvSpPr>
          <p:cNvPr id="4" name="Text 0"/>
          <p:cNvSpPr/>
          <p:nvPr>
            <p:ph idx="102" type="body" hasCustomPrompt="1"/>
          </p:nvPr>
        </p:nvSpPr>
        <p:spPr>
          <a:xfrm>
            <a:off x="731520" y="3931920"/>
            <a:ext cx="10698480" cy="731520"/>
          </a:xfrm>
          <a:prstGeom prst="rect">
            <a:avLst/>
          </a:prstGeom>
          <a:noFill/>
          <a:ln/>
        </p:spPr>
        <p:txBody>
          <a:bodyPr wrap="square" lIns="0" tIns="0" rIns="0" bIns="0" rtlCol="0"/>
          <a:lstStyle/>
          <a:p>
            <a:pPr indent="0" marL="0">
              <a:buNone/>
            </a:pPr>
            <a:r>
              <a:rPr lang="en-US" sz="1800" dirty="0">
                <a:solidFill>
                  <a:schemeClr val="accent4"/>
                </a:solidFill>
              </a:rPr>
              <a:t>생성 증강이 결함 검출에 효과가 있는가</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제3장 · 요약</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GAN·Diffusion 결함 패치 생성 증강</a:t>
            </a:r>
            <a:endParaRPr lang="en-US" sz="2400" dirty="0"/>
          </a:p>
        </p:txBody>
      </p:sp>
      <p:sp>
        <p:nvSpPr>
          <p:cNvPr id="5" name="Text 2"/>
          <p:cNvSpPr txBox="1"/>
          <p:nvPr/>
        </p:nvSpPr>
        <p:spPr>
          <a:xfrm>
            <a:off x="548640" y="1417320"/>
            <a:ext cx="6309360" cy="4206240"/>
          </a:xfrm>
          <a:prstGeom prst="rect">
            <a:avLst/>
          </a:prstGeom>
          <a:noFill/>
          <a:ln/>
        </p:spPr>
        <p:txBody>
          <a:bodyPr wrap="square" lIns="0" tIns="0" rIns="0" bIns="0" rtlCol="0" anchor="t"/>
          <a:lstStyle/>
          <a:p>
            <a:pPr marL="203200" indent="-203200">
              <a:lnSpc>
                <a:spcPct val="110000"/>
              </a:lnSpc>
              <a:spcAft>
                <a:spcPts val="1400"/>
              </a:spcAft>
              <a:buSzPct val="100000"/>
              <a:buChar char="•"/>
            </a:pPr>
            <a:r>
              <a:rPr lang="en-US" sz="1600" dirty="0">
                <a:solidFill>
                  <a:schemeClr val="tx1"/>
                </a:solidFill>
              </a:rPr>
              <a:t>PKU-HRI PCB 데이터셋 대상 YOLOv8s/m 결함 검출</a:t>
            </a:r>
            <a:endParaRPr lang="en-US" sz="1600" dirty="0"/>
          </a:p>
          <a:p>
            <a:pPr marL="203200" indent="-203200">
              <a:lnSpc>
                <a:spcPct val="110000"/>
              </a:lnSpc>
              <a:spcAft>
                <a:spcPts val="1400"/>
              </a:spcAft>
              <a:buSzPct val="100000"/>
              <a:buChar char="•"/>
            </a:pPr>
            <a:r>
              <a:rPr lang="en-US" sz="1600" dirty="0">
                <a:solidFill>
                  <a:schemeClr val="tx1"/>
                </a:solidFill>
              </a:rPr>
              <a:t>결함 부위를 카테고리별로 분리 → GAN·Diffusion으로 결함 패치 생성</a:t>
            </a:r>
            <a:endParaRPr lang="en-US" sz="1600" dirty="0"/>
          </a:p>
          <a:p>
            <a:pPr marL="203200" indent="-203200">
              <a:lnSpc>
                <a:spcPct val="110000"/>
              </a:lnSpc>
              <a:spcAft>
                <a:spcPts val="1400"/>
              </a:spcAft>
              <a:buSzPct val="100000"/>
              <a:buChar char="•"/>
            </a:pPr>
            <a:r>
              <a:rPr lang="en-US" sz="1600" dirty="0">
                <a:solidFill>
                  <a:schemeClr val="tx1"/>
                </a:solidFill>
              </a:rPr>
              <a:t>원본 라벨 위치에 재배치해 증강셋 구성 (최적 증강 비율 30%)</a:t>
            </a:r>
            <a:endParaRPr lang="en-US" sz="1600" dirty="0"/>
          </a:p>
          <a:p>
            <a:pPr marL="203200" indent="-203200">
              <a:lnSpc>
                <a:spcPct val="110000"/>
              </a:lnSpc>
              <a:spcAft>
                <a:spcPts val="1400"/>
              </a:spcAft>
              <a:buSzPct val="100000"/>
              <a:buChar char="•"/>
            </a:pPr>
            <a:r>
              <a:rPr lang="en-US" sz="1600" dirty="0">
                <a:solidFill>
                  <a:schemeClr val="tx1"/>
                </a:solidFill>
              </a:rPr>
              <a:t>Diffusion은 mAP 우위, GAN은 과적합이 낮아 실활용 가능성</a:t>
            </a:r>
            <a:endParaRPr lang="en-US" sz="1600" dirty="0"/>
          </a:p>
          <a:p>
            <a:pPr marL="203200" indent="-203200">
              <a:lnSpc>
                <a:spcPct val="110000"/>
              </a:lnSpc>
              <a:spcAft>
                <a:spcPts val="1400"/>
              </a:spcAft>
              <a:buSzPct val="100000"/>
              <a:buChar char="•"/>
            </a:pPr>
            <a:r>
              <a:rPr lang="en-US" sz="1600" b="1" dirty="0">
                <a:solidFill>
                  <a:schemeClr val="accent2"/>
                </a:solidFill>
              </a:rPr>
              <a:t>한계: 라벨 위치 재활용 → 배치 위치 중복 → 제4장의 출발점</a:t>
            </a:r>
            <a:endParaRPr lang="en-US" sz="1600" dirty="0"/>
          </a:p>
        </p:txBody>
      </p:sp>
      <p:sp>
        <p:nvSpPr>
          <p:cNvPr id="6" name="Shape 3"/>
          <p:cNvSpPr/>
          <p:nvPr/>
        </p:nvSpPr>
        <p:spPr>
          <a:xfrm>
            <a:off x="7223760" y="1417320"/>
            <a:ext cx="2103120" cy="1417320"/>
          </a:xfrm>
          <a:prstGeom prst="roundRect">
            <a:avLst>
              <a:gd name="adj" fmla="val 5161"/>
            </a:avLst>
          </a:prstGeom>
          <a:solidFill>
            <a:schemeClr val="bg2"/>
          </a:solidFill>
          <a:ln/>
        </p:spPr>
      </p:sp>
      <p:sp>
        <p:nvSpPr>
          <p:cNvPr id="7" name="Text 4"/>
          <p:cNvSpPr txBox="1"/>
          <p:nvPr/>
        </p:nvSpPr>
        <p:spPr>
          <a:xfrm>
            <a:off x="7406640" y="1554480"/>
            <a:ext cx="1737360" cy="779526"/>
          </a:xfrm>
          <a:prstGeom prst="rect">
            <a:avLst/>
          </a:prstGeom>
          <a:noFill/>
          <a:ln/>
        </p:spPr>
        <p:txBody>
          <a:bodyPr wrap="square" lIns="0" tIns="0" rIns="0" bIns="0" rtlCol="0" anchor="ctr"/>
          <a:lstStyle/>
          <a:p>
            <a:pPr algn="l" indent="0" marL="0">
              <a:lnSpc>
                <a:spcPct val="110000"/>
              </a:lnSpc>
              <a:buNone/>
            </a:pPr>
            <a:r>
              <a:rPr lang="en-US" sz="3400" b="1" dirty="0">
                <a:solidFill>
                  <a:schemeClr val="accent1"/>
                </a:solidFill>
              </a:rPr>
              <a:t>693장</a:t>
            </a:r>
            <a:endParaRPr lang="en-US" sz="3400" dirty="0"/>
          </a:p>
        </p:txBody>
      </p:sp>
      <p:sp>
        <p:nvSpPr>
          <p:cNvPr id="8" name="Text 5"/>
          <p:cNvSpPr txBox="1"/>
          <p:nvPr/>
        </p:nvSpPr>
        <p:spPr>
          <a:xfrm>
            <a:off x="7406640" y="2296058"/>
            <a:ext cx="1737360" cy="481889"/>
          </a:xfrm>
          <a:prstGeom prst="rect">
            <a:avLst/>
          </a:prstGeom>
          <a:noFill/>
          <a:ln/>
        </p:spPr>
        <p:txBody>
          <a:bodyPr wrap="square" lIns="0" tIns="0" rIns="0" bIns="0" rtlCol="0" anchor="t"/>
          <a:lstStyle/>
          <a:p>
            <a:pPr algn="l" indent="0" marL="0">
              <a:lnSpc>
                <a:spcPct val="110000"/>
              </a:lnSpc>
              <a:buNone/>
            </a:pPr>
            <a:r>
              <a:rPr lang="en-US" sz="1300" dirty="0">
                <a:solidFill>
                  <a:schemeClr val="accent3"/>
                </a:solidFill>
              </a:rPr>
              <a:t>원본 PCB 이미지</a:t>
            </a:r>
            <a:endParaRPr lang="en-US" sz="1300" dirty="0"/>
          </a:p>
        </p:txBody>
      </p:sp>
      <p:sp>
        <p:nvSpPr>
          <p:cNvPr id="9" name="Shape 6"/>
          <p:cNvSpPr/>
          <p:nvPr/>
        </p:nvSpPr>
        <p:spPr>
          <a:xfrm>
            <a:off x="9537192" y="1417320"/>
            <a:ext cx="2103120" cy="1417320"/>
          </a:xfrm>
          <a:prstGeom prst="roundRect">
            <a:avLst>
              <a:gd name="adj" fmla="val 5161"/>
            </a:avLst>
          </a:prstGeom>
          <a:solidFill>
            <a:schemeClr val="bg2"/>
          </a:solidFill>
          <a:ln/>
        </p:spPr>
      </p:sp>
      <p:sp>
        <p:nvSpPr>
          <p:cNvPr id="10" name="Text 7"/>
          <p:cNvSpPr txBox="1"/>
          <p:nvPr/>
        </p:nvSpPr>
        <p:spPr>
          <a:xfrm>
            <a:off x="9720072" y="1554480"/>
            <a:ext cx="1737360" cy="779526"/>
          </a:xfrm>
          <a:prstGeom prst="rect">
            <a:avLst/>
          </a:prstGeom>
          <a:noFill/>
          <a:ln/>
        </p:spPr>
        <p:txBody>
          <a:bodyPr wrap="square" lIns="0" tIns="0" rIns="0" bIns="0" rtlCol="0" anchor="ctr"/>
          <a:lstStyle/>
          <a:p>
            <a:pPr algn="l" indent="0" marL="0">
              <a:lnSpc>
                <a:spcPct val="110000"/>
              </a:lnSpc>
              <a:buNone/>
            </a:pPr>
            <a:r>
              <a:rPr lang="en-US" sz="3400" b="1" dirty="0">
                <a:solidFill>
                  <a:schemeClr val="accent1"/>
                </a:solidFill>
              </a:rPr>
              <a:t>6종</a:t>
            </a:r>
            <a:endParaRPr lang="en-US" sz="3400" dirty="0"/>
          </a:p>
        </p:txBody>
      </p:sp>
      <p:sp>
        <p:nvSpPr>
          <p:cNvPr id="11" name="Text 8"/>
          <p:cNvSpPr txBox="1"/>
          <p:nvPr/>
        </p:nvSpPr>
        <p:spPr>
          <a:xfrm>
            <a:off x="9720072" y="2296058"/>
            <a:ext cx="1737360" cy="481889"/>
          </a:xfrm>
          <a:prstGeom prst="rect">
            <a:avLst/>
          </a:prstGeom>
          <a:noFill/>
          <a:ln/>
        </p:spPr>
        <p:txBody>
          <a:bodyPr wrap="square" lIns="0" tIns="0" rIns="0" bIns="0" rtlCol="0" anchor="t"/>
          <a:lstStyle/>
          <a:p>
            <a:pPr algn="l" indent="0" marL="0">
              <a:lnSpc>
                <a:spcPct val="110000"/>
              </a:lnSpc>
              <a:buNone/>
            </a:pPr>
            <a:r>
              <a:rPr lang="en-US" sz="1300" dirty="0">
                <a:solidFill>
                  <a:schemeClr val="accent3"/>
                </a:solidFill>
              </a:rPr>
              <a:t>결함 클래스</a:t>
            </a:r>
            <a:endParaRPr lang="en-US" sz="1300" dirty="0"/>
          </a:p>
        </p:txBody>
      </p:sp>
      <p:sp>
        <p:nvSpPr>
          <p:cNvPr id="12" name="Shape 9"/>
          <p:cNvSpPr/>
          <p:nvPr/>
        </p:nvSpPr>
        <p:spPr>
          <a:xfrm>
            <a:off x="7223760" y="3017520"/>
            <a:ext cx="2103120" cy="1417320"/>
          </a:xfrm>
          <a:prstGeom prst="roundRect">
            <a:avLst>
              <a:gd name="adj" fmla="val 5161"/>
            </a:avLst>
          </a:prstGeom>
          <a:solidFill>
            <a:schemeClr val="bg2"/>
          </a:solidFill>
          <a:ln/>
        </p:spPr>
      </p:sp>
      <p:sp>
        <p:nvSpPr>
          <p:cNvPr id="13" name="Text 10"/>
          <p:cNvSpPr txBox="1"/>
          <p:nvPr/>
        </p:nvSpPr>
        <p:spPr>
          <a:xfrm>
            <a:off x="7406640" y="3154680"/>
            <a:ext cx="1737360" cy="779526"/>
          </a:xfrm>
          <a:prstGeom prst="rect">
            <a:avLst/>
          </a:prstGeom>
          <a:noFill/>
          <a:ln/>
        </p:spPr>
        <p:txBody>
          <a:bodyPr wrap="square" lIns="0" tIns="0" rIns="0" bIns="0" rtlCol="0" anchor="ctr"/>
          <a:lstStyle/>
          <a:p>
            <a:pPr algn="l" indent="0" marL="0">
              <a:lnSpc>
                <a:spcPct val="110000"/>
              </a:lnSpc>
              <a:buNone/>
            </a:pPr>
            <a:r>
              <a:rPr lang="en-US" sz="3400" b="1" dirty="0">
                <a:solidFill>
                  <a:schemeClr val="accent2"/>
                </a:solidFill>
              </a:rPr>
              <a:t>30%</a:t>
            </a:r>
            <a:endParaRPr lang="en-US" sz="3400" dirty="0"/>
          </a:p>
        </p:txBody>
      </p:sp>
      <p:sp>
        <p:nvSpPr>
          <p:cNvPr id="14" name="Text 11"/>
          <p:cNvSpPr txBox="1"/>
          <p:nvPr/>
        </p:nvSpPr>
        <p:spPr>
          <a:xfrm>
            <a:off x="7406640" y="3896258"/>
            <a:ext cx="1737360" cy="481889"/>
          </a:xfrm>
          <a:prstGeom prst="rect">
            <a:avLst/>
          </a:prstGeom>
          <a:noFill/>
          <a:ln/>
        </p:spPr>
        <p:txBody>
          <a:bodyPr wrap="square" lIns="0" tIns="0" rIns="0" bIns="0" rtlCol="0" anchor="t"/>
          <a:lstStyle/>
          <a:p>
            <a:pPr algn="l" indent="0" marL="0">
              <a:lnSpc>
                <a:spcPct val="110000"/>
              </a:lnSpc>
              <a:buNone/>
            </a:pPr>
            <a:r>
              <a:rPr lang="en-US" sz="1300" dirty="0">
                <a:solidFill>
                  <a:schemeClr val="accent3"/>
                </a:solidFill>
              </a:rPr>
              <a:t>최적 증강 비율</a:t>
            </a:r>
            <a:endParaRPr lang="en-US" sz="1300" dirty="0"/>
          </a:p>
        </p:txBody>
      </p:sp>
      <p:sp>
        <p:nvSpPr>
          <p:cNvPr id="15" name="Shape 12"/>
          <p:cNvSpPr/>
          <p:nvPr/>
        </p:nvSpPr>
        <p:spPr>
          <a:xfrm>
            <a:off x="9537192" y="3017520"/>
            <a:ext cx="2103120" cy="1417320"/>
          </a:xfrm>
          <a:prstGeom prst="roundRect">
            <a:avLst>
              <a:gd name="adj" fmla="val 5161"/>
            </a:avLst>
          </a:prstGeom>
          <a:solidFill>
            <a:schemeClr val="bg2"/>
          </a:solidFill>
          <a:ln/>
        </p:spPr>
      </p:sp>
      <p:sp>
        <p:nvSpPr>
          <p:cNvPr id="16" name="Text 13"/>
          <p:cNvSpPr txBox="1"/>
          <p:nvPr/>
        </p:nvSpPr>
        <p:spPr>
          <a:xfrm>
            <a:off x="9720072" y="3154680"/>
            <a:ext cx="1737360" cy="779526"/>
          </a:xfrm>
          <a:prstGeom prst="rect">
            <a:avLst/>
          </a:prstGeom>
          <a:noFill/>
          <a:ln/>
        </p:spPr>
        <p:txBody>
          <a:bodyPr wrap="square" lIns="0" tIns="0" rIns="0" bIns="0" rtlCol="0" anchor="ctr"/>
          <a:lstStyle/>
          <a:p>
            <a:pPr algn="l" indent="0" marL="0">
              <a:lnSpc>
                <a:spcPct val="110000"/>
              </a:lnSpc>
              <a:buNone/>
            </a:pPr>
            <a:r>
              <a:rPr lang="en-US" sz="3400" b="1" dirty="0">
                <a:solidFill>
                  <a:schemeClr val="accent1"/>
                </a:solidFill>
              </a:rPr>
              <a:t>972장</a:t>
            </a:r>
            <a:endParaRPr lang="en-US" sz="3400" dirty="0"/>
          </a:p>
        </p:txBody>
      </p:sp>
      <p:sp>
        <p:nvSpPr>
          <p:cNvPr id="17" name="Text 14"/>
          <p:cNvSpPr txBox="1"/>
          <p:nvPr/>
        </p:nvSpPr>
        <p:spPr>
          <a:xfrm>
            <a:off x="9720072" y="3896258"/>
            <a:ext cx="1737360" cy="481889"/>
          </a:xfrm>
          <a:prstGeom prst="rect">
            <a:avLst/>
          </a:prstGeom>
          <a:noFill/>
          <a:ln/>
        </p:spPr>
        <p:txBody>
          <a:bodyPr wrap="square" lIns="0" tIns="0" rIns="0" bIns="0" rtlCol="0" anchor="t"/>
          <a:lstStyle/>
          <a:p>
            <a:pPr algn="l" indent="0" marL="0">
              <a:lnSpc>
                <a:spcPct val="110000"/>
              </a:lnSpc>
              <a:buNone/>
            </a:pPr>
            <a:r>
              <a:rPr lang="en-US" sz="1300" dirty="0">
                <a:solidFill>
                  <a:schemeClr val="accent3"/>
                </a:solidFill>
              </a:rPr>
              <a:t>증강셋 (9:1 분할)</a:t>
            </a:r>
            <a:endParaRPr lang="en-US" sz="1300" dirty="0"/>
          </a:p>
        </p:txBody>
      </p:sp>
      <p:sp>
        <p:nvSpPr>
          <p:cNvPr id="18" name="Text 15"/>
          <p:cNvSpPr txBox="1"/>
          <p:nvPr/>
        </p:nvSpPr>
        <p:spPr>
          <a:xfrm>
            <a:off x="7223760" y="4663440"/>
            <a:ext cx="4416552" cy="548640"/>
          </a:xfrm>
          <a:prstGeom prst="rect">
            <a:avLst/>
          </a:prstGeom>
          <a:noFill/>
          <a:ln/>
        </p:spPr>
        <p:txBody>
          <a:bodyPr wrap="square" lIns="0" tIns="0" rIns="0" bIns="0" rtlCol="0" anchor="t"/>
          <a:lstStyle/>
          <a:p>
            <a:pPr algn="l" indent="0" marL="0">
              <a:lnSpc>
                <a:spcPct val="110000"/>
              </a:lnSpc>
              <a:buNone/>
            </a:pPr>
            <a:r>
              <a:rPr lang="en-US" sz="1200" dirty="0">
                <a:solidFill>
                  <a:schemeClr val="accent3"/>
                </a:solidFill>
              </a:rPr>
              <a:t>open · short · mouse bite · spur · missing hole · spurious copper</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제3장 · 수식</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생성 모델과 평가 지표</a:t>
            </a:r>
            <a:endParaRPr lang="en-US" sz="2400" dirty="0"/>
          </a:p>
        </p:txBody>
      </p:sp>
      <p:sp>
        <p:nvSpPr>
          <p:cNvPr id="5" name="Text 2"/>
          <p:cNvSpPr txBox="1"/>
          <p:nvPr/>
        </p:nvSpPr>
        <p:spPr>
          <a:xfrm>
            <a:off x="548640" y="1234440"/>
            <a:ext cx="5577840" cy="32004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생성 모델</a:t>
            </a:r>
            <a:endParaRPr lang="en-US" sz="1500" dirty="0"/>
          </a:p>
        </p:txBody>
      </p:sp>
      <p:sp>
        <p:nvSpPr>
          <p:cNvPr id="6" name="Shape 3"/>
          <p:cNvSpPr/>
          <p:nvPr/>
        </p:nvSpPr>
        <p:spPr>
          <a:xfrm>
            <a:off x="548640" y="1645920"/>
            <a:ext cx="5577840" cy="1024128"/>
          </a:xfrm>
          <a:prstGeom prst="roundRect">
            <a:avLst>
              <a:gd name="adj" fmla="val 7143"/>
            </a:avLst>
          </a:prstGeom>
          <a:solidFill>
            <a:schemeClr val="bg2"/>
          </a:solidFill>
          <a:ln/>
        </p:spPr>
      </p:sp>
      <p:sp>
        <p:nvSpPr>
          <p:cNvPr id="7" name="Shape 4"/>
          <p:cNvSpPr/>
          <p:nvPr/>
        </p:nvSpPr>
        <p:spPr>
          <a:xfrm>
            <a:off x="685800" y="1755648"/>
            <a:ext cx="384048" cy="384048"/>
          </a:xfrm>
          <a:prstGeom prst="ellipse">
            <a:avLst/>
          </a:prstGeom>
          <a:solidFill>
            <a:schemeClr val="accent1"/>
          </a:solidFill>
          <a:ln/>
        </p:spPr>
      </p:sp>
      <p:sp>
        <p:nvSpPr>
          <p:cNvPr id="8" name="Text 5"/>
          <p:cNvSpPr txBox="1"/>
          <p:nvPr/>
        </p:nvSpPr>
        <p:spPr>
          <a:xfrm>
            <a:off x="685800" y="1755648"/>
            <a:ext cx="384048" cy="384048"/>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1</a:t>
            </a:r>
            <a:endParaRPr lang="en-US" sz="1200" dirty="0"/>
          </a:p>
        </p:txBody>
      </p:sp>
      <p:pic>
        <p:nvPicPr>
          <p:cNvPr id="9" name="Image 0" descr="gan1">    </p:cNvPr>
          <p:cNvPicPr>
            <a:picLocks noChangeAspect="1"/>
          </p:cNvPicPr>
          <p:nvPr/>
        </p:nvPicPr>
        <p:blipFill>
          <a:blip r:embed="rId1"/>
          <a:stretch>
            <a:fillRect/>
          </a:stretch>
        </p:blipFill>
        <p:spPr>
          <a:xfrm>
            <a:off x="1234440" y="1797025"/>
            <a:ext cx="1736446" cy="374447"/>
          </a:xfrm>
          <a:prstGeom prst="rect">
            <a:avLst/>
          </a:prstGeom>
        </p:spPr>
      </p:pic>
      <p:sp>
        <p:nvSpPr>
          <p:cNvPr id="10" name="Text 6"/>
          <p:cNvSpPr txBox="1"/>
          <p:nvPr/>
        </p:nvSpPr>
        <p:spPr>
          <a:xfrm>
            <a:off x="1234440" y="2304288"/>
            <a:ext cx="4709160" cy="320040"/>
          </a:xfrm>
          <a:prstGeom prst="rect">
            <a:avLst/>
          </a:prstGeom>
          <a:noFill/>
          <a:ln/>
        </p:spPr>
        <p:txBody>
          <a:bodyPr wrap="square" lIns="0" tIns="0" rIns="0" bIns="0" rtlCol="0" anchor="t"/>
          <a:lstStyle/>
          <a:p>
            <a:pPr algn="l" indent="0" marL="0">
              <a:lnSpc>
                <a:spcPct val="110000"/>
              </a:lnSpc>
              <a:buNone/>
            </a:pPr>
            <a:r>
              <a:rPr lang="en-US" sz="1300" dirty="0">
                <a:solidFill>
                  <a:schemeClr val="accent3"/>
                </a:solidFill>
              </a:rPr>
              <a:t>GAN 적대적 목표: G는 V를 최소화, D는 최대화</a:t>
            </a:r>
            <a:endParaRPr lang="en-US" sz="1300" dirty="0"/>
          </a:p>
        </p:txBody>
      </p:sp>
      <p:sp>
        <p:nvSpPr>
          <p:cNvPr id="11" name="Shape 7"/>
          <p:cNvSpPr/>
          <p:nvPr/>
        </p:nvSpPr>
        <p:spPr>
          <a:xfrm>
            <a:off x="548640" y="2788920"/>
            <a:ext cx="5577840" cy="1024128"/>
          </a:xfrm>
          <a:prstGeom prst="roundRect">
            <a:avLst>
              <a:gd name="adj" fmla="val 7143"/>
            </a:avLst>
          </a:prstGeom>
          <a:solidFill>
            <a:schemeClr val="bg1"/>
          </a:solidFill>
          <a:ln w="12700">
            <a:solidFill>
              <a:srgbClr val="D9DEE3"/>
            </a:solidFill>
            <a:prstDash val="solid"/>
          </a:ln>
        </p:spPr>
      </p:sp>
      <p:sp>
        <p:nvSpPr>
          <p:cNvPr id="12" name="Shape 8"/>
          <p:cNvSpPr/>
          <p:nvPr/>
        </p:nvSpPr>
        <p:spPr>
          <a:xfrm>
            <a:off x="685800" y="2898648"/>
            <a:ext cx="384048" cy="384048"/>
          </a:xfrm>
          <a:prstGeom prst="ellipse">
            <a:avLst/>
          </a:prstGeom>
          <a:solidFill>
            <a:schemeClr val="accent1"/>
          </a:solidFill>
          <a:ln/>
        </p:spPr>
      </p:sp>
      <p:sp>
        <p:nvSpPr>
          <p:cNvPr id="13" name="Text 9"/>
          <p:cNvSpPr txBox="1"/>
          <p:nvPr/>
        </p:nvSpPr>
        <p:spPr>
          <a:xfrm>
            <a:off x="685800" y="2898648"/>
            <a:ext cx="384048" cy="384048"/>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2</a:t>
            </a:r>
            <a:endParaRPr lang="en-US" sz="1200" dirty="0"/>
          </a:p>
        </p:txBody>
      </p:sp>
      <p:pic>
        <p:nvPicPr>
          <p:cNvPr id="14" name="Image 1" descr="gan2">    </p:cNvPr>
          <p:cNvPicPr>
            <a:picLocks noChangeAspect="1"/>
          </p:cNvPicPr>
          <p:nvPr/>
        </p:nvPicPr>
        <p:blipFill>
          <a:blip r:embed="rId2"/>
          <a:stretch>
            <a:fillRect/>
          </a:stretch>
        </p:blipFill>
        <p:spPr>
          <a:xfrm>
            <a:off x="1234440" y="3001947"/>
            <a:ext cx="4709160" cy="250602"/>
          </a:xfrm>
          <a:prstGeom prst="rect">
            <a:avLst/>
          </a:prstGeom>
        </p:spPr>
      </p:pic>
      <p:sp>
        <p:nvSpPr>
          <p:cNvPr id="15" name="Text 10"/>
          <p:cNvSpPr txBox="1"/>
          <p:nvPr/>
        </p:nvSpPr>
        <p:spPr>
          <a:xfrm>
            <a:off x="1234440" y="3447288"/>
            <a:ext cx="4709160" cy="320040"/>
          </a:xfrm>
          <a:prstGeom prst="rect">
            <a:avLst/>
          </a:prstGeom>
          <a:noFill/>
          <a:ln/>
        </p:spPr>
        <p:txBody>
          <a:bodyPr wrap="square" lIns="0" tIns="0" rIns="0" bIns="0" rtlCol="0" anchor="t"/>
          <a:lstStyle/>
          <a:p>
            <a:pPr algn="l" indent="0" marL="0">
              <a:lnSpc>
                <a:spcPct val="110000"/>
              </a:lnSpc>
              <a:buNone/>
            </a:pPr>
            <a:r>
              <a:rPr lang="en-US" sz="1300" dirty="0">
                <a:solidFill>
                  <a:schemeClr val="accent3"/>
                </a:solidFill>
              </a:rPr>
              <a:t>GAN 가치함수: G가 실제 데이터 분포를 근사하도록 학습</a:t>
            </a:r>
            <a:endParaRPr lang="en-US" sz="1300" dirty="0"/>
          </a:p>
        </p:txBody>
      </p:sp>
      <p:sp>
        <p:nvSpPr>
          <p:cNvPr id="16" name="Shape 11"/>
          <p:cNvSpPr/>
          <p:nvPr/>
        </p:nvSpPr>
        <p:spPr>
          <a:xfrm>
            <a:off x="548640" y="3931920"/>
            <a:ext cx="5577840" cy="1024128"/>
          </a:xfrm>
          <a:prstGeom prst="roundRect">
            <a:avLst>
              <a:gd name="adj" fmla="val 7143"/>
            </a:avLst>
          </a:prstGeom>
          <a:solidFill>
            <a:schemeClr val="bg2"/>
          </a:solidFill>
          <a:ln/>
        </p:spPr>
      </p:sp>
      <p:sp>
        <p:nvSpPr>
          <p:cNvPr id="17" name="Shape 12"/>
          <p:cNvSpPr/>
          <p:nvPr/>
        </p:nvSpPr>
        <p:spPr>
          <a:xfrm>
            <a:off x="685800" y="4041648"/>
            <a:ext cx="384048" cy="384048"/>
          </a:xfrm>
          <a:prstGeom prst="ellipse">
            <a:avLst/>
          </a:prstGeom>
          <a:solidFill>
            <a:schemeClr val="accent1"/>
          </a:solidFill>
          <a:ln/>
        </p:spPr>
      </p:sp>
      <p:sp>
        <p:nvSpPr>
          <p:cNvPr id="18" name="Text 13"/>
          <p:cNvSpPr txBox="1"/>
          <p:nvPr/>
        </p:nvSpPr>
        <p:spPr>
          <a:xfrm>
            <a:off x="685800" y="4041648"/>
            <a:ext cx="384048" cy="384048"/>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3</a:t>
            </a:r>
            <a:endParaRPr lang="en-US" sz="1200" dirty="0"/>
          </a:p>
        </p:txBody>
      </p:sp>
      <p:pic>
        <p:nvPicPr>
          <p:cNvPr id="19" name="Image 2" descr="dif3">    </p:cNvPr>
          <p:cNvPicPr>
            <a:picLocks noChangeAspect="1"/>
          </p:cNvPicPr>
          <p:nvPr/>
        </p:nvPicPr>
        <p:blipFill>
          <a:blip r:embed="rId3"/>
          <a:stretch>
            <a:fillRect/>
          </a:stretch>
        </p:blipFill>
        <p:spPr>
          <a:xfrm>
            <a:off x="1234440" y="4135488"/>
            <a:ext cx="1220038" cy="269519"/>
          </a:xfrm>
          <a:prstGeom prst="rect">
            <a:avLst/>
          </a:prstGeom>
        </p:spPr>
      </p:pic>
      <p:sp>
        <p:nvSpPr>
          <p:cNvPr id="20" name="Text 14"/>
          <p:cNvSpPr txBox="1"/>
          <p:nvPr/>
        </p:nvSpPr>
        <p:spPr>
          <a:xfrm>
            <a:off x="1234440" y="4590288"/>
            <a:ext cx="4709160" cy="320040"/>
          </a:xfrm>
          <a:prstGeom prst="rect">
            <a:avLst/>
          </a:prstGeom>
          <a:noFill/>
          <a:ln/>
        </p:spPr>
        <p:txBody>
          <a:bodyPr wrap="square" lIns="0" tIns="0" rIns="0" bIns="0" rtlCol="0" anchor="t"/>
          <a:lstStyle/>
          <a:p>
            <a:pPr algn="l" indent="0" marL="0">
              <a:lnSpc>
                <a:spcPct val="110000"/>
              </a:lnSpc>
              <a:buNone/>
            </a:pPr>
            <a:r>
              <a:rPr lang="en-US" sz="1300" dirty="0">
                <a:solidFill>
                  <a:schemeClr val="accent3"/>
                </a:solidFill>
              </a:rPr>
              <a:t>Diffusion 순방향: 정규분포 노이즈를 점진적으로 추가</a:t>
            </a:r>
            <a:endParaRPr lang="en-US" sz="1300" dirty="0"/>
          </a:p>
        </p:txBody>
      </p:sp>
      <p:sp>
        <p:nvSpPr>
          <p:cNvPr id="21" name="Shape 15"/>
          <p:cNvSpPr/>
          <p:nvPr/>
        </p:nvSpPr>
        <p:spPr>
          <a:xfrm>
            <a:off x="548640" y="5074920"/>
            <a:ext cx="5577840" cy="1024128"/>
          </a:xfrm>
          <a:prstGeom prst="roundRect">
            <a:avLst>
              <a:gd name="adj" fmla="val 7143"/>
            </a:avLst>
          </a:prstGeom>
          <a:solidFill>
            <a:schemeClr val="bg1"/>
          </a:solidFill>
          <a:ln w="12700">
            <a:solidFill>
              <a:srgbClr val="D9DEE3"/>
            </a:solidFill>
            <a:prstDash val="solid"/>
          </a:ln>
        </p:spPr>
      </p:sp>
      <p:sp>
        <p:nvSpPr>
          <p:cNvPr id="22" name="Shape 16"/>
          <p:cNvSpPr/>
          <p:nvPr/>
        </p:nvSpPr>
        <p:spPr>
          <a:xfrm>
            <a:off x="685800" y="5184648"/>
            <a:ext cx="384048" cy="384048"/>
          </a:xfrm>
          <a:prstGeom prst="ellipse">
            <a:avLst/>
          </a:prstGeom>
          <a:solidFill>
            <a:schemeClr val="accent1"/>
          </a:solidFill>
          <a:ln/>
        </p:spPr>
      </p:sp>
      <p:sp>
        <p:nvSpPr>
          <p:cNvPr id="23" name="Text 17"/>
          <p:cNvSpPr txBox="1"/>
          <p:nvPr/>
        </p:nvSpPr>
        <p:spPr>
          <a:xfrm>
            <a:off x="685800" y="5184648"/>
            <a:ext cx="384048" cy="384048"/>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4</a:t>
            </a:r>
            <a:endParaRPr lang="en-US" sz="1200" dirty="0"/>
          </a:p>
        </p:txBody>
      </p:sp>
      <p:pic>
        <p:nvPicPr>
          <p:cNvPr id="24" name="Image 3" descr="dif4">    </p:cNvPr>
          <p:cNvPicPr>
            <a:picLocks noChangeAspect="1"/>
          </p:cNvPicPr>
          <p:nvPr/>
        </p:nvPicPr>
        <p:blipFill>
          <a:blip r:embed="rId4"/>
          <a:stretch>
            <a:fillRect/>
          </a:stretch>
        </p:blipFill>
        <p:spPr>
          <a:xfrm>
            <a:off x="1234440" y="5278488"/>
            <a:ext cx="2775433" cy="269519"/>
          </a:xfrm>
          <a:prstGeom prst="rect">
            <a:avLst/>
          </a:prstGeom>
        </p:spPr>
      </p:pic>
      <p:sp>
        <p:nvSpPr>
          <p:cNvPr id="25" name="Text 18"/>
          <p:cNvSpPr txBox="1"/>
          <p:nvPr/>
        </p:nvSpPr>
        <p:spPr>
          <a:xfrm>
            <a:off x="1234440" y="5733288"/>
            <a:ext cx="4709160" cy="320040"/>
          </a:xfrm>
          <a:prstGeom prst="rect">
            <a:avLst/>
          </a:prstGeom>
          <a:noFill/>
          <a:ln/>
        </p:spPr>
        <p:txBody>
          <a:bodyPr wrap="square" lIns="0" tIns="0" rIns="0" bIns="0" rtlCol="0" anchor="t"/>
          <a:lstStyle/>
          <a:p>
            <a:pPr algn="l" indent="0" marL="0">
              <a:lnSpc>
                <a:spcPct val="110000"/>
              </a:lnSpc>
              <a:buNone/>
            </a:pPr>
            <a:r>
              <a:rPr lang="en-US" sz="1300" dirty="0">
                <a:solidFill>
                  <a:schemeClr val="accent3"/>
                </a:solidFill>
              </a:rPr>
              <a:t>Diffusion 역방향: U-Net이 노이즈를 예측·제거해 복원</a:t>
            </a:r>
            <a:endParaRPr lang="en-US" sz="1300" dirty="0"/>
          </a:p>
        </p:txBody>
      </p:sp>
      <p:sp>
        <p:nvSpPr>
          <p:cNvPr id="26" name="Text 19"/>
          <p:cNvSpPr txBox="1"/>
          <p:nvPr/>
        </p:nvSpPr>
        <p:spPr>
          <a:xfrm>
            <a:off x="6355080" y="1234440"/>
            <a:ext cx="5285232" cy="32004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평가 지표</a:t>
            </a:r>
            <a:endParaRPr lang="en-US" sz="1500" dirty="0"/>
          </a:p>
        </p:txBody>
      </p:sp>
      <p:sp>
        <p:nvSpPr>
          <p:cNvPr id="27" name="Shape 20"/>
          <p:cNvSpPr/>
          <p:nvPr/>
        </p:nvSpPr>
        <p:spPr>
          <a:xfrm>
            <a:off x="6355080" y="1645920"/>
            <a:ext cx="5285232" cy="1024128"/>
          </a:xfrm>
          <a:prstGeom prst="roundRect">
            <a:avLst>
              <a:gd name="adj" fmla="val 7143"/>
            </a:avLst>
          </a:prstGeom>
          <a:solidFill>
            <a:schemeClr val="bg2"/>
          </a:solidFill>
          <a:ln/>
        </p:spPr>
      </p:sp>
      <p:sp>
        <p:nvSpPr>
          <p:cNvPr id="28" name="Shape 21"/>
          <p:cNvSpPr/>
          <p:nvPr/>
        </p:nvSpPr>
        <p:spPr>
          <a:xfrm>
            <a:off x="6492240" y="1755648"/>
            <a:ext cx="384048" cy="384048"/>
          </a:xfrm>
          <a:prstGeom prst="ellipse">
            <a:avLst/>
          </a:prstGeom>
          <a:solidFill>
            <a:schemeClr val="accent1"/>
          </a:solidFill>
          <a:ln/>
        </p:spPr>
      </p:sp>
      <p:sp>
        <p:nvSpPr>
          <p:cNvPr id="29" name="Text 22"/>
          <p:cNvSpPr txBox="1"/>
          <p:nvPr/>
        </p:nvSpPr>
        <p:spPr>
          <a:xfrm>
            <a:off x="6492240" y="1755648"/>
            <a:ext cx="384048" cy="384048"/>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5</a:t>
            </a:r>
            <a:endParaRPr lang="en-US" sz="1200" dirty="0"/>
          </a:p>
        </p:txBody>
      </p:sp>
      <p:pic>
        <p:nvPicPr>
          <p:cNvPr id="30" name="Image 4" descr="m5">    </p:cNvPr>
          <p:cNvPicPr>
            <a:picLocks noChangeAspect="1"/>
          </p:cNvPicPr>
          <p:nvPr/>
        </p:nvPicPr>
        <p:blipFill>
          <a:blip r:embed="rId5"/>
          <a:stretch>
            <a:fillRect/>
          </a:stretch>
        </p:blipFill>
        <p:spPr>
          <a:xfrm>
            <a:off x="7040880" y="1763078"/>
            <a:ext cx="1298219" cy="442341"/>
          </a:xfrm>
          <a:prstGeom prst="rect">
            <a:avLst/>
          </a:prstGeom>
        </p:spPr>
      </p:pic>
      <p:sp>
        <p:nvSpPr>
          <p:cNvPr id="31" name="Text 23"/>
          <p:cNvSpPr txBox="1"/>
          <p:nvPr/>
        </p:nvSpPr>
        <p:spPr>
          <a:xfrm>
            <a:off x="7040880" y="2304288"/>
            <a:ext cx="4416552" cy="320040"/>
          </a:xfrm>
          <a:prstGeom prst="rect">
            <a:avLst/>
          </a:prstGeom>
          <a:noFill/>
          <a:ln/>
        </p:spPr>
        <p:txBody>
          <a:bodyPr wrap="square" lIns="0" tIns="0" rIns="0" bIns="0" rtlCol="0" anchor="t"/>
          <a:lstStyle/>
          <a:p>
            <a:pPr algn="l" indent="0" marL="0">
              <a:lnSpc>
                <a:spcPct val="110000"/>
              </a:lnSpc>
              <a:buNone/>
            </a:pPr>
            <a:r>
              <a:rPr lang="en-US" sz="1300" dirty="0">
                <a:solidFill>
                  <a:schemeClr val="accent3"/>
                </a:solidFill>
              </a:rPr>
              <a:t>정밀도: 검출한 것 중 실제 결함 비율</a:t>
            </a:r>
            <a:endParaRPr lang="en-US" sz="1300" dirty="0"/>
          </a:p>
        </p:txBody>
      </p:sp>
      <p:sp>
        <p:nvSpPr>
          <p:cNvPr id="32" name="Shape 24"/>
          <p:cNvSpPr/>
          <p:nvPr/>
        </p:nvSpPr>
        <p:spPr>
          <a:xfrm>
            <a:off x="6355080" y="2788920"/>
            <a:ext cx="5285232" cy="1024128"/>
          </a:xfrm>
          <a:prstGeom prst="roundRect">
            <a:avLst>
              <a:gd name="adj" fmla="val 7143"/>
            </a:avLst>
          </a:prstGeom>
          <a:solidFill>
            <a:schemeClr val="bg1"/>
          </a:solidFill>
          <a:ln w="12700">
            <a:solidFill>
              <a:srgbClr val="D9DEE3"/>
            </a:solidFill>
            <a:prstDash val="solid"/>
          </a:ln>
        </p:spPr>
      </p:sp>
      <p:sp>
        <p:nvSpPr>
          <p:cNvPr id="33" name="Shape 25"/>
          <p:cNvSpPr/>
          <p:nvPr/>
        </p:nvSpPr>
        <p:spPr>
          <a:xfrm>
            <a:off x="6492240" y="2898648"/>
            <a:ext cx="384048" cy="384048"/>
          </a:xfrm>
          <a:prstGeom prst="ellipse">
            <a:avLst/>
          </a:prstGeom>
          <a:solidFill>
            <a:schemeClr val="accent1"/>
          </a:solidFill>
          <a:ln/>
        </p:spPr>
      </p:sp>
      <p:sp>
        <p:nvSpPr>
          <p:cNvPr id="34" name="Text 26"/>
          <p:cNvSpPr txBox="1"/>
          <p:nvPr/>
        </p:nvSpPr>
        <p:spPr>
          <a:xfrm>
            <a:off x="6492240" y="2898648"/>
            <a:ext cx="384048" cy="384048"/>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6</a:t>
            </a:r>
            <a:endParaRPr lang="en-US" sz="1200" dirty="0"/>
          </a:p>
        </p:txBody>
      </p:sp>
      <p:pic>
        <p:nvPicPr>
          <p:cNvPr id="35" name="Image 5" descr="m6">    </p:cNvPr>
          <p:cNvPicPr>
            <a:picLocks noChangeAspect="1"/>
          </p:cNvPicPr>
          <p:nvPr/>
        </p:nvPicPr>
        <p:blipFill>
          <a:blip r:embed="rId6"/>
          <a:stretch>
            <a:fillRect/>
          </a:stretch>
        </p:blipFill>
        <p:spPr>
          <a:xfrm>
            <a:off x="7040880" y="2906077"/>
            <a:ext cx="1353769" cy="442341"/>
          </a:xfrm>
          <a:prstGeom prst="rect">
            <a:avLst/>
          </a:prstGeom>
        </p:spPr>
      </p:pic>
      <p:sp>
        <p:nvSpPr>
          <p:cNvPr id="36" name="Text 27"/>
          <p:cNvSpPr txBox="1"/>
          <p:nvPr/>
        </p:nvSpPr>
        <p:spPr>
          <a:xfrm>
            <a:off x="7040880" y="3447288"/>
            <a:ext cx="4416552" cy="320040"/>
          </a:xfrm>
          <a:prstGeom prst="rect">
            <a:avLst/>
          </a:prstGeom>
          <a:noFill/>
          <a:ln/>
        </p:spPr>
        <p:txBody>
          <a:bodyPr wrap="square" lIns="0" tIns="0" rIns="0" bIns="0" rtlCol="0" anchor="t"/>
          <a:lstStyle/>
          <a:p>
            <a:pPr algn="l" indent="0" marL="0">
              <a:lnSpc>
                <a:spcPct val="110000"/>
              </a:lnSpc>
              <a:buNone/>
            </a:pPr>
            <a:r>
              <a:rPr lang="en-US" sz="1300" dirty="0">
                <a:solidFill>
                  <a:schemeClr val="accent3"/>
                </a:solidFill>
              </a:rPr>
              <a:t>재현율: 실제 결함 중 검출한 비율</a:t>
            </a:r>
            <a:endParaRPr lang="en-US" sz="1300" dirty="0"/>
          </a:p>
        </p:txBody>
      </p:sp>
      <p:sp>
        <p:nvSpPr>
          <p:cNvPr id="37" name="Shape 28"/>
          <p:cNvSpPr/>
          <p:nvPr/>
        </p:nvSpPr>
        <p:spPr>
          <a:xfrm>
            <a:off x="6355080" y="3931920"/>
            <a:ext cx="5285232" cy="1024128"/>
          </a:xfrm>
          <a:prstGeom prst="roundRect">
            <a:avLst>
              <a:gd name="adj" fmla="val 7143"/>
            </a:avLst>
          </a:prstGeom>
          <a:solidFill>
            <a:schemeClr val="bg2"/>
          </a:solidFill>
          <a:ln/>
        </p:spPr>
      </p:sp>
      <p:sp>
        <p:nvSpPr>
          <p:cNvPr id="38" name="Shape 29"/>
          <p:cNvSpPr/>
          <p:nvPr/>
        </p:nvSpPr>
        <p:spPr>
          <a:xfrm>
            <a:off x="6492240" y="4041648"/>
            <a:ext cx="384048" cy="384048"/>
          </a:xfrm>
          <a:prstGeom prst="ellipse">
            <a:avLst/>
          </a:prstGeom>
          <a:solidFill>
            <a:schemeClr val="accent1"/>
          </a:solidFill>
          <a:ln/>
        </p:spPr>
      </p:sp>
      <p:sp>
        <p:nvSpPr>
          <p:cNvPr id="39" name="Text 30"/>
          <p:cNvSpPr txBox="1"/>
          <p:nvPr/>
        </p:nvSpPr>
        <p:spPr>
          <a:xfrm>
            <a:off x="6492240" y="4041648"/>
            <a:ext cx="384048" cy="384048"/>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7</a:t>
            </a:r>
            <a:endParaRPr lang="en-US" sz="1200" dirty="0"/>
          </a:p>
        </p:txBody>
      </p:sp>
      <p:pic>
        <p:nvPicPr>
          <p:cNvPr id="40" name="Image 6" descr="m7">    </p:cNvPr>
          <p:cNvPicPr>
            <a:picLocks noChangeAspect="1"/>
          </p:cNvPicPr>
          <p:nvPr/>
        </p:nvPicPr>
        <p:blipFill>
          <a:blip r:embed="rId7"/>
          <a:stretch>
            <a:fillRect/>
          </a:stretch>
        </p:blipFill>
        <p:spPr>
          <a:xfrm>
            <a:off x="7040880" y="3986784"/>
            <a:ext cx="1508874" cy="566928"/>
          </a:xfrm>
          <a:prstGeom prst="rect">
            <a:avLst/>
          </a:prstGeom>
        </p:spPr>
      </p:pic>
      <p:sp>
        <p:nvSpPr>
          <p:cNvPr id="41" name="Text 31"/>
          <p:cNvSpPr txBox="1"/>
          <p:nvPr/>
        </p:nvSpPr>
        <p:spPr>
          <a:xfrm>
            <a:off x="7040880" y="4590288"/>
            <a:ext cx="4416552" cy="320040"/>
          </a:xfrm>
          <a:prstGeom prst="rect">
            <a:avLst/>
          </a:prstGeom>
          <a:noFill/>
          <a:ln/>
        </p:spPr>
        <p:txBody>
          <a:bodyPr wrap="square" lIns="0" tIns="0" rIns="0" bIns="0" rtlCol="0" anchor="t"/>
          <a:lstStyle/>
          <a:p>
            <a:pPr algn="l" indent="0" marL="0">
              <a:lnSpc>
                <a:spcPct val="110000"/>
              </a:lnSpc>
              <a:buNone/>
            </a:pPr>
            <a:r>
              <a:rPr lang="en-US" sz="1300" dirty="0">
                <a:solidFill>
                  <a:schemeClr val="accent3"/>
                </a:solidFill>
              </a:rPr>
              <a:t>AP: 클래스별 PR 곡선 아래 면적</a:t>
            </a:r>
            <a:endParaRPr lang="en-US" sz="1300" dirty="0"/>
          </a:p>
        </p:txBody>
      </p:sp>
      <p:sp>
        <p:nvSpPr>
          <p:cNvPr id="42" name="Shape 32"/>
          <p:cNvSpPr/>
          <p:nvPr/>
        </p:nvSpPr>
        <p:spPr>
          <a:xfrm>
            <a:off x="6355080" y="5074920"/>
            <a:ext cx="5285232" cy="1024128"/>
          </a:xfrm>
          <a:prstGeom prst="roundRect">
            <a:avLst>
              <a:gd name="adj" fmla="val 7143"/>
            </a:avLst>
          </a:prstGeom>
          <a:solidFill>
            <a:schemeClr val="bg1"/>
          </a:solidFill>
          <a:ln w="12700">
            <a:solidFill>
              <a:srgbClr val="D9DEE3"/>
            </a:solidFill>
            <a:prstDash val="solid"/>
          </a:ln>
        </p:spPr>
      </p:sp>
      <p:sp>
        <p:nvSpPr>
          <p:cNvPr id="43" name="Shape 33"/>
          <p:cNvSpPr/>
          <p:nvPr/>
        </p:nvSpPr>
        <p:spPr>
          <a:xfrm>
            <a:off x="6492240" y="5184648"/>
            <a:ext cx="384048" cy="384048"/>
          </a:xfrm>
          <a:prstGeom prst="ellipse">
            <a:avLst/>
          </a:prstGeom>
          <a:solidFill>
            <a:schemeClr val="accent1"/>
          </a:solidFill>
          <a:ln/>
        </p:spPr>
      </p:sp>
      <p:sp>
        <p:nvSpPr>
          <p:cNvPr id="44" name="Text 34"/>
          <p:cNvSpPr txBox="1"/>
          <p:nvPr/>
        </p:nvSpPr>
        <p:spPr>
          <a:xfrm>
            <a:off x="6492240" y="5184648"/>
            <a:ext cx="384048" cy="384048"/>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8</a:t>
            </a:r>
            <a:endParaRPr lang="en-US" sz="1200" dirty="0"/>
          </a:p>
        </p:txBody>
      </p:sp>
      <p:pic>
        <p:nvPicPr>
          <p:cNvPr id="45" name="Image 7" descr="m8">    </p:cNvPr>
          <p:cNvPicPr>
            <a:picLocks noChangeAspect="1"/>
          </p:cNvPicPr>
          <p:nvPr/>
        </p:nvPicPr>
        <p:blipFill>
          <a:blip r:embed="rId8"/>
          <a:stretch>
            <a:fillRect/>
          </a:stretch>
        </p:blipFill>
        <p:spPr>
          <a:xfrm>
            <a:off x="7040880" y="5129784"/>
            <a:ext cx="1446102" cy="566928"/>
          </a:xfrm>
          <a:prstGeom prst="rect">
            <a:avLst/>
          </a:prstGeom>
        </p:spPr>
      </p:pic>
      <p:sp>
        <p:nvSpPr>
          <p:cNvPr id="46" name="Text 35"/>
          <p:cNvSpPr txBox="1"/>
          <p:nvPr/>
        </p:nvSpPr>
        <p:spPr>
          <a:xfrm>
            <a:off x="7040880" y="5733288"/>
            <a:ext cx="4416552" cy="320040"/>
          </a:xfrm>
          <a:prstGeom prst="rect">
            <a:avLst/>
          </a:prstGeom>
          <a:noFill/>
          <a:ln/>
        </p:spPr>
        <p:txBody>
          <a:bodyPr wrap="square" lIns="0" tIns="0" rIns="0" bIns="0" rtlCol="0" anchor="t"/>
          <a:lstStyle/>
          <a:p>
            <a:pPr algn="l" indent="0" marL="0">
              <a:lnSpc>
                <a:spcPct val="110000"/>
              </a:lnSpc>
              <a:buNone/>
            </a:pPr>
            <a:r>
              <a:rPr lang="en-US" sz="1300" dirty="0">
                <a:solidFill>
                  <a:schemeClr val="accent3"/>
                </a:solidFill>
              </a:rPr>
              <a:t>mAP: 전 클래스 AP 평균 (N = 클래스 수)</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제3장 · 처리 흐름</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처리 흐름과 핵심 메시지</a:t>
            </a:r>
            <a:endParaRPr lang="en-US" sz="2400" dirty="0"/>
          </a:p>
        </p:txBody>
      </p:sp>
      <p:sp>
        <p:nvSpPr>
          <p:cNvPr id="5" name="Shape 2"/>
          <p:cNvSpPr/>
          <p:nvPr/>
        </p:nvSpPr>
        <p:spPr>
          <a:xfrm>
            <a:off x="548640" y="1371600"/>
            <a:ext cx="1954987" cy="1691640"/>
          </a:xfrm>
          <a:prstGeom prst="roundRect">
            <a:avLst>
              <a:gd name="adj" fmla="val 4324"/>
            </a:avLst>
          </a:prstGeom>
          <a:solidFill>
            <a:schemeClr val="bg2"/>
          </a:solidFill>
          <a:ln/>
        </p:spPr>
      </p:sp>
      <p:sp>
        <p:nvSpPr>
          <p:cNvPr id="6" name="Text 3"/>
          <p:cNvSpPr txBox="1"/>
          <p:nvPr/>
        </p:nvSpPr>
        <p:spPr>
          <a:xfrm>
            <a:off x="685800" y="1508760"/>
            <a:ext cx="1680667" cy="457200"/>
          </a:xfrm>
          <a:prstGeom prst="rect">
            <a:avLst/>
          </a:prstGeom>
          <a:noFill/>
          <a:ln/>
        </p:spPr>
        <p:txBody>
          <a:bodyPr wrap="square" lIns="0" tIns="0" rIns="0" bIns="0" rtlCol="0" anchor="t"/>
          <a:lstStyle/>
          <a:p>
            <a:pPr algn="l" indent="0" marL="0">
              <a:lnSpc>
                <a:spcPct val="110000"/>
              </a:lnSpc>
              <a:buNone/>
            </a:pPr>
            <a:r>
              <a:rPr lang="en-US" sz="1400" b="1" dirty="0">
                <a:solidFill>
                  <a:schemeClr val="accent1"/>
                </a:solidFill>
              </a:rPr>
              <a:t>PCB 데이터셋</a:t>
            </a:r>
            <a:endParaRPr lang="en-US" sz="1400" dirty="0"/>
          </a:p>
        </p:txBody>
      </p:sp>
      <p:sp>
        <p:nvSpPr>
          <p:cNvPr id="7" name="Text 4"/>
          <p:cNvSpPr txBox="1"/>
          <p:nvPr/>
        </p:nvSpPr>
        <p:spPr>
          <a:xfrm>
            <a:off x="685800" y="1965960"/>
            <a:ext cx="1680667" cy="100584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PKU-HRI</a:t>
            </a:r>
            <a:endParaRPr lang="en-US" sz="1300" dirty="0"/>
          </a:p>
          <a:p>
            <a:pPr algn="l" indent="0" marL="0">
              <a:lnSpc>
                <a:spcPct val="110000"/>
              </a:lnSpc>
              <a:buNone/>
            </a:pPr>
            <a:r>
              <a:rPr lang="en-US" sz="1300" dirty="0">
                <a:solidFill>
                  <a:schemeClr val="tx1"/>
                </a:solidFill>
              </a:rPr>
              <a:t>693장 · 결함 6종</a:t>
            </a:r>
            <a:endParaRPr lang="en-US" sz="1300" dirty="0"/>
          </a:p>
        </p:txBody>
      </p:sp>
      <p:sp>
        <p:nvSpPr>
          <p:cNvPr id="8" name="Shape 5"/>
          <p:cNvSpPr/>
          <p:nvPr/>
        </p:nvSpPr>
        <p:spPr>
          <a:xfrm>
            <a:off x="2549347" y="2217420"/>
            <a:ext cx="237744" cy="0"/>
          </a:xfrm>
          <a:prstGeom prst="line">
            <a:avLst/>
          </a:prstGeom>
          <a:noFill/>
          <a:ln w="19050">
            <a:solidFill>
              <a:srgbClr val="5B6B7A"/>
            </a:solidFill>
            <a:prstDash val="solid"/>
            <a:tailEnd type="triangle"/>
          </a:ln>
        </p:spPr>
      </p:sp>
      <p:sp>
        <p:nvSpPr>
          <p:cNvPr id="9" name="Shape 6"/>
          <p:cNvSpPr/>
          <p:nvPr/>
        </p:nvSpPr>
        <p:spPr>
          <a:xfrm>
            <a:off x="2832811" y="1371600"/>
            <a:ext cx="1954987" cy="1691640"/>
          </a:xfrm>
          <a:prstGeom prst="roundRect">
            <a:avLst>
              <a:gd name="adj" fmla="val 4324"/>
            </a:avLst>
          </a:prstGeom>
          <a:solidFill>
            <a:schemeClr val="bg2"/>
          </a:solidFill>
          <a:ln/>
        </p:spPr>
      </p:sp>
      <p:sp>
        <p:nvSpPr>
          <p:cNvPr id="10" name="Text 7"/>
          <p:cNvSpPr txBox="1"/>
          <p:nvPr/>
        </p:nvSpPr>
        <p:spPr>
          <a:xfrm>
            <a:off x="2969971" y="1508760"/>
            <a:ext cx="1680667" cy="457200"/>
          </a:xfrm>
          <a:prstGeom prst="rect">
            <a:avLst/>
          </a:prstGeom>
          <a:noFill/>
          <a:ln/>
        </p:spPr>
        <p:txBody>
          <a:bodyPr wrap="square" lIns="0" tIns="0" rIns="0" bIns="0" rtlCol="0" anchor="t"/>
          <a:lstStyle/>
          <a:p>
            <a:pPr algn="l" indent="0" marL="0">
              <a:lnSpc>
                <a:spcPct val="110000"/>
              </a:lnSpc>
              <a:buNone/>
            </a:pPr>
            <a:r>
              <a:rPr lang="en-US" sz="1400" b="1" dirty="0">
                <a:solidFill>
                  <a:schemeClr val="accent1"/>
                </a:solidFill>
              </a:rPr>
              <a:t>패치 분리</a:t>
            </a:r>
            <a:endParaRPr lang="en-US" sz="1400" dirty="0"/>
          </a:p>
        </p:txBody>
      </p:sp>
      <p:sp>
        <p:nvSpPr>
          <p:cNvPr id="11" name="Text 8"/>
          <p:cNvSpPr txBox="1"/>
          <p:nvPr/>
        </p:nvSpPr>
        <p:spPr>
          <a:xfrm>
            <a:off x="2969971" y="1965960"/>
            <a:ext cx="1680667" cy="100584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카테고리별</a:t>
            </a:r>
            <a:endParaRPr lang="en-US" sz="1300" dirty="0"/>
          </a:p>
          <a:p>
            <a:pPr algn="l" indent="0" marL="0">
              <a:lnSpc>
                <a:spcPct val="110000"/>
              </a:lnSpc>
              <a:buNone/>
            </a:pPr>
            <a:r>
              <a:rPr lang="en-US" sz="1300" dirty="0">
                <a:solidFill>
                  <a:schemeClr val="tx1"/>
                </a:solidFill>
              </a:rPr>
              <a:t>결함 패치 분리</a:t>
            </a:r>
            <a:endParaRPr lang="en-US" sz="1300" dirty="0"/>
          </a:p>
        </p:txBody>
      </p:sp>
      <p:sp>
        <p:nvSpPr>
          <p:cNvPr id="12" name="Shape 9"/>
          <p:cNvSpPr/>
          <p:nvPr/>
        </p:nvSpPr>
        <p:spPr>
          <a:xfrm>
            <a:off x="4833518" y="2217420"/>
            <a:ext cx="237744" cy="0"/>
          </a:xfrm>
          <a:prstGeom prst="line">
            <a:avLst/>
          </a:prstGeom>
          <a:noFill/>
          <a:ln w="19050">
            <a:solidFill>
              <a:srgbClr val="5B6B7A"/>
            </a:solidFill>
            <a:prstDash val="solid"/>
            <a:tailEnd type="triangle"/>
          </a:ln>
        </p:spPr>
      </p:sp>
      <p:sp>
        <p:nvSpPr>
          <p:cNvPr id="13" name="Shape 10"/>
          <p:cNvSpPr/>
          <p:nvPr/>
        </p:nvSpPr>
        <p:spPr>
          <a:xfrm>
            <a:off x="5116982" y="1371600"/>
            <a:ext cx="1954987" cy="1691640"/>
          </a:xfrm>
          <a:prstGeom prst="roundRect">
            <a:avLst>
              <a:gd name="adj" fmla="val 4324"/>
            </a:avLst>
          </a:prstGeom>
          <a:solidFill>
            <a:schemeClr val="bg2"/>
          </a:solidFill>
          <a:ln/>
        </p:spPr>
      </p:sp>
      <p:sp>
        <p:nvSpPr>
          <p:cNvPr id="14" name="Text 11"/>
          <p:cNvSpPr txBox="1"/>
          <p:nvPr/>
        </p:nvSpPr>
        <p:spPr>
          <a:xfrm>
            <a:off x="5254142" y="1508760"/>
            <a:ext cx="1680667" cy="457200"/>
          </a:xfrm>
          <a:prstGeom prst="rect">
            <a:avLst/>
          </a:prstGeom>
          <a:noFill/>
          <a:ln/>
        </p:spPr>
        <p:txBody>
          <a:bodyPr wrap="square" lIns="0" tIns="0" rIns="0" bIns="0" rtlCol="0" anchor="t"/>
          <a:lstStyle/>
          <a:p>
            <a:pPr algn="l" indent="0" marL="0">
              <a:lnSpc>
                <a:spcPct val="110000"/>
              </a:lnSpc>
              <a:buNone/>
            </a:pPr>
            <a:r>
              <a:rPr lang="en-US" sz="1400" b="1" dirty="0">
                <a:solidFill>
                  <a:schemeClr val="accent1"/>
                </a:solidFill>
              </a:rPr>
              <a:t>패치 생성</a:t>
            </a:r>
            <a:endParaRPr lang="en-US" sz="1400" dirty="0"/>
          </a:p>
        </p:txBody>
      </p:sp>
      <p:sp>
        <p:nvSpPr>
          <p:cNvPr id="15" name="Text 12"/>
          <p:cNvSpPr txBox="1"/>
          <p:nvPr/>
        </p:nvSpPr>
        <p:spPr>
          <a:xfrm>
            <a:off x="5254142" y="1965960"/>
            <a:ext cx="1680667" cy="100584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GAN (1)(2)</a:t>
            </a:r>
            <a:endParaRPr lang="en-US" sz="1300" dirty="0"/>
          </a:p>
          <a:p>
            <a:pPr algn="l" indent="0" marL="0">
              <a:lnSpc>
                <a:spcPct val="110000"/>
              </a:lnSpc>
              <a:buNone/>
            </a:pPr>
            <a:r>
              <a:rPr lang="en-US" sz="1300" dirty="0">
                <a:solidFill>
                  <a:schemeClr val="tx1"/>
                </a:solidFill>
              </a:rPr>
              <a:t>Diffusion (3)(4)</a:t>
            </a:r>
            <a:endParaRPr lang="en-US" sz="1300" dirty="0"/>
          </a:p>
        </p:txBody>
      </p:sp>
      <p:sp>
        <p:nvSpPr>
          <p:cNvPr id="16" name="Shape 13"/>
          <p:cNvSpPr/>
          <p:nvPr/>
        </p:nvSpPr>
        <p:spPr>
          <a:xfrm>
            <a:off x="7117690" y="2217420"/>
            <a:ext cx="237744" cy="0"/>
          </a:xfrm>
          <a:prstGeom prst="line">
            <a:avLst/>
          </a:prstGeom>
          <a:noFill/>
          <a:ln w="19050">
            <a:solidFill>
              <a:srgbClr val="5B6B7A"/>
            </a:solidFill>
            <a:prstDash val="solid"/>
            <a:tailEnd type="triangle"/>
          </a:ln>
        </p:spPr>
      </p:sp>
      <p:sp>
        <p:nvSpPr>
          <p:cNvPr id="17" name="Shape 14"/>
          <p:cNvSpPr/>
          <p:nvPr/>
        </p:nvSpPr>
        <p:spPr>
          <a:xfrm>
            <a:off x="7401154" y="1371600"/>
            <a:ext cx="1954987" cy="1691640"/>
          </a:xfrm>
          <a:prstGeom prst="roundRect">
            <a:avLst>
              <a:gd name="adj" fmla="val 4324"/>
            </a:avLst>
          </a:prstGeom>
          <a:solidFill>
            <a:schemeClr val="bg2"/>
          </a:solidFill>
          <a:ln/>
        </p:spPr>
      </p:sp>
      <p:sp>
        <p:nvSpPr>
          <p:cNvPr id="18" name="Text 15"/>
          <p:cNvSpPr txBox="1"/>
          <p:nvPr/>
        </p:nvSpPr>
        <p:spPr>
          <a:xfrm>
            <a:off x="7538314" y="1508760"/>
            <a:ext cx="1680667" cy="457200"/>
          </a:xfrm>
          <a:prstGeom prst="rect">
            <a:avLst/>
          </a:prstGeom>
          <a:noFill/>
          <a:ln/>
        </p:spPr>
        <p:txBody>
          <a:bodyPr wrap="square" lIns="0" tIns="0" rIns="0" bIns="0" rtlCol="0" anchor="t"/>
          <a:lstStyle/>
          <a:p>
            <a:pPr algn="l" indent="0" marL="0">
              <a:lnSpc>
                <a:spcPct val="110000"/>
              </a:lnSpc>
              <a:buNone/>
            </a:pPr>
            <a:r>
              <a:rPr lang="en-US" sz="1400" b="1" dirty="0">
                <a:solidFill>
                  <a:schemeClr val="accent1"/>
                </a:solidFill>
              </a:rPr>
              <a:t>재배치</a:t>
            </a:r>
            <a:endParaRPr lang="en-US" sz="1400" dirty="0"/>
          </a:p>
        </p:txBody>
      </p:sp>
      <p:sp>
        <p:nvSpPr>
          <p:cNvPr id="19" name="Text 16"/>
          <p:cNvSpPr txBox="1"/>
          <p:nvPr/>
        </p:nvSpPr>
        <p:spPr>
          <a:xfrm>
            <a:off x="7538314" y="1965960"/>
            <a:ext cx="1680667" cy="100584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원본 라벨 위치</a:t>
            </a:r>
            <a:endParaRPr lang="en-US" sz="1300" dirty="0"/>
          </a:p>
          <a:p>
            <a:pPr algn="l" indent="0" marL="0">
              <a:lnSpc>
                <a:spcPct val="110000"/>
              </a:lnSpc>
              <a:buNone/>
            </a:pPr>
            <a:r>
              <a:rPr lang="en-US" sz="1300" dirty="0">
                <a:solidFill>
                  <a:schemeClr val="tx1"/>
                </a:solidFill>
              </a:rPr>
              <a:t>증강셋 972장</a:t>
            </a:r>
            <a:endParaRPr lang="en-US" sz="1300" dirty="0"/>
          </a:p>
        </p:txBody>
      </p:sp>
      <p:sp>
        <p:nvSpPr>
          <p:cNvPr id="20" name="Shape 17"/>
          <p:cNvSpPr/>
          <p:nvPr/>
        </p:nvSpPr>
        <p:spPr>
          <a:xfrm>
            <a:off x="9401861" y="2217420"/>
            <a:ext cx="237744" cy="0"/>
          </a:xfrm>
          <a:prstGeom prst="line">
            <a:avLst/>
          </a:prstGeom>
          <a:noFill/>
          <a:ln w="19050">
            <a:solidFill>
              <a:srgbClr val="5B6B7A"/>
            </a:solidFill>
            <a:prstDash val="solid"/>
            <a:tailEnd type="triangle"/>
          </a:ln>
        </p:spPr>
      </p:sp>
      <p:sp>
        <p:nvSpPr>
          <p:cNvPr id="21" name="Shape 18"/>
          <p:cNvSpPr/>
          <p:nvPr/>
        </p:nvSpPr>
        <p:spPr>
          <a:xfrm>
            <a:off x="9685325" y="1371600"/>
            <a:ext cx="1954987" cy="1691640"/>
          </a:xfrm>
          <a:prstGeom prst="roundRect">
            <a:avLst>
              <a:gd name="adj" fmla="val 4324"/>
            </a:avLst>
          </a:prstGeom>
          <a:solidFill>
            <a:schemeClr val="accent4"/>
          </a:solidFill>
          <a:ln/>
        </p:spPr>
      </p:sp>
      <p:sp>
        <p:nvSpPr>
          <p:cNvPr id="22" name="Text 19"/>
          <p:cNvSpPr txBox="1"/>
          <p:nvPr/>
        </p:nvSpPr>
        <p:spPr>
          <a:xfrm>
            <a:off x="9822485" y="1508760"/>
            <a:ext cx="1680667" cy="457200"/>
          </a:xfrm>
          <a:prstGeom prst="rect">
            <a:avLst/>
          </a:prstGeom>
          <a:noFill/>
          <a:ln/>
        </p:spPr>
        <p:txBody>
          <a:bodyPr wrap="square" lIns="0" tIns="0" rIns="0" bIns="0" rtlCol="0" anchor="t"/>
          <a:lstStyle/>
          <a:p>
            <a:pPr algn="l" indent="0" marL="0">
              <a:lnSpc>
                <a:spcPct val="110000"/>
              </a:lnSpc>
              <a:buNone/>
            </a:pPr>
            <a:r>
              <a:rPr lang="en-US" sz="1400" b="1" dirty="0">
                <a:solidFill>
                  <a:schemeClr val="accent1"/>
                </a:solidFill>
              </a:rPr>
              <a:t>학습·평가</a:t>
            </a:r>
            <a:endParaRPr lang="en-US" sz="1400" dirty="0"/>
          </a:p>
        </p:txBody>
      </p:sp>
      <p:sp>
        <p:nvSpPr>
          <p:cNvPr id="23" name="Text 20"/>
          <p:cNvSpPr txBox="1"/>
          <p:nvPr/>
        </p:nvSpPr>
        <p:spPr>
          <a:xfrm>
            <a:off x="9822485" y="1965960"/>
            <a:ext cx="1680667" cy="100584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YOLOv8s/m</a:t>
            </a:r>
            <a:endParaRPr lang="en-US" sz="1300" dirty="0"/>
          </a:p>
          <a:p>
            <a:pPr algn="l" indent="0" marL="0">
              <a:lnSpc>
                <a:spcPct val="110000"/>
              </a:lnSpc>
              <a:buNone/>
            </a:pPr>
            <a:r>
              <a:rPr lang="en-US" sz="1300" dirty="0">
                <a:solidFill>
                  <a:schemeClr val="tx1"/>
                </a:solidFill>
              </a:rPr>
              <a:t>P·R·mAP (5)~(8)</a:t>
            </a:r>
            <a:endParaRPr lang="en-US" sz="1300" dirty="0"/>
          </a:p>
        </p:txBody>
      </p:sp>
      <p:sp>
        <p:nvSpPr>
          <p:cNvPr id="24" name="Shape 21"/>
          <p:cNvSpPr/>
          <p:nvPr/>
        </p:nvSpPr>
        <p:spPr>
          <a:xfrm>
            <a:off x="548640" y="3429000"/>
            <a:ext cx="11091672" cy="868680"/>
          </a:xfrm>
          <a:prstGeom prst="roundRect">
            <a:avLst>
              <a:gd name="adj" fmla="val 8421"/>
            </a:avLst>
          </a:prstGeom>
          <a:solidFill>
            <a:schemeClr val="accent1"/>
          </a:solidFill>
          <a:ln/>
        </p:spPr>
      </p:sp>
      <p:sp>
        <p:nvSpPr>
          <p:cNvPr id="25" name="Text 22"/>
          <p:cNvSpPr txBox="1"/>
          <p:nvPr/>
        </p:nvSpPr>
        <p:spPr>
          <a:xfrm>
            <a:off x="868680" y="3429000"/>
            <a:ext cx="10424160" cy="868680"/>
          </a:xfrm>
          <a:prstGeom prst="rect">
            <a:avLst/>
          </a:prstGeom>
          <a:noFill/>
          <a:ln/>
        </p:spPr>
        <p:txBody>
          <a:bodyPr wrap="square" lIns="0" tIns="0" rIns="0" bIns="0" rtlCol="0" anchor="ctr"/>
          <a:lstStyle/>
          <a:p>
            <a:pPr algn="l" indent="0" marL="0">
              <a:lnSpc>
                <a:spcPct val="110000"/>
              </a:lnSpc>
              <a:buNone/>
            </a:pPr>
            <a:r>
              <a:rPr lang="en-US" sz="1800" b="1" dirty="0">
                <a:solidFill>
                  <a:schemeClr val="bg1"/>
                </a:solidFill>
              </a:rPr>
              <a:t>생성형 데이터 증강으로 결함 검출 성능을 향상시킬 수 있음을 확인</a:t>
            </a:r>
            <a:endParaRPr lang="en-US" sz="1800" dirty="0"/>
          </a:p>
        </p:txBody>
      </p:sp>
      <p:sp>
        <p:nvSpPr>
          <p:cNvPr id="26" name="Shape 23"/>
          <p:cNvSpPr/>
          <p:nvPr/>
        </p:nvSpPr>
        <p:spPr>
          <a:xfrm>
            <a:off x="548640" y="4572000"/>
            <a:ext cx="11091672" cy="1097280"/>
          </a:xfrm>
          <a:prstGeom prst="roundRect">
            <a:avLst>
              <a:gd name="adj" fmla="val 6667"/>
            </a:avLst>
          </a:prstGeom>
          <a:solidFill>
            <a:schemeClr val="accent5"/>
          </a:solidFill>
          <a:ln/>
        </p:spPr>
      </p:sp>
      <p:sp>
        <p:nvSpPr>
          <p:cNvPr id="27" name="Text 24"/>
          <p:cNvSpPr txBox="1"/>
          <p:nvPr/>
        </p:nvSpPr>
        <p:spPr>
          <a:xfrm>
            <a:off x="822960" y="4736592"/>
            <a:ext cx="914400" cy="320040"/>
          </a:xfrm>
          <a:prstGeom prst="rect">
            <a:avLst/>
          </a:prstGeom>
          <a:noFill/>
          <a:ln/>
        </p:spPr>
        <p:txBody>
          <a:bodyPr wrap="square" lIns="0" tIns="0" rIns="0" bIns="0" rtlCol="0" anchor="t"/>
          <a:lstStyle/>
          <a:p>
            <a:pPr algn="l" indent="0" marL="0">
              <a:lnSpc>
                <a:spcPct val="110000"/>
              </a:lnSpc>
              <a:buNone/>
            </a:pPr>
            <a:r>
              <a:rPr lang="en-US" sz="1400" b="1" dirty="0">
                <a:solidFill>
                  <a:schemeClr val="accent2"/>
                </a:solidFill>
              </a:rPr>
              <a:t>한계</a:t>
            </a:r>
            <a:endParaRPr lang="en-US" sz="1400" dirty="0"/>
          </a:p>
        </p:txBody>
      </p:sp>
      <p:sp>
        <p:nvSpPr>
          <p:cNvPr id="28" name="Text 25"/>
          <p:cNvSpPr txBox="1"/>
          <p:nvPr/>
        </p:nvSpPr>
        <p:spPr>
          <a:xfrm>
            <a:off x="1737360" y="4736592"/>
            <a:ext cx="9601200" cy="411480"/>
          </a:xfrm>
          <a:prstGeom prst="rect">
            <a:avLst/>
          </a:prstGeom>
          <a:noFill/>
          <a:ln/>
        </p:spPr>
        <p:txBody>
          <a:bodyPr wrap="square" lIns="0" tIns="0" rIns="0" bIns="0" rtlCol="0" anchor="t"/>
          <a:lstStyle/>
          <a:p>
            <a:pPr algn="l" indent="0" marL="0">
              <a:lnSpc>
                <a:spcPct val="110000"/>
              </a:lnSpc>
              <a:buNone/>
            </a:pPr>
            <a:r>
              <a:rPr lang="en-US" sz="1500" dirty="0">
                <a:solidFill>
                  <a:schemeClr val="tx1"/>
                </a:solidFill>
              </a:rPr>
              <a:t>생성된 패치의 배치 위치를 고려하지 않으면 기존 데이터와의 중복·과적합이 남는다</a:t>
            </a:r>
            <a:endParaRPr lang="en-US" sz="1500" dirty="0"/>
          </a:p>
        </p:txBody>
      </p:sp>
      <p:sp>
        <p:nvSpPr>
          <p:cNvPr id="29" name="Text 26"/>
          <p:cNvSpPr txBox="1"/>
          <p:nvPr/>
        </p:nvSpPr>
        <p:spPr>
          <a:xfrm>
            <a:off x="822960" y="5193792"/>
            <a:ext cx="914400" cy="320040"/>
          </a:xfrm>
          <a:prstGeom prst="rect">
            <a:avLst/>
          </a:prstGeom>
          <a:noFill/>
          <a:ln/>
        </p:spPr>
        <p:txBody>
          <a:bodyPr wrap="square" lIns="0" tIns="0" rIns="0" bIns="0" rtlCol="0" anchor="t"/>
          <a:lstStyle/>
          <a:p>
            <a:pPr algn="l" indent="0" marL="0">
              <a:lnSpc>
                <a:spcPct val="110000"/>
              </a:lnSpc>
              <a:buNone/>
            </a:pPr>
            <a:r>
              <a:rPr lang="en-US" sz="1400" b="1" dirty="0">
                <a:solidFill>
                  <a:schemeClr val="accent1"/>
                </a:solidFill>
              </a:rPr>
              <a:t>다음 장</a:t>
            </a:r>
            <a:endParaRPr lang="en-US" sz="1400" dirty="0"/>
          </a:p>
        </p:txBody>
      </p:sp>
      <p:sp>
        <p:nvSpPr>
          <p:cNvPr id="30" name="Text 27"/>
          <p:cNvSpPr txBox="1"/>
          <p:nvPr/>
        </p:nvSpPr>
        <p:spPr>
          <a:xfrm>
            <a:off x="1737360" y="5193792"/>
            <a:ext cx="9601200" cy="41148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제4장 — 어디에 붙여야 자연스러운가</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731520" y="1920240"/>
            <a:ext cx="5486400" cy="548640"/>
          </a:xfrm>
          <a:prstGeom prst="rect">
            <a:avLst/>
          </a:prstGeom>
          <a:noFill/>
          <a:ln/>
        </p:spPr>
        <p:txBody>
          <a:bodyPr wrap="square" lIns="0" tIns="0" rIns="0" bIns="0" rtlCol="0"/>
          <a:lstStyle/>
          <a:p>
            <a:pPr indent="0" marL="0">
              <a:buNone/>
            </a:pPr>
            <a:r>
              <a:rPr lang="en-US" sz="2200" b="1" dirty="0">
                <a:solidFill>
                  <a:schemeClr val="accent2"/>
                </a:solidFill>
              </a:rPr>
              <a:t>제4장</a:t>
            </a:r>
            <a:endParaRPr lang="en-US" sz="2200" dirty="0"/>
          </a:p>
        </p:txBody>
      </p:sp>
      <p:sp>
        <p:nvSpPr>
          <p:cNvPr id="3" name="Text 0"/>
          <p:cNvSpPr/>
          <p:nvPr>
            <p:ph idx="101" type="title" hasCustomPrompt="1"/>
          </p:nvPr>
        </p:nvSpPr>
        <p:spPr>
          <a:xfrm>
            <a:off x="731520" y="2560320"/>
            <a:ext cx="10698480" cy="1188720"/>
          </a:xfrm>
          <a:prstGeom prst="rect">
            <a:avLst/>
          </a:prstGeom>
          <a:noFill/>
          <a:ln/>
        </p:spPr>
        <p:txBody>
          <a:bodyPr wrap="square" lIns="0" tIns="0" rIns="0" bIns="0" rtlCol="0" anchor="t"/>
          <a:lstStyle/>
          <a:p>
            <a:pPr algn="l" indent="0" marL="0">
              <a:buNone/>
            </a:pPr>
            <a:r>
              <a:rPr lang="en-US" sz="3600" b="1" dirty="0">
                <a:solidFill>
                  <a:schemeClr val="bg1"/>
                </a:solidFill>
              </a:rPr>
              <a:t>결함검출 모델 성능 개선을 위한 결함데이터 증강</a:t>
            </a:r>
            <a:endParaRPr lang="en-US" sz="3600" dirty="0"/>
          </a:p>
        </p:txBody>
      </p:sp>
      <p:sp>
        <p:nvSpPr>
          <p:cNvPr id="4" name="Text 0"/>
          <p:cNvSpPr/>
          <p:nvPr>
            <p:ph idx="102" type="body" hasCustomPrompt="1"/>
          </p:nvPr>
        </p:nvSpPr>
        <p:spPr>
          <a:xfrm>
            <a:off x="731520" y="3931920"/>
            <a:ext cx="10698480" cy="731520"/>
          </a:xfrm>
          <a:prstGeom prst="rect">
            <a:avLst/>
          </a:prstGeom>
          <a:noFill/>
          <a:ln/>
        </p:spPr>
        <p:txBody>
          <a:bodyPr wrap="square" lIns="0" tIns="0" rIns="0" bIns="0" rtlCol="0"/>
          <a:lstStyle/>
          <a:p>
            <a:pPr indent="0" marL="0">
              <a:buNone/>
            </a:pPr>
            <a:r>
              <a:rPr lang="en-US" sz="1800" dirty="0">
                <a:solidFill>
                  <a:schemeClr val="accent4"/>
                </a:solidFill>
              </a:rPr>
              <a:t>어디에 붙여야 자연스러운가</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제4장 · 요약</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ControlNet 생성 + 유효 ROI + Poisson blending</a:t>
            </a:r>
            <a:endParaRPr lang="en-US" sz="2400" dirty="0"/>
          </a:p>
        </p:txBody>
      </p:sp>
      <p:sp>
        <p:nvSpPr>
          <p:cNvPr id="5" name="Text 2"/>
          <p:cNvSpPr txBox="1"/>
          <p:nvPr/>
        </p:nvSpPr>
        <p:spPr>
          <a:xfrm>
            <a:off x="548640" y="1417320"/>
            <a:ext cx="6309360" cy="4206240"/>
          </a:xfrm>
          <a:prstGeom prst="rect">
            <a:avLst/>
          </a:prstGeom>
          <a:noFill/>
          <a:ln/>
        </p:spPr>
        <p:txBody>
          <a:bodyPr wrap="square" lIns="0" tIns="0" rIns="0" bIns="0" rtlCol="0" anchor="t"/>
          <a:lstStyle/>
          <a:p>
            <a:pPr marL="203200" indent="-203200">
              <a:lnSpc>
                <a:spcPct val="110000"/>
              </a:lnSpc>
              <a:spcAft>
                <a:spcPts val="1400"/>
              </a:spcAft>
              <a:buSzPct val="100000"/>
              <a:buChar char="•"/>
            </a:pPr>
            <a:r>
              <a:rPr lang="en-US" sz="1600" dirty="0">
                <a:solidFill>
                  <a:schemeClr val="tx1"/>
                </a:solidFill>
              </a:rPr>
              <a:t>KolektorSDD (결함 52장) 대상 3단계 증강 제안</a:t>
            </a:r>
            <a:endParaRPr lang="en-US" sz="1600" dirty="0"/>
          </a:p>
          <a:p>
            <a:pPr marL="203200" indent="-203200">
              <a:lnSpc>
                <a:spcPct val="110000"/>
              </a:lnSpc>
              <a:spcAft>
                <a:spcPts val="1400"/>
              </a:spcAft>
              <a:buSzPct val="100000"/>
              <a:buChar char="•"/>
            </a:pPr>
            <a:r>
              <a:rPr lang="en-US" sz="1600" dirty="0">
                <a:solidFill>
                  <a:schemeClr val="tx1"/>
                </a:solidFill>
              </a:rPr>
              <a:t>결함 마스크를 조건으로 ControlNet이 결함 패치 생성</a:t>
            </a:r>
            <a:endParaRPr lang="en-US" sz="1600" dirty="0"/>
          </a:p>
          <a:p>
            <a:pPr marL="203200" indent="-203200">
              <a:lnSpc>
                <a:spcPct val="110000"/>
              </a:lnSpc>
              <a:spcAft>
                <a:spcPts val="1400"/>
              </a:spcAft>
              <a:buSzPct val="100000"/>
              <a:buChar char="•"/>
            </a:pPr>
            <a:r>
              <a:rPr lang="en-US" sz="1600" dirty="0">
                <a:solidFill>
                  <a:schemeClr val="tx1"/>
                </a:solidFill>
              </a:rPr>
              <a:t>결함 주변 배경의 평균 밝기와 유사한 정상 영역(유효 ROI) 탐색</a:t>
            </a:r>
            <a:endParaRPr lang="en-US" sz="1600" dirty="0"/>
          </a:p>
          <a:p>
            <a:pPr marL="203200" indent="-203200">
              <a:lnSpc>
                <a:spcPct val="110000"/>
              </a:lnSpc>
              <a:spcAft>
                <a:spcPts val="1400"/>
              </a:spcAft>
              <a:buSzPct val="100000"/>
              <a:buChar char="•"/>
            </a:pPr>
            <a:r>
              <a:rPr lang="en-US" sz="1600" dirty="0">
                <a:solidFill>
                  <a:schemeClr val="tx1"/>
                </a:solidFill>
              </a:rPr>
              <a:t>Poisson blending으로 결함을 자연스럽게 삽입</a:t>
            </a:r>
            <a:endParaRPr lang="en-US" sz="1600" dirty="0"/>
          </a:p>
          <a:p>
            <a:pPr marL="203200" indent="-203200">
              <a:lnSpc>
                <a:spcPct val="110000"/>
              </a:lnSpc>
              <a:spcAft>
                <a:spcPts val="1400"/>
              </a:spcAft>
              <a:buSzPct val="100000"/>
              <a:buChar char="•"/>
            </a:pPr>
            <a:r>
              <a:rPr lang="en-US" sz="1600" b="1" dirty="0">
                <a:solidFill>
                  <a:schemeClr val="accent2"/>
                </a:solidFill>
              </a:rPr>
              <a:t>한계: 평균 밝기 단일 기준 → 텍스처·구조 미반영 → 제5장</a:t>
            </a:r>
            <a:endParaRPr lang="en-US" sz="1600" dirty="0"/>
          </a:p>
        </p:txBody>
      </p:sp>
      <p:sp>
        <p:nvSpPr>
          <p:cNvPr id="6" name="Shape 3"/>
          <p:cNvSpPr/>
          <p:nvPr/>
        </p:nvSpPr>
        <p:spPr>
          <a:xfrm>
            <a:off x="7223760" y="1417320"/>
            <a:ext cx="4416552" cy="2377440"/>
          </a:xfrm>
          <a:prstGeom prst="roundRect">
            <a:avLst>
              <a:gd name="adj" fmla="val 3077"/>
            </a:avLst>
          </a:prstGeom>
          <a:solidFill>
            <a:schemeClr val="bg2"/>
          </a:solidFill>
          <a:ln/>
        </p:spPr>
      </p:sp>
      <p:sp>
        <p:nvSpPr>
          <p:cNvPr id="7" name="Text 4"/>
          <p:cNvSpPr txBox="1"/>
          <p:nvPr/>
        </p:nvSpPr>
        <p:spPr>
          <a:xfrm>
            <a:off x="7498080" y="1645920"/>
            <a:ext cx="3840480" cy="365760"/>
          </a:xfrm>
          <a:prstGeom prst="rect">
            <a:avLst/>
          </a:prstGeom>
          <a:noFill/>
          <a:ln/>
        </p:spPr>
        <p:txBody>
          <a:bodyPr wrap="square" lIns="0" tIns="0" rIns="0" bIns="0" rtlCol="0" anchor="t"/>
          <a:lstStyle/>
          <a:p>
            <a:pPr algn="l" indent="0" marL="0">
              <a:lnSpc>
                <a:spcPct val="110000"/>
              </a:lnSpc>
              <a:buNone/>
            </a:pPr>
            <a:r>
              <a:rPr lang="en-US" sz="1500" b="1" dirty="0">
                <a:solidFill>
                  <a:schemeClr val="accent3"/>
                </a:solidFill>
              </a:rPr>
              <a:t>ResNet34 mIoU</a:t>
            </a:r>
            <a:endParaRPr lang="en-US" sz="1500" dirty="0"/>
          </a:p>
        </p:txBody>
      </p:sp>
      <p:sp>
        <p:nvSpPr>
          <p:cNvPr id="8" name="Text 5"/>
          <p:cNvSpPr txBox="1"/>
          <p:nvPr/>
        </p:nvSpPr>
        <p:spPr>
          <a:xfrm>
            <a:off x="7498080" y="2103120"/>
            <a:ext cx="1645920" cy="731520"/>
          </a:xfrm>
          <a:prstGeom prst="rect">
            <a:avLst/>
          </a:prstGeom>
          <a:noFill/>
          <a:ln/>
        </p:spPr>
        <p:txBody>
          <a:bodyPr wrap="square" lIns="0" tIns="0" rIns="0" bIns="0" rtlCol="0" anchor="ctr"/>
          <a:lstStyle/>
          <a:p>
            <a:pPr algn="l" indent="0" marL="0">
              <a:lnSpc>
                <a:spcPct val="110000"/>
              </a:lnSpc>
              <a:buNone/>
            </a:pPr>
            <a:r>
              <a:rPr lang="en-US" sz="3000" b="1" dirty="0">
                <a:solidFill>
                  <a:schemeClr val="accent3"/>
                </a:solidFill>
              </a:rPr>
              <a:t>0.5667</a:t>
            </a:r>
            <a:endParaRPr lang="en-US" sz="3000" dirty="0"/>
          </a:p>
        </p:txBody>
      </p:sp>
      <p:sp>
        <p:nvSpPr>
          <p:cNvPr id="9" name="Shape 6"/>
          <p:cNvSpPr/>
          <p:nvPr/>
        </p:nvSpPr>
        <p:spPr>
          <a:xfrm>
            <a:off x="9144000" y="2468880"/>
            <a:ext cx="457200" cy="0"/>
          </a:xfrm>
          <a:prstGeom prst="line">
            <a:avLst/>
          </a:prstGeom>
          <a:noFill/>
          <a:ln w="19050">
            <a:solidFill>
              <a:srgbClr val="E8833A"/>
            </a:solidFill>
            <a:prstDash val="solid"/>
            <a:tailEnd type="triangle"/>
          </a:ln>
        </p:spPr>
      </p:sp>
      <p:sp>
        <p:nvSpPr>
          <p:cNvPr id="10" name="Text 7"/>
          <p:cNvSpPr txBox="1"/>
          <p:nvPr/>
        </p:nvSpPr>
        <p:spPr>
          <a:xfrm>
            <a:off x="9692640" y="2103120"/>
            <a:ext cx="1828800" cy="731520"/>
          </a:xfrm>
          <a:prstGeom prst="rect">
            <a:avLst/>
          </a:prstGeom>
          <a:noFill/>
          <a:ln/>
        </p:spPr>
        <p:txBody>
          <a:bodyPr wrap="square" lIns="0" tIns="0" rIns="0" bIns="0" rtlCol="0" anchor="ctr"/>
          <a:lstStyle/>
          <a:p>
            <a:pPr algn="l" indent="0" marL="0">
              <a:lnSpc>
                <a:spcPct val="110000"/>
              </a:lnSpc>
              <a:buNone/>
            </a:pPr>
            <a:r>
              <a:rPr lang="en-US" sz="3400" b="1" dirty="0">
                <a:solidFill>
                  <a:schemeClr val="accent1"/>
                </a:solidFill>
              </a:rPr>
              <a:t>0.8919</a:t>
            </a:r>
            <a:endParaRPr lang="en-US" sz="3400" dirty="0"/>
          </a:p>
        </p:txBody>
      </p:sp>
      <p:sp>
        <p:nvSpPr>
          <p:cNvPr id="11" name="Text 8"/>
          <p:cNvSpPr txBox="1"/>
          <p:nvPr/>
        </p:nvSpPr>
        <p:spPr>
          <a:xfrm>
            <a:off x="7498080" y="3063240"/>
            <a:ext cx="3931920" cy="822960"/>
          </a:xfrm>
          <a:prstGeom prst="rect">
            <a:avLst/>
          </a:prstGeom>
          <a:noFill/>
          <a:ln/>
        </p:spPr>
        <p:txBody>
          <a:bodyPr wrap="square" lIns="0" tIns="0" rIns="0" bIns="0" rtlCol="0" anchor="t"/>
          <a:lstStyle/>
          <a:p>
            <a:pPr algn="l" indent="0" marL="0">
              <a:lnSpc>
                <a:spcPct val="110000"/>
              </a:lnSpc>
              <a:buNone/>
            </a:pPr>
            <a:r>
              <a:rPr lang="en-US" sz="1300" dirty="0">
                <a:solidFill>
                  <a:schemeClr val="accent3"/>
                </a:solidFill>
              </a:rPr>
              <a:t>증강 비율 0.5 · 세그멘테이션 (ResNet34 / EfficientNet)</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제4장 · 수식</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조건부 생성과 유효 ROI 탐색</a:t>
            </a:r>
            <a:endParaRPr lang="en-US" sz="2400" dirty="0"/>
          </a:p>
        </p:txBody>
      </p:sp>
      <p:sp>
        <p:nvSpPr>
          <p:cNvPr id="5" name="Shape 2"/>
          <p:cNvSpPr/>
          <p:nvPr/>
        </p:nvSpPr>
        <p:spPr>
          <a:xfrm>
            <a:off x="548640" y="1325880"/>
            <a:ext cx="11091672" cy="1115568"/>
          </a:xfrm>
          <a:prstGeom prst="roundRect">
            <a:avLst>
              <a:gd name="adj" fmla="val 6557"/>
            </a:avLst>
          </a:prstGeom>
          <a:solidFill>
            <a:schemeClr val="bg2"/>
          </a:solidFill>
          <a:ln/>
        </p:spPr>
      </p:sp>
      <p:sp>
        <p:nvSpPr>
          <p:cNvPr id="6" name="Shape 3"/>
          <p:cNvSpPr/>
          <p:nvPr/>
        </p:nvSpPr>
        <p:spPr>
          <a:xfrm>
            <a:off x="731520" y="1691640"/>
            <a:ext cx="384048" cy="384048"/>
          </a:xfrm>
          <a:prstGeom prst="ellipse">
            <a:avLst/>
          </a:prstGeom>
          <a:solidFill>
            <a:schemeClr val="accent1"/>
          </a:solidFill>
          <a:ln/>
        </p:spPr>
      </p:sp>
      <p:sp>
        <p:nvSpPr>
          <p:cNvPr id="7" name="Text 4"/>
          <p:cNvSpPr txBox="1"/>
          <p:nvPr/>
        </p:nvSpPr>
        <p:spPr>
          <a:xfrm>
            <a:off x="731520" y="1691640"/>
            <a:ext cx="384048" cy="384048"/>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1</a:t>
            </a:r>
            <a:endParaRPr lang="en-US" sz="1200" dirty="0"/>
          </a:p>
        </p:txBody>
      </p:sp>
      <p:pic>
        <p:nvPicPr>
          <p:cNvPr id="8" name="Image 0" descr="c1">    </p:cNvPr>
          <p:cNvPicPr>
            <a:picLocks noChangeAspect="1"/>
          </p:cNvPicPr>
          <p:nvPr/>
        </p:nvPicPr>
        <p:blipFill>
          <a:blip r:embed="rId1"/>
          <a:stretch>
            <a:fillRect/>
          </a:stretch>
        </p:blipFill>
        <p:spPr>
          <a:xfrm>
            <a:off x="1325880" y="1748904"/>
            <a:ext cx="2740457" cy="269519"/>
          </a:xfrm>
          <a:prstGeom prst="rect">
            <a:avLst/>
          </a:prstGeom>
        </p:spPr>
      </p:pic>
      <p:sp>
        <p:nvSpPr>
          <p:cNvPr id="9" name="Text 5"/>
          <p:cNvSpPr txBox="1"/>
          <p:nvPr/>
        </p:nvSpPr>
        <p:spPr>
          <a:xfrm>
            <a:off x="6400800" y="1463040"/>
            <a:ext cx="5029200" cy="36576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ControlNet 조건부 디노이징</a:t>
            </a:r>
            <a:endParaRPr lang="en-US" sz="1500" dirty="0"/>
          </a:p>
        </p:txBody>
      </p:sp>
      <p:sp>
        <p:nvSpPr>
          <p:cNvPr id="10" name="Text 6"/>
          <p:cNvSpPr txBox="1"/>
          <p:nvPr/>
        </p:nvSpPr>
        <p:spPr>
          <a:xfrm>
            <a:off x="6400800" y="1828800"/>
            <a:ext cx="5029200" cy="54864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결함 마스크 조건 C를 U-Net 중간 레이어에 결합 (t = 노이즈 step)</a:t>
            </a:r>
            <a:endParaRPr lang="en-US" sz="1300" dirty="0"/>
          </a:p>
        </p:txBody>
      </p:sp>
      <p:sp>
        <p:nvSpPr>
          <p:cNvPr id="11" name="Shape 7"/>
          <p:cNvSpPr/>
          <p:nvPr/>
        </p:nvSpPr>
        <p:spPr>
          <a:xfrm>
            <a:off x="548640" y="2587752"/>
            <a:ext cx="11091672" cy="1115568"/>
          </a:xfrm>
          <a:prstGeom prst="roundRect">
            <a:avLst>
              <a:gd name="adj" fmla="val 6557"/>
            </a:avLst>
          </a:prstGeom>
          <a:solidFill>
            <a:schemeClr val="bg1"/>
          </a:solidFill>
          <a:ln w="12700">
            <a:solidFill>
              <a:srgbClr val="D9DEE3"/>
            </a:solidFill>
            <a:prstDash val="solid"/>
          </a:ln>
        </p:spPr>
      </p:sp>
      <p:sp>
        <p:nvSpPr>
          <p:cNvPr id="12" name="Shape 8"/>
          <p:cNvSpPr/>
          <p:nvPr/>
        </p:nvSpPr>
        <p:spPr>
          <a:xfrm>
            <a:off x="731520" y="2953512"/>
            <a:ext cx="384048" cy="384048"/>
          </a:xfrm>
          <a:prstGeom prst="ellipse">
            <a:avLst/>
          </a:prstGeom>
          <a:solidFill>
            <a:schemeClr val="accent1"/>
          </a:solidFill>
          <a:ln/>
        </p:spPr>
      </p:sp>
      <p:sp>
        <p:nvSpPr>
          <p:cNvPr id="13" name="Text 9"/>
          <p:cNvSpPr txBox="1"/>
          <p:nvPr/>
        </p:nvSpPr>
        <p:spPr>
          <a:xfrm>
            <a:off x="731520" y="2953512"/>
            <a:ext cx="384048" cy="384048"/>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2</a:t>
            </a:r>
            <a:endParaRPr lang="en-US" sz="1200" dirty="0"/>
          </a:p>
        </p:txBody>
      </p:sp>
      <p:pic>
        <p:nvPicPr>
          <p:cNvPr id="14" name="Image 1" descr="c2">    </p:cNvPr>
          <p:cNvPicPr>
            <a:picLocks noChangeAspect="1"/>
          </p:cNvPicPr>
          <p:nvPr/>
        </p:nvPicPr>
        <p:blipFill>
          <a:blip r:embed="rId2"/>
          <a:stretch>
            <a:fillRect/>
          </a:stretch>
        </p:blipFill>
        <p:spPr>
          <a:xfrm>
            <a:off x="1325880" y="3002547"/>
            <a:ext cx="3509924" cy="285979"/>
          </a:xfrm>
          <a:prstGeom prst="rect">
            <a:avLst/>
          </a:prstGeom>
        </p:spPr>
      </p:pic>
      <p:sp>
        <p:nvSpPr>
          <p:cNvPr id="15" name="Text 10"/>
          <p:cNvSpPr txBox="1"/>
          <p:nvPr/>
        </p:nvSpPr>
        <p:spPr>
          <a:xfrm>
            <a:off x="6400800" y="2724912"/>
            <a:ext cx="5029200" cy="36576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결함 주변 배경 밝기</a:t>
            </a:r>
            <a:endParaRPr lang="en-US" sz="1500" dirty="0"/>
          </a:p>
        </p:txBody>
      </p:sp>
      <p:sp>
        <p:nvSpPr>
          <p:cNvPr id="16" name="Text 11"/>
          <p:cNvSpPr txBox="1"/>
          <p:nvPr/>
        </p:nvSpPr>
        <p:spPr>
          <a:xfrm>
            <a:off x="6400800" y="3090672"/>
            <a:ext cx="5029200" cy="54864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팽창 마스크 − 원 마스크 = 결함 둘레 고리의 평균 휘도</a:t>
            </a:r>
            <a:endParaRPr lang="en-US" sz="1300" dirty="0"/>
          </a:p>
        </p:txBody>
      </p:sp>
      <p:sp>
        <p:nvSpPr>
          <p:cNvPr id="17" name="Shape 12"/>
          <p:cNvSpPr/>
          <p:nvPr/>
        </p:nvSpPr>
        <p:spPr>
          <a:xfrm>
            <a:off x="548640" y="3849624"/>
            <a:ext cx="11091672" cy="1115568"/>
          </a:xfrm>
          <a:prstGeom prst="roundRect">
            <a:avLst>
              <a:gd name="adj" fmla="val 6557"/>
            </a:avLst>
          </a:prstGeom>
          <a:solidFill>
            <a:schemeClr val="bg2"/>
          </a:solidFill>
          <a:ln/>
        </p:spPr>
      </p:sp>
      <p:sp>
        <p:nvSpPr>
          <p:cNvPr id="18" name="Shape 13"/>
          <p:cNvSpPr/>
          <p:nvPr/>
        </p:nvSpPr>
        <p:spPr>
          <a:xfrm>
            <a:off x="731520" y="4215384"/>
            <a:ext cx="384048" cy="384048"/>
          </a:xfrm>
          <a:prstGeom prst="ellipse">
            <a:avLst/>
          </a:prstGeom>
          <a:solidFill>
            <a:schemeClr val="accent1"/>
          </a:solidFill>
          <a:ln/>
        </p:spPr>
      </p:sp>
      <p:sp>
        <p:nvSpPr>
          <p:cNvPr id="19" name="Text 14"/>
          <p:cNvSpPr txBox="1"/>
          <p:nvPr/>
        </p:nvSpPr>
        <p:spPr>
          <a:xfrm>
            <a:off x="731520" y="4215384"/>
            <a:ext cx="384048" cy="384048"/>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3</a:t>
            </a:r>
            <a:endParaRPr lang="en-US" sz="1200" dirty="0"/>
          </a:p>
        </p:txBody>
      </p:sp>
      <p:pic>
        <p:nvPicPr>
          <p:cNvPr id="20" name="Image 2" descr="c3">    </p:cNvPr>
          <p:cNvPicPr>
            <a:picLocks noChangeAspect="1"/>
          </p:cNvPicPr>
          <p:nvPr/>
        </p:nvPicPr>
        <p:blipFill>
          <a:blip r:embed="rId3"/>
          <a:stretch>
            <a:fillRect/>
          </a:stretch>
        </p:blipFill>
        <p:spPr>
          <a:xfrm>
            <a:off x="1325880" y="4265447"/>
            <a:ext cx="2156155" cy="283921"/>
          </a:xfrm>
          <a:prstGeom prst="rect">
            <a:avLst/>
          </a:prstGeom>
        </p:spPr>
      </p:pic>
      <p:sp>
        <p:nvSpPr>
          <p:cNvPr id="21" name="Text 15"/>
          <p:cNvSpPr txBox="1"/>
          <p:nvPr/>
        </p:nvSpPr>
        <p:spPr>
          <a:xfrm>
            <a:off x="6400800" y="3986784"/>
            <a:ext cx="5029200" cy="36576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후보 영역 밝기 차</a:t>
            </a:r>
            <a:endParaRPr lang="en-US" sz="1500" dirty="0"/>
          </a:p>
        </p:txBody>
      </p:sp>
      <p:sp>
        <p:nvSpPr>
          <p:cNvPr id="22" name="Text 16"/>
          <p:cNvSpPr txBox="1"/>
          <p:nvPr/>
        </p:nvSpPr>
        <p:spPr>
          <a:xfrm>
            <a:off x="6400800" y="4352544"/>
            <a:ext cx="5029200" cy="54864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128×128 / stride 32 슬라이딩, 최소 상위 k개 중 무작위 1개 → 유효 ROI</a:t>
            </a:r>
            <a:endParaRPr lang="en-US" sz="1300" dirty="0"/>
          </a:p>
        </p:txBody>
      </p:sp>
      <p:sp>
        <p:nvSpPr>
          <p:cNvPr id="23" name="Shape 17"/>
          <p:cNvSpPr/>
          <p:nvPr/>
        </p:nvSpPr>
        <p:spPr>
          <a:xfrm>
            <a:off x="548640" y="5212080"/>
            <a:ext cx="11091672" cy="960120"/>
          </a:xfrm>
          <a:prstGeom prst="roundRect">
            <a:avLst>
              <a:gd name="adj" fmla="val 7619"/>
            </a:avLst>
          </a:prstGeom>
          <a:solidFill>
            <a:schemeClr val="accent5"/>
          </a:solidFill>
          <a:ln/>
        </p:spPr>
      </p:sp>
      <p:sp>
        <p:nvSpPr>
          <p:cNvPr id="24" name="Text 18"/>
          <p:cNvSpPr txBox="1"/>
          <p:nvPr/>
        </p:nvSpPr>
        <p:spPr>
          <a:xfrm>
            <a:off x="822960" y="5321808"/>
            <a:ext cx="1828800" cy="320040"/>
          </a:xfrm>
          <a:prstGeom prst="rect">
            <a:avLst/>
          </a:prstGeom>
          <a:noFill/>
          <a:ln/>
        </p:spPr>
        <p:txBody>
          <a:bodyPr wrap="square" lIns="0" tIns="0" rIns="0" bIns="0" rtlCol="0" anchor="t"/>
          <a:lstStyle/>
          <a:p>
            <a:pPr algn="l" indent="0" marL="0">
              <a:lnSpc>
                <a:spcPct val="110000"/>
              </a:lnSpc>
              <a:buNone/>
            </a:pPr>
            <a:r>
              <a:rPr lang="en-US" sz="1300" b="1" dirty="0">
                <a:solidFill>
                  <a:schemeClr val="accent2"/>
                </a:solidFill>
              </a:rPr>
              <a:t>다음 장으로</a:t>
            </a:r>
            <a:endParaRPr lang="en-US" sz="1300" dirty="0"/>
          </a:p>
        </p:txBody>
      </p:sp>
      <p:sp>
        <p:nvSpPr>
          <p:cNvPr id="25" name="Text 19"/>
          <p:cNvSpPr txBox="1"/>
          <p:nvPr/>
        </p:nvSpPr>
        <p:spPr>
          <a:xfrm>
            <a:off x="2651760" y="5303520"/>
            <a:ext cx="8778240" cy="822960"/>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식 (2)의 결함 둘레 고리 → 제5장 site_score의 ring 히스토그램으로 계승</a:t>
            </a:r>
            <a:endParaRPr lang="en-US" sz="1400" dirty="0"/>
          </a:p>
          <a:p>
            <a:pPr algn="l" indent="0" marL="0">
              <a:lnSpc>
                <a:spcPct val="110000"/>
              </a:lnSpc>
              <a:buNone/>
            </a:pPr>
            <a:r>
              <a:rPr lang="en-US" sz="1400" dirty="0">
                <a:solidFill>
                  <a:schemeClr val="tx1"/>
                </a:solidFill>
              </a:rPr>
              <a:t>제4장은 평균 밝기 단일 값, 제5장은 주변 문맥 셀 분포를 비교</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제4장 · 처리 흐름</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처리 흐름과 핵심 메시지</a:t>
            </a:r>
            <a:endParaRPr lang="en-US" sz="2400" dirty="0"/>
          </a:p>
        </p:txBody>
      </p:sp>
      <p:sp>
        <p:nvSpPr>
          <p:cNvPr id="5" name="Shape 2"/>
          <p:cNvSpPr/>
          <p:nvPr/>
        </p:nvSpPr>
        <p:spPr>
          <a:xfrm>
            <a:off x="548640" y="1371600"/>
            <a:ext cx="1954987" cy="1691640"/>
          </a:xfrm>
          <a:prstGeom prst="roundRect">
            <a:avLst>
              <a:gd name="adj" fmla="val 4324"/>
            </a:avLst>
          </a:prstGeom>
          <a:solidFill>
            <a:schemeClr val="bg2"/>
          </a:solidFill>
          <a:ln/>
        </p:spPr>
      </p:sp>
      <p:sp>
        <p:nvSpPr>
          <p:cNvPr id="6" name="Text 3"/>
          <p:cNvSpPr txBox="1"/>
          <p:nvPr/>
        </p:nvSpPr>
        <p:spPr>
          <a:xfrm>
            <a:off x="685800" y="1508760"/>
            <a:ext cx="1680667" cy="457200"/>
          </a:xfrm>
          <a:prstGeom prst="rect">
            <a:avLst/>
          </a:prstGeom>
          <a:noFill/>
          <a:ln/>
        </p:spPr>
        <p:txBody>
          <a:bodyPr wrap="square" lIns="0" tIns="0" rIns="0" bIns="0" rtlCol="0" anchor="t"/>
          <a:lstStyle/>
          <a:p>
            <a:pPr algn="l" indent="0" marL="0">
              <a:lnSpc>
                <a:spcPct val="110000"/>
              </a:lnSpc>
              <a:buNone/>
            </a:pPr>
            <a:r>
              <a:rPr lang="en-US" sz="1400" b="1" dirty="0">
                <a:solidFill>
                  <a:schemeClr val="accent1"/>
                </a:solidFill>
              </a:rPr>
              <a:t>결함 마스크</a:t>
            </a:r>
            <a:endParaRPr lang="en-US" sz="1400" dirty="0"/>
          </a:p>
        </p:txBody>
      </p:sp>
      <p:sp>
        <p:nvSpPr>
          <p:cNvPr id="7" name="Text 4"/>
          <p:cNvSpPr txBox="1"/>
          <p:nvPr/>
        </p:nvSpPr>
        <p:spPr>
          <a:xfrm>
            <a:off x="685800" y="1965960"/>
            <a:ext cx="1680667" cy="100584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KolektorSDD</a:t>
            </a:r>
            <a:endParaRPr lang="en-US" sz="1300" dirty="0"/>
          </a:p>
          <a:p>
            <a:pPr algn="l" indent="0" marL="0">
              <a:lnSpc>
                <a:spcPct val="110000"/>
              </a:lnSpc>
              <a:buNone/>
            </a:pPr>
            <a:r>
              <a:rPr lang="en-US" sz="1300" dirty="0">
                <a:solidFill>
                  <a:schemeClr val="tx1"/>
                </a:solidFill>
              </a:rPr>
              <a:t>결함 52장</a:t>
            </a:r>
            <a:endParaRPr lang="en-US" sz="1300" dirty="0"/>
          </a:p>
        </p:txBody>
      </p:sp>
      <p:sp>
        <p:nvSpPr>
          <p:cNvPr id="8" name="Shape 5"/>
          <p:cNvSpPr/>
          <p:nvPr/>
        </p:nvSpPr>
        <p:spPr>
          <a:xfrm>
            <a:off x="2549347" y="2217420"/>
            <a:ext cx="237744" cy="0"/>
          </a:xfrm>
          <a:prstGeom prst="line">
            <a:avLst/>
          </a:prstGeom>
          <a:noFill/>
          <a:ln w="19050">
            <a:solidFill>
              <a:srgbClr val="5B6B7A"/>
            </a:solidFill>
            <a:prstDash val="solid"/>
            <a:tailEnd type="triangle"/>
          </a:ln>
        </p:spPr>
      </p:sp>
      <p:sp>
        <p:nvSpPr>
          <p:cNvPr id="9" name="Shape 6"/>
          <p:cNvSpPr/>
          <p:nvPr/>
        </p:nvSpPr>
        <p:spPr>
          <a:xfrm>
            <a:off x="2832811" y="1371600"/>
            <a:ext cx="1954987" cy="1691640"/>
          </a:xfrm>
          <a:prstGeom prst="roundRect">
            <a:avLst>
              <a:gd name="adj" fmla="val 4324"/>
            </a:avLst>
          </a:prstGeom>
          <a:solidFill>
            <a:schemeClr val="bg2"/>
          </a:solidFill>
          <a:ln/>
        </p:spPr>
      </p:sp>
      <p:sp>
        <p:nvSpPr>
          <p:cNvPr id="10" name="Text 7"/>
          <p:cNvSpPr txBox="1"/>
          <p:nvPr/>
        </p:nvSpPr>
        <p:spPr>
          <a:xfrm>
            <a:off x="2969971" y="1508760"/>
            <a:ext cx="1680667" cy="457200"/>
          </a:xfrm>
          <a:prstGeom prst="rect">
            <a:avLst/>
          </a:prstGeom>
          <a:noFill/>
          <a:ln/>
        </p:spPr>
        <p:txBody>
          <a:bodyPr wrap="square" lIns="0" tIns="0" rIns="0" bIns="0" rtlCol="0" anchor="t"/>
          <a:lstStyle/>
          <a:p>
            <a:pPr algn="l" indent="0" marL="0">
              <a:lnSpc>
                <a:spcPct val="110000"/>
              </a:lnSpc>
              <a:buNone/>
            </a:pPr>
            <a:r>
              <a:rPr lang="en-US" sz="1400" b="1" dirty="0">
                <a:solidFill>
                  <a:schemeClr val="accent1"/>
                </a:solidFill>
              </a:rPr>
              <a:t>패치 생성 (1)</a:t>
            </a:r>
            <a:endParaRPr lang="en-US" sz="1400" dirty="0"/>
          </a:p>
        </p:txBody>
      </p:sp>
      <p:sp>
        <p:nvSpPr>
          <p:cNvPr id="11" name="Text 8"/>
          <p:cNvSpPr txBox="1"/>
          <p:nvPr/>
        </p:nvSpPr>
        <p:spPr>
          <a:xfrm>
            <a:off x="2969971" y="1965960"/>
            <a:ext cx="1680667" cy="100584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ControlNet</a:t>
            </a:r>
            <a:endParaRPr lang="en-US" sz="1300" dirty="0"/>
          </a:p>
          <a:p>
            <a:pPr algn="l" indent="0" marL="0">
              <a:lnSpc>
                <a:spcPct val="110000"/>
              </a:lnSpc>
              <a:buNone/>
            </a:pPr>
            <a:r>
              <a:rPr lang="en-US" sz="1300" dirty="0">
                <a:solidFill>
                  <a:schemeClr val="tx1"/>
                </a:solidFill>
              </a:rPr>
              <a:t>SD v1.5 · 512² · 50 ep</a:t>
            </a:r>
            <a:endParaRPr lang="en-US" sz="1300" dirty="0"/>
          </a:p>
        </p:txBody>
      </p:sp>
      <p:sp>
        <p:nvSpPr>
          <p:cNvPr id="12" name="Shape 9"/>
          <p:cNvSpPr/>
          <p:nvPr/>
        </p:nvSpPr>
        <p:spPr>
          <a:xfrm>
            <a:off x="4833518" y="2217420"/>
            <a:ext cx="237744" cy="0"/>
          </a:xfrm>
          <a:prstGeom prst="line">
            <a:avLst/>
          </a:prstGeom>
          <a:noFill/>
          <a:ln w="19050">
            <a:solidFill>
              <a:srgbClr val="5B6B7A"/>
            </a:solidFill>
            <a:prstDash val="solid"/>
            <a:tailEnd type="triangle"/>
          </a:ln>
        </p:spPr>
      </p:sp>
      <p:sp>
        <p:nvSpPr>
          <p:cNvPr id="13" name="Shape 10"/>
          <p:cNvSpPr/>
          <p:nvPr/>
        </p:nvSpPr>
        <p:spPr>
          <a:xfrm>
            <a:off x="5116982" y="1371600"/>
            <a:ext cx="1954987" cy="1691640"/>
          </a:xfrm>
          <a:prstGeom prst="roundRect">
            <a:avLst>
              <a:gd name="adj" fmla="val 4324"/>
            </a:avLst>
          </a:prstGeom>
          <a:solidFill>
            <a:schemeClr val="bg2"/>
          </a:solidFill>
          <a:ln/>
        </p:spPr>
      </p:sp>
      <p:sp>
        <p:nvSpPr>
          <p:cNvPr id="14" name="Text 11"/>
          <p:cNvSpPr txBox="1"/>
          <p:nvPr/>
        </p:nvSpPr>
        <p:spPr>
          <a:xfrm>
            <a:off x="5254142" y="1508760"/>
            <a:ext cx="1680667" cy="457200"/>
          </a:xfrm>
          <a:prstGeom prst="rect">
            <a:avLst/>
          </a:prstGeom>
          <a:noFill/>
          <a:ln/>
        </p:spPr>
        <p:txBody>
          <a:bodyPr wrap="square" lIns="0" tIns="0" rIns="0" bIns="0" rtlCol="0" anchor="t"/>
          <a:lstStyle/>
          <a:p>
            <a:pPr algn="l" indent="0" marL="0">
              <a:lnSpc>
                <a:spcPct val="110000"/>
              </a:lnSpc>
              <a:buNone/>
            </a:pPr>
            <a:r>
              <a:rPr lang="en-US" sz="1400" b="1" dirty="0">
                <a:solidFill>
                  <a:schemeClr val="accent1"/>
                </a:solidFill>
              </a:rPr>
              <a:t>주변 밝기 (2)</a:t>
            </a:r>
            <a:endParaRPr lang="en-US" sz="1400" dirty="0"/>
          </a:p>
        </p:txBody>
      </p:sp>
      <p:sp>
        <p:nvSpPr>
          <p:cNvPr id="15" name="Text 12"/>
          <p:cNvSpPr txBox="1"/>
          <p:nvPr/>
        </p:nvSpPr>
        <p:spPr>
          <a:xfrm>
            <a:off x="5254142" y="1965960"/>
            <a:ext cx="1680667" cy="100584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팽창 마스크</a:t>
            </a:r>
            <a:endParaRPr lang="en-US" sz="1300" dirty="0"/>
          </a:p>
          <a:p>
            <a:pPr algn="l" indent="0" marL="0">
              <a:lnSpc>
                <a:spcPct val="110000"/>
              </a:lnSpc>
              <a:buNone/>
            </a:pPr>
            <a:r>
              <a:rPr lang="en-US" sz="1300" dirty="0">
                <a:solidFill>
                  <a:schemeClr val="tx1"/>
                </a:solidFill>
              </a:rPr>
              <a:t>고리의 평균 휘도</a:t>
            </a:r>
            <a:endParaRPr lang="en-US" sz="1300" dirty="0"/>
          </a:p>
        </p:txBody>
      </p:sp>
      <p:sp>
        <p:nvSpPr>
          <p:cNvPr id="16" name="Shape 13"/>
          <p:cNvSpPr/>
          <p:nvPr/>
        </p:nvSpPr>
        <p:spPr>
          <a:xfrm>
            <a:off x="7117690" y="2217420"/>
            <a:ext cx="237744" cy="0"/>
          </a:xfrm>
          <a:prstGeom prst="line">
            <a:avLst/>
          </a:prstGeom>
          <a:noFill/>
          <a:ln w="19050">
            <a:solidFill>
              <a:srgbClr val="5B6B7A"/>
            </a:solidFill>
            <a:prstDash val="solid"/>
            <a:tailEnd type="triangle"/>
          </a:ln>
        </p:spPr>
      </p:sp>
      <p:sp>
        <p:nvSpPr>
          <p:cNvPr id="17" name="Shape 14"/>
          <p:cNvSpPr/>
          <p:nvPr/>
        </p:nvSpPr>
        <p:spPr>
          <a:xfrm>
            <a:off x="7401154" y="1371600"/>
            <a:ext cx="1954987" cy="1691640"/>
          </a:xfrm>
          <a:prstGeom prst="roundRect">
            <a:avLst>
              <a:gd name="adj" fmla="val 4324"/>
            </a:avLst>
          </a:prstGeom>
          <a:solidFill>
            <a:schemeClr val="bg2"/>
          </a:solidFill>
          <a:ln/>
        </p:spPr>
      </p:sp>
      <p:sp>
        <p:nvSpPr>
          <p:cNvPr id="18" name="Text 15"/>
          <p:cNvSpPr txBox="1"/>
          <p:nvPr/>
        </p:nvSpPr>
        <p:spPr>
          <a:xfrm>
            <a:off x="7538314" y="1508760"/>
            <a:ext cx="1680667" cy="457200"/>
          </a:xfrm>
          <a:prstGeom prst="rect">
            <a:avLst/>
          </a:prstGeom>
          <a:noFill/>
          <a:ln/>
        </p:spPr>
        <p:txBody>
          <a:bodyPr wrap="square" lIns="0" tIns="0" rIns="0" bIns="0" rtlCol="0" anchor="t"/>
          <a:lstStyle/>
          <a:p>
            <a:pPr algn="l" indent="0" marL="0">
              <a:lnSpc>
                <a:spcPct val="110000"/>
              </a:lnSpc>
              <a:buNone/>
            </a:pPr>
            <a:r>
              <a:rPr lang="en-US" sz="1400" b="1" dirty="0">
                <a:solidFill>
                  <a:schemeClr val="accent1"/>
                </a:solidFill>
              </a:rPr>
              <a:t>ROI 탐색 (3)</a:t>
            </a:r>
            <a:endParaRPr lang="en-US" sz="1400" dirty="0"/>
          </a:p>
        </p:txBody>
      </p:sp>
      <p:sp>
        <p:nvSpPr>
          <p:cNvPr id="19" name="Text 16"/>
          <p:cNvSpPr txBox="1"/>
          <p:nvPr/>
        </p:nvSpPr>
        <p:spPr>
          <a:xfrm>
            <a:off x="7538314" y="1965960"/>
            <a:ext cx="1680667" cy="100584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128×128 / 32px</a:t>
            </a:r>
            <a:endParaRPr lang="en-US" sz="1300" dirty="0"/>
          </a:p>
          <a:p>
            <a:pPr algn="l" indent="0" marL="0">
              <a:lnSpc>
                <a:spcPct val="110000"/>
              </a:lnSpc>
              <a:buNone/>
            </a:pPr>
            <a:r>
              <a:rPr lang="en-US" sz="1300" dirty="0">
                <a:solidFill>
                  <a:schemeClr val="tx1"/>
                </a:solidFill>
              </a:rPr>
              <a:t>최소 top-k → 1개</a:t>
            </a:r>
            <a:endParaRPr lang="en-US" sz="1300" dirty="0"/>
          </a:p>
        </p:txBody>
      </p:sp>
      <p:sp>
        <p:nvSpPr>
          <p:cNvPr id="20" name="Shape 17"/>
          <p:cNvSpPr/>
          <p:nvPr/>
        </p:nvSpPr>
        <p:spPr>
          <a:xfrm>
            <a:off x="9401861" y="2217420"/>
            <a:ext cx="237744" cy="0"/>
          </a:xfrm>
          <a:prstGeom prst="line">
            <a:avLst/>
          </a:prstGeom>
          <a:noFill/>
          <a:ln w="19050">
            <a:solidFill>
              <a:srgbClr val="5B6B7A"/>
            </a:solidFill>
            <a:prstDash val="solid"/>
            <a:tailEnd type="triangle"/>
          </a:ln>
        </p:spPr>
      </p:sp>
      <p:sp>
        <p:nvSpPr>
          <p:cNvPr id="21" name="Shape 18"/>
          <p:cNvSpPr/>
          <p:nvPr/>
        </p:nvSpPr>
        <p:spPr>
          <a:xfrm>
            <a:off x="9685325" y="1371600"/>
            <a:ext cx="1954987" cy="1691640"/>
          </a:xfrm>
          <a:prstGeom prst="roundRect">
            <a:avLst>
              <a:gd name="adj" fmla="val 4324"/>
            </a:avLst>
          </a:prstGeom>
          <a:solidFill>
            <a:schemeClr val="accent4"/>
          </a:solidFill>
          <a:ln/>
        </p:spPr>
      </p:sp>
      <p:sp>
        <p:nvSpPr>
          <p:cNvPr id="22" name="Text 19"/>
          <p:cNvSpPr txBox="1"/>
          <p:nvPr/>
        </p:nvSpPr>
        <p:spPr>
          <a:xfrm>
            <a:off x="9822485" y="1508760"/>
            <a:ext cx="1680667" cy="457200"/>
          </a:xfrm>
          <a:prstGeom prst="rect">
            <a:avLst/>
          </a:prstGeom>
          <a:noFill/>
          <a:ln/>
        </p:spPr>
        <p:txBody>
          <a:bodyPr wrap="square" lIns="0" tIns="0" rIns="0" bIns="0" rtlCol="0" anchor="t"/>
          <a:lstStyle/>
          <a:p>
            <a:pPr algn="l" indent="0" marL="0">
              <a:lnSpc>
                <a:spcPct val="110000"/>
              </a:lnSpc>
              <a:buNone/>
            </a:pPr>
            <a:r>
              <a:rPr lang="en-US" sz="1400" b="1" dirty="0">
                <a:solidFill>
                  <a:schemeClr val="accent1"/>
                </a:solidFill>
              </a:rPr>
              <a:t>합성·평가</a:t>
            </a:r>
            <a:endParaRPr lang="en-US" sz="1400" dirty="0"/>
          </a:p>
        </p:txBody>
      </p:sp>
      <p:sp>
        <p:nvSpPr>
          <p:cNvPr id="23" name="Text 20"/>
          <p:cNvSpPr txBox="1"/>
          <p:nvPr/>
        </p:nvSpPr>
        <p:spPr>
          <a:xfrm>
            <a:off x="9822485" y="1965960"/>
            <a:ext cx="1680667" cy="100584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Poisson blending</a:t>
            </a:r>
            <a:endParaRPr lang="en-US" sz="1300" dirty="0"/>
          </a:p>
          <a:p>
            <a:pPr algn="l" indent="0" marL="0">
              <a:lnSpc>
                <a:spcPct val="110000"/>
              </a:lnSpc>
              <a:buNone/>
            </a:pPr>
            <a:r>
              <a:rPr lang="en-US" sz="1300" dirty="0">
                <a:solidFill>
                  <a:schemeClr val="tx1"/>
                </a:solidFill>
              </a:rPr>
              <a:t>mIoU · Dice</a:t>
            </a:r>
            <a:endParaRPr lang="en-US" sz="1300" dirty="0"/>
          </a:p>
        </p:txBody>
      </p:sp>
      <p:sp>
        <p:nvSpPr>
          <p:cNvPr id="24" name="Shape 21"/>
          <p:cNvSpPr/>
          <p:nvPr/>
        </p:nvSpPr>
        <p:spPr>
          <a:xfrm>
            <a:off x="548640" y="3429000"/>
            <a:ext cx="11091672" cy="868680"/>
          </a:xfrm>
          <a:prstGeom prst="roundRect">
            <a:avLst>
              <a:gd name="adj" fmla="val 8421"/>
            </a:avLst>
          </a:prstGeom>
          <a:solidFill>
            <a:schemeClr val="accent1"/>
          </a:solidFill>
          <a:ln/>
        </p:spPr>
      </p:sp>
      <p:sp>
        <p:nvSpPr>
          <p:cNvPr id="25" name="Text 22"/>
          <p:cNvSpPr txBox="1"/>
          <p:nvPr/>
        </p:nvSpPr>
        <p:spPr>
          <a:xfrm>
            <a:off x="868680" y="3429000"/>
            <a:ext cx="10424160" cy="868680"/>
          </a:xfrm>
          <a:prstGeom prst="rect">
            <a:avLst/>
          </a:prstGeom>
          <a:noFill/>
          <a:ln/>
        </p:spPr>
        <p:txBody>
          <a:bodyPr wrap="square" lIns="0" tIns="0" rIns="0" bIns="0" rtlCol="0" anchor="ctr"/>
          <a:lstStyle/>
          <a:p>
            <a:pPr algn="l" indent="0" marL="0">
              <a:lnSpc>
                <a:spcPct val="110000"/>
              </a:lnSpc>
              <a:buNone/>
            </a:pPr>
            <a:r>
              <a:rPr lang="en-US" sz="1800" b="1" dirty="0">
                <a:solidFill>
                  <a:schemeClr val="bg1"/>
                </a:solidFill>
              </a:rPr>
              <a:t>결함 주변 배경과 밝기가 유사한 영역에 배치하면 검출 성능이 크게 향상된다</a:t>
            </a:r>
            <a:endParaRPr lang="en-US" sz="1800" dirty="0"/>
          </a:p>
        </p:txBody>
      </p:sp>
      <p:sp>
        <p:nvSpPr>
          <p:cNvPr id="26" name="Shape 23"/>
          <p:cNvSpPr/>
          <p:nvPr/>
        </p:nvSpPr>
        <p:spPr>
          <a:xfrm>
            <a:off x="548640" y="4572000"/>
            <a:ext cx="11091672" cy="1097280"/>
          </a:xfrm>
          <a:prstGeom prst="roundRect">
            <a:avLst>
              <a:gd name="adj" fmla="val 6667"/>
            </a:avLst>
          </a:prstGeom>
          <a:solidFill>
            <a:schemeClr val="accent5"/>
          </a:solidFill>
          <a:ln/>
        </p:spPr>
      </p:sp>
      <p:sp>
        <p:nvSpPr>
          <p:cNvPr id="27" name="Text 24"/>
          <p:cNvSpPr txBox="1"/>
          <p:nvPr/>
        </p:nvSpPr>
        <p:spPr>
          <a:xfrm>
            <a:off x="822960" y="4736592"/>
            <a:ext cx="914400" cy="320040"/>
          </a:xfrm>
          <a:prstGeom prst="rect">
            <a:avLst/>
          </a:prstGeom>
          <a:noFill/>
          <a:ln/>
        </p:spPr>
        <p:txBody>
          <a:bodyPr wrap="square" lIns="0" tIns="0" rIns="0" bIns="0" rtlCol="0" anchor="t"/>
          <a:lstStyle/>
          <a:p>
            <a:pPr algn="l" indent="0" marL="0">
              <a:lnSpc>
                <a:spcPct val="110000"/>
              </a:lnSpc>
              <a:buNone/>
            </a:pPr>
            <a:r>
              <a:rPr lang="en-US" sz="1400" b="1" dirty="0">
                <a:solidFill>
                  <a:schemeClr val="accent2"/>
                </a:solidFill>
              </a:rPr>
              <a:t>한계</a:t>
            </a:r>
            <a:endParaRPr lang="en-US" sz="1400" dirty="0"/>
          </a:p>
        </p:txBody>
      </p:sp>
      <p:sp>
        <p:nvSpPr>
          <p:cNvPr id="28" name="Text 25"/>
          <p:cNvSpPr txBox="1"/>
          <p:nvPr/>
        </p:nvSpPr>
        <p:spPr>
          <a:xfrm>
            <a:off x="1737360" y="4736592"/>
            <a:ext cx="9601200" cy="411480"/>
          </a:xfrm>
          <a:prstGeom prst="rect">
            <a:avLst/>
          </a:prstGeom>
          <a:noFill/>
          <a:ln/>
        </p:spPr>
        <p:txBody>
          <a:bodyPr wrap="square" lIns="0" tIns="0" rIns="0" bIns="0" rtlCol="0" anchor="t"/>
          <a:lstStyle/>
          <a:p>
            <a:pPr algn="l" indent="0" marL="0">
              <a:lnSpc>
                <a:spcPct val="110000"/>
              </a:lnSpc>
              <a:buNone/>
            </a:pPr>
            <a:r>
              <a:rPr lang="en-US" sz="1500" dirty="0">
                <a:solidFill>
                  <a:schemeClr val="tx1"/>
                </a:solidFill>
              </a:rPr>
              <a:t>평균 밝기라는 단일 기준만으로는 배경 텍스처와 구조적 특성을 반영하기 어렵다</a:t>
            </a:r>
            <a:endParaRPr lang="en-US" sz="1500" dirty="0"/>
          </a:p>
        </p:txBody>
      </p:sp>
      <p:sp>
        <p:nvSpPr>
          <p:cNvPr id="29" name="Text 26"/>
          <p:cNvSpPr txBox="1"/>
          <p:nvPr/>
        </p:nvSpPr>
        <p:spPr>
          <a:xfrm>
            <a:off x="822960" y="5193792"/>
            <a:ext cx="914400" cy="320040"/>
          </a:xfrm>
          <a:prstGeom prst="rect">
            <a:avLst/>
          </a:prstGeom>
          <a:noFill/>
          <a:ln/>
        </p:spPr>
        <p:txBody>
          <a:bodyPr wrap="square" lIns="0" tIns="0" rIns="0" bIns="0" rtlCol="0" anchor="t"/>
          <a:lstStyle/>
          <a:p>
            <a:pPr algn="l" indent="0" marL="0">
              <a:lnSpc>
                <a:spcPct val="110000"/>
              </a:lnSpc>
              <a:buNone/>
            </a:pPr>
            <a:r>
              <a:rPr lang="en-US" sz="1400" b="1" dirty="0">
                <a:solidFill>
                  <a:schemeClr val="accent1"/>
                </a:solidFill>
              </a:rPr>
              <a:t>다음 장</a:t>
            </a:r>
            <a:endParaRPr lang="en-US" sz="1400" dirty="0"/>
          </a:p>
        </p:txBody>
      </p:sp>
      <p:sp>
        <p:nvSpPr>
          <p:cNvPr id="30" name="Text 27"/>
          <p:cNvSpPr txBox="1"/>
          <p:nvPr/>
        </p:nvSpPr>
        <p:spPr>
          <a:xfrm>
            <a:off x="1737360" y="5193792"/>
            <a:ext cx="9601200" cy="41148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제5장 — 배치 규칙을 데이터에서 자동 도출할 수 있나</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731520" y="1920240"/>
            <a:ext cx="5486400" cy="548640"/>
          </a:xfrm>
          <a:prstGeom prst="rect">
            <a:avLst/>
          </a:prstGeom>
          <a:noFill/>
          <a:ln/>
        </p:spPr>
        <p:txBody>
          <a:bodyPr wrap="square" lIns="0" tIns="0" rIns="0" bIns="0" rtlCol="0"/>
          <a:lstStyle/>
          <a:p>
            <a:pPr indent="0" marL="0">
              <a:buNone/>
            </a:pPr>
            <a:r>
              <a:rPr lang="en-US" sz="2200" b="1" dirty="0">
                <a:solidFill>
                  <a:schemeClr val="accent2"/>
                </a:solidFill>
              </a:rPr>
              <a:t>제5장</a:t>
            </a:r>
            <a:endParaRPr lang="en-US" sz="2200" dirty="0"/>
          </a:p>
        </p:txBody>
      </p:sp>
      <p:sp>
        <p:nvSpPr>
          <p:cNvPr id="3" name="Text 0"/>
          <p:cNvSpPr/>
          <p:nvPr>
            <p:ph idx="101" type="title" hasCustomPrompt="1"/>
          </p:nvPr>
        </p:nvSpPr>
        <p:spPr>
          <a:xfrm>
            <a:off x="731520" y="2560320"/>
            <a:ext cx="10698480" cy="1188720"/>
          </a:xfrm>
          <a:prstGeom prst="rect">
            <a:avLst/>
          </a:prstGeom>
          <a:noFill/>
          <a:ln/>
        </p:spPr>
        <p:txBody>
          <a:bodyPr wrap="square" lIns="0" tIns="0" rIns="0" bIns="0" rtlCol="0" anchor="t"/>
          <a:lstStyle/>
          <a:p>
            <a:pPr algn="l" indent="0" marL="0">
              <a:buNone/>
            </a:pPr>
            <a:r>
              <a:rPr lang="en-US" sz="3600" b="1" dirty="0">
                <a:solidFill>
                  <a:schemeClr val="bg1"/>
                </a:solidFill>
              </a:rPr>
              <a:t>AROMA: 적응형 ROI 기반 형태 인지 증강</a:t>
            </a:r>
            <a:endParaRPr lang="en-US" sz="3600" dirty="0"/>
          </a:p>
        </p:txBody>
      </p:sp>
      <p:sp>
        <p:nvSpPr>
          <p:cNvPr id="4" name="Text 0"/>
          <p:cNvSpPr/>
          <p:nvPr>
            <p:ph idx="102" type="body" hasCustomPrompt="1"/>
          </p:nvPr>
        </p:nvSpPr>
        <p:spPr>
          <a:xfrm>
            <a:off x="731520" y="3931920"/>
            <a:ext cx="10698480" cy="731520"/>
          </a:xfrm>
          <a:prstGeom prst="rect">
            <a:avLst/>
          </a:prstGeom>
          <a:noFill/>
          <a:ln/>
        </p:spPr>
        <p:txBody>
          <a:bodyPr wrap="square" lIns="0" tIns="0" rIns="0" bIns="0" rtlCol="0"/>
          <a:lstStyle/>
          <a:p>
            <a:pPr indent="0" marL="0">
              <a:buNone/>
            </a:pPr>
            <a:r>
              <a:rPr lang="en-US" sz="1800" dirty="0">
                <a:solidFill>
                  <a:schemeClr val="accent4"/>
                </a:solidFill>
              </a:rPr>
              <a:t>결함 형태 × 배경 문맥 호환성의 데이터 기반 자동화</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제5장 · 요약</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AROMA 개요: 데이터 기반 형태·문맥 호환성</a:t>
            </a:r>
            <a:endParaRPr lang="en-US" sz="2400" dirty="0"/>
          </a:p>
        </p:txBody>
      </p:sp>
      <p:sp>
        <p:nvSpPr>
          <p:cNvPr id="5" name="Text 2"/>
          <p:cNvSpPr txBox="1"/>
          <p:nvPr/>
        </p:nvSpPr>
        <p:spPr>
          <a:xfrm>
            <a:off x="548640" y="1417320"/>
            <a:ext cx="5760720" cy="3657600"/>
          </a:xfrm>
          <a:prstGeom prst="rect">
            <a:avLst/>
          </a:prstGeom>
          <a:noFill/>
          <a:ln/>
        </p:spPr>
        <p:txBody>
          <a:bodyPr wrap="square" lIns="0" tIns="0" rIns="0" bIns="0" rtlCol="0" anchor="t"/>
          <a:lstStyle/>
          <a:p>
            <a:pPr marL="203200" indent="-203200">
              <a:lnSpc>
                <a:spcPct val="110000"/>
              </a:lnSpc>
              <a:spcAft>
                <a:spcPts val="1400"/>
              </a:spcAft>
              <a:buSzPct val="100000"/>
              <a:buChar char="•"/>
            </a:pPr>
            <a:r>
              <a:rPr lang="en-US" sz="1600" dirty="0">
                <a:solidFill>
                  <a:schemeClr val="tx1"/>
                </a:solidFill>
              </a:rPr>
              <a:t>제4장의 평균 밝기 기준 한계를 개선</a:t>
            </a:r>
            <a:endParaRPr lang="en-US" sz="1600" dirty="0"/>
          </a:p>
          <a:p>
            <a:pPr marL="203200" indent="-203200">
              <a:lnSpc>
                <a:spcPct val="110000"/>
              </a:lnSpc>
              <a:spcAft>
                <a:spcPts val="1400"/>
              </a:spcAft>
              <a:buSzPct val="100000"/>
              <a:buChar char="•"/>
            </a:pPr>
            <a:r>
              <a:rPr lang="en-US" sz="1600" dirty="0">
                <a:solidFill>
                  <a:schemeClr val="tx1"/>
                </a:solidFill>
              </a:rPr>
              <a:t>결함 형태(MCI)와 배경 문맥(CCI)을 프로파일링</a:t>
            </a:r>
            <a:endParaRPr lang="en-US" sz="1600" dirty="0"/>
          </a:p>
          <a:p>
            <a:pPr marL="203200" indent="-203200">
              <a:lnSpc>
                <a:spcPct val="110000"/>
              </a:lnSpc>
              <a:spcAft>
                <a:spcPts val="1400"/>
              </a:spcAft>
              <a:buSzPct val="100000"/>
              <a:buChar char="•"/>
            </a:pPr>
            <a:r>
              <a:rPr lang="en-US" sz="1600" dirty="0">
                <a:solidFill>
                  <a:schemeClr val="tx1"/>
                </a:solidFill>
              </a:rPr>
              <a:t>패치 단위 공동출현 통계로 대칭 호환성 게이트 구성</a:t>
            </a:r>
            <a:endParaRPr lang="en-US" sz="1600" dirty="0"/>
          </a:p>
          <a:p>
            <a:pPr marL="203200" indent="-203200">
              <a:lnSpc>
                <a:spcPct val="110000"/>
              </a:lnSpc>
              <a:spcAft>
                <a:spcPts val="1400"/>
              </a:spcAft>
              <a:buSzPct val="100000"/>
              <a:buChar char="•"/>
            </a:pPr>
            <a:r>
              <a:rPr lang="en-US" sz="1600" dirty="0">
                <a:solidFill>
                  <a:schemeClr val="tx1"/>
                </a:solidFill>
              </a:rPr>
              <a:t>training-free copy-paste로 생성 품질과 배치 효과를 분리</a:t>
            </a:r>
            <a:endParaRPr lang="en-US" sz="1600" dirty="0"/>
          </a:p>
          <a:p>
            <a:pPr marL="203200" indent="-203200">
              <a:lnSpc>
                <a:spcPct val="110000"/>
              </a:lnSpc>
              <a:spcAft>
                <a:spcPts val="1400"/>
              </a:spcAft>
              <a:buSzPct val="100000"/>
              <a:buChar char="•"/>
            </a:pPr>
            <a:r>
              <a:rPr lang="en-US" sz="1600" dirty="0">
                <a:solidFill>
                  <a:schemeClr val="tx1"/>
                </a:solidFill>
              </a:rPr>
              <a:t>5개 이종 데이터셋에 재설계 없이 적용</a:t>
            </a:r>
            <a:endParaRPr lang="en-US" sz="1600" dirty="0"/>
          </a:p>
        </p:txBody>
      </p:sp>
      <p:sp>
        <p:nvSpPr>
          <p:cNvPr id="6" name="Text 3"/>
          <p:cNvSpPr txBox="1"/>
          <p:nvPr/>
        </p:nvSpPr>
        <p:spPr>
          <a:xfrm>
            <a:off x="6675120" y="1325880"/>
            <a:ext cx="4937760" cy="32004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3단 선택 체인</a:t>
            </a:r>
            <a:endParaRPr lang="en-US" sz="1500" dirty="0"/>
          </a:p>
        </p:txBody>
      </p:sp>
      <p:sp>
        <p:nvSpPr>
          <p:cNvPr id="7" name="Shape 4"/>
          <p:cNvSpPr/>
          <p:nvPr/>
        </p:nvSpPr>
        <p:spPr>
          <a:xfrm>
            <a:off x="6675120" y="1737360"/>
            <a:ext cx="4965192" cy="868680"/>
          </a:xfrm>
          <a:prstGeom prst="roundRect">
            <a:avLst>
              <a:gd name="adj" fmla="val 8421"/>
            </a:avLst>
          </a:prstGeom>
          <a:solidFill>
            <a:schemeClr val="bg2"/>
          </a:solidFill>
          <a:ln/>
        </p:spPr>
      </p:sp>
      <p:sp>
        <p:nvSpPr>
          <p:cNvPr id="8" name="Shape 5"/>
          <p:cNvSpPr/>
          <p:nvPr/>
        </p:nvSpPr>
        <p:spPr>
          <a:xfrm>
            <a:off x="6858000" y="1938528"/>
            <a:ext cx="457200" cy="457200"/>
          </a:xfrm>
          <a:prstGeom prst="ellipse">
            <a:avLst/>
          </a:prstGeom>
          <a:solidFill>
            <a:schemeClr val="accent1"/>
          </a:solidFill>
          <a:ln/>
        </p:spPr>
      </p:sp>
      <p:sp>
        <p:nvSpPr>
          <p:cNvPr id="9" name="Text 6"/>
          <p:cNvSpPr txBox="1"/>
          <p:nvPr/>
        </p:nvSpPr>
        <p:spPr>
          <a:xfrm>
            <a:off x="6858000" y="1938528"/>
            <a:ext cx="457200" cy="457200"/>
          </a:xfrm>
          <a:prstGeom prst="rect">
            <a:avLst/>
          </a:prstGeom>
          <a:noFill/>
          <a:ln/>
        </p:spPr>
        <p:txBody>
          <a:bodyPr wrap="square" lIns="0" tIns="0" rIns="0" bIns="0" rtlCol="0" anchor="ctr"/>
          <a:lstStyle/>
          <a:p>
            <a:pPr algn="ctr" indent="0" marL="0">
              <a:lnSpc>
                <a:spcPct val="110000"/>
              </a:lnSpc>
              <a:buNone/>
            </a:pPr>
            <a:r>
              <a:rPr lang="en-US" sz="1500" b="1" dirty="0">
                <a:solidFill>
                  <a:schemeClr val="bg1"/>
                </a:solidFill>
              </a:rPr>
              <a:t>①</a:t>
            </a:r>
            <a:endParaRPr lang="en-US" sz="1500" dirty="0"/>
          </a:p>
        </p:txBody>
      </p:sp>
      <p:sp>
        <p:nvSpPr>
          <p:cNvPr id="10" name="Text 7"/>
          <p:cNvSpPr txBox="1"/>
          <p:nvPr/>
        </p:nvSpPr>
        <p:spPr>
          <a:xfrm>
            <a:off x="7498080" y="1847088"/>
            <a:ext cx="4023360" cy="36576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어떤 결함 패치를 쓸까</a:t>
            </a:r>
            <a:endParaRPr lang="en-US" sz="1500" dirty="0"/>
          </a:p>
        </p:txBody>
      </p:sp>
      <p:sp>
        <p:nvSpPr>
          <p:cNvPr id="11" name="Text 8"/>
          <p:cNvSpPr txBox="1"/>
          <p:nvPr/>
        </p:nvSpPr>
        <p:spPr>
          <a:xfrm>
            <a:off x="7498080" y="2212848"/>
            <a:ext cx="4023360" cy="320040"/>
          </a:xfrm>
          <a:prstGeom prst="rect">
            <a:avLst/>
          </a:prstGeom>
          <a:noFill/>
          <a:ln/>
        </p:spPr>
        <p:txBody>
          <a:bodyPr wrap="square" lIns="0" tIns="0" rIns="0" bIns="0" rtlCol="0" anchor="t"/>
          <a:lstStyle/>
          <a:p>
            <a:pPr algn="l" indent="0" marL="0">
              <a:lnSpc>
                <a:spcPct val="110000"/>
              </a:lnSpc>
              <a:buNone/>
            </a:pPr>
            <a:r>
              <a:rPr lang="en-US" sz="1300" dirty="0">
                <a:solidFill>
                  <a:schemeClr val="accent3"/>
                </a:solidFill>
              </a:rPr>
              <a:t>ROI_score (식 3)</a:t>
            </a:r>
            <a:endParaRPr lang="en-US" sz="1300" dirty="0"/>
          </a:p>
        </p:txBody>
      </p:sp>
      <p:sp>
        <p:nvSpPr>
          <p:cNvPr id="12" name="Shape 9"/>
          <p:cNvSpPr/>
          <p:nvPr/>
        </p:nvSpPr>
        <p:spPr>
          <a:xfrm>
            <a:off x="7086600" y="2606040"/>
            <a:ext cx="0" cy="155448"/>
          </a:xfrm>
          <a:prstGeom prst="line">
            <a:avLst/>
          </a:prstGeom>
          <a:noFill/>
          <a:ln w="19050">
            <a:solidFill>
              <a:srgbClr val="0E7C7B"/>
            </a:solidFill>
            <a:prstDash val="solid"/>
            <a:tailEnd type="triangle"/>
          </a:ln>
        </p:spPr>
      </p:sp>
      <p:sp>
        <p:nvSpPr>
          <p:cNvPr id="13" name="Shape 10"/>
          <p:cNvSpPr/>
          <p:nvPr/>
        </p:nvSpPr>
        <p:spPr>
          <a:xfrm>
            <a:off x="6675120" y="2761488"/>
            <a:ext cx="4965192" cy="868680"/>
          </a:xfrm>
          <a:prstGeom prst="roundRect">
            <a:avLst>
              <a:gd name="adj" fmla="val 8421"/>
            </a:avLst>
          </a:prstGeom>
          <a:solidFill>
            <a:schemeClr val="bg2"/>
          </a:solidFill>
          <a:ln/>
        </p:spPr>
      </p:sp>
      <p:sp>
        <p:nvSpPr>
          <p:cNvPr id="14" name="Shape 11"/>
          <p:cNvSpPr/>
          <p:nvPr/>
        </p:nvSpPr>
        <p:spPr>
          <a:xfrm>
            <a:off x="6858000" y="2962656"/>
            <a:ext cx="457200" cy="457200"/>
          </a:xfrm>
          <a:prstGeom prst="ellipse">
            <a:avLst/>
          </a:prstGeom>
          <a:solidFill>
            <a:schemeClr val="accent1"/>
          </a:solidFill>
          <a:ln/>
        </p:spPr>
      </p:sp>
      <p:sp>
        <p:nvSpPr>
          <p:cNvPr id="15" name="Text 12"/>
          <p:cNvSpPr txBox="1"/>
          <p:nvPr/>
        </p:nvSpPr>
        <p:spPr>
          <a:xfrm>
            <a:off x="6858000" y="2962656"/>
            <a:ext cx="457200" cy="457200"/>
          </a:xfrm>
          <a:prstGeom prst="rect">
            <a:avLst/>
          </a:prstGeom>
          <a:noFill/>
          <a:ln/>
        </p:spPr>
        <p:txBody>
          <a:bodyPr wrap="square" lIns="0" tIns="0" rIns="0" bIns="0" rtlCol="0" anchor="ctr"/>
          <a:lstStyle/>
          <a:p>
            <a:pPr algn="ctr" indent="0" marL="0">
              <a:lnSpc>
                <a:spcPct val="110000"/>
              </a:lnSpc>
              <a:buNone/>
            </a:pPr>
            <a:r>
              <a:rPr lang="en-US" sz="1500" b="1" dirty="0">
                <a:solidFill>
                  <a:schemeClr val="bg1"/>
                </a:solidFill>
              </a:rPr>
              <a:t>②</a:t>
            </a:r>
            <a:endParaRPr lang="en-US" sz="1500" dirty="0"/>
          </a:p>
        </p:txBody>
      </p:sp>
      <p:sp>
        <p:nvSpPr>
          <p:cNvPr id="16" name="Text 13"/>
          <p:cNvSpPr txBox="1"/>
          <p:nvPr/>
        </p:nvSpPr>
        <p:spPr>
          <a:xfrm>
            <a:off x="7498080" y="2871216"/>
            <a:ext cx="4023360" cy="36576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어느 배경 이미지에 붙일까</a:t>
            </a:r>
            <a:endParaRPr lang="en-US" sz="1500" dirty="0"/>
          </a:p>
        </p:txBody>
      </p:sp>
      <p:sp>
        <p:nvSpPr>
          <p:cNvPr id="17" name="Text 14"/>
          <p:cNvSpPr txBox="1"/>
          <p:nvPr/>
        </p:nvSpPr>
        <p:spPr>
          <a:xfrm>
            <a:off x="7498080" y="3236976"/>
            <a:ext cx="4023360" cy="320040"/>
          </a:xfrm>
          <a:prstGeom prst="rect">
            <a:avLst/>
          </a:prstGeom>
          <a:noFill/>
          <a:ln/>
        </p:spPr>
        <p:txBody>
          <a:bodyPr wrap="square" lIns="0" tIns="0" rIns="0" bIns="0" rtlCol="0" anchor="t"/>
          <a:lstStyle/>
          <a:p>
            <a:pPr algn="l" indent="0" marL="0">
              <a:lnSpc>
                <a:spcPct val="110000"/>
              </a:lnSpc>
              <a:buNone/>
            </a:pPr>
            <a:r>
              <a:rPr lang="en-US" sz="1300" dirty="0">
                <a:solidFill>
                  <a:schemeClr val="accent3"/>
                </a:solidFill>
              </a:rPr>
              <a:t>bg_score (식 5)</a:t>
            </a:r>
            <a:endParaRPr lang="en-US" sz="1300" dirty="0"/>
          </a:p>
        </p:txBody>
      </p:sp>
      <p:sp>
        <p:nvSpPr>
          <p:cNvPr id="18" name="Shape 15"/>
          <p:cNvSpPr/>
          <p:nvPr/>
        </p:nvSpPr>
        <p:spPr>
          <a:xfrm>
            <a:off x="7086600" y="3630168"/>
            <a:ext cx="0" cy="155448"/>
          </a:xfrm>
          <a:prstGeom prst="line">
            <a:avLst/>
          </a:prstGeom>
          <a:noFill/>
          <a:ln w="19050">
            <a:solidFill>
              <a:srgbClr val="0E7C7B"/>
            </a:solidFill>
            <a:prstDash val="solid"/>
            <a:tailEnd type="triangle"/>
          </a:ln>
        </p:spPr>
      </p:sp>
      <p:sp>
        <p:nvSpPr>
          <p:cNvPr id="19" name="Shape 16"/>
          <p:cNvSpPr/>
          <p:nvPr/>
        </p:nvSpPr>
        <p:spPr>
          <a:xfrm>
            <a:off x="6675120" y="3785616"/>
            <a:ext cx="4965192" cy="868680"/>
          </a:xfrm>
          <a:prstGeom prst="roundRect">
            <a:avLst>
              <a:gd name="adj" fmla="val 8421"/>
            </a:avLst>
          </a:prstGeom>
          <a:solidFill>
            <a:schemeClr val="bg2"/>
          </a:solidFill>
          <a:ln/>
        </p:spPr>
      </p:sp>
      <p:sp>
        <p:nvSpPr>
          <p:cNvPr id="20" name="Shape 17"/>
          <p:cNvSpPr/>
          <p:nvPr/>
        </p:nvSpPr>
        <p:spPr>
          <a:xfrm>
            <a:off x="6858000" y="3986784"/>
            <a:ext cx="457200" cy="457200"/>
          </a:xfrm>
          <a:prstGeom prst="ellipse">
            <a:avLst/>
          </a:prstGeom>
          <a:solidFill>
            <a:schemeClr val="accent1"/>
          </a:solidFill>
          <a:ln/>
        </p:spPr>
      </p:sp>
      <p:sp>
        <p:nvSpPr>
          <p:cNvPr id="21" name="Text 18"/>
          <p:cNvSpPr txBox="1"/>
          <p:nvPr/>
        </p:nvSpPr>
        <p:spPr>
          <a:xfrm>
            <a:off x="6858000" y="3986784"/>
            <a:ext cx="457200" cy="457200"/>
          </a:xfrm>
          <a:prstGeom prst="rect">
            <a:avLst/>
          </a:prstGeom>
          <a:noFill/>
          <a:ln/>
        </p:spPr>
        <p:txBody>
          <a:bodyPr wrap="square" lIns="0" tIns="0" rIns="0" bIns="0" rtlCol="0" anchor="ctr"/>
          <a:lstStyle/>
          <a:p>
            <a:pPr algn="ctr" indent="0" marL="0">
              <a:lnSpc>
                <a:spcPct val="110000"/>
              </a:lnSpc>
              <a:buNone/>
            </a:pPr>
            <a:r>
              <a:rPr lang="en-US" sz="1500" b="1" dirty="0">
                <a:solidFill>
                  <a:schemeClr val="bg1"/>
                </a:solidFill>
              </a:rPr>
              <a:t>③</a:t>
            </a:r>
            <a:endParaRPr lang="en-US" sz="1500" dirty="0"/>
          </a:p>
        </p:txBody>
      </p:sp>
      <p:sp>
        <p:nvSpPr>
          <p:cNvPr id="22" name="Text 19"/>
          <p:cNvSpPr txBox="1"/>
          <p:nvPr/>
        </p:nvSpPr>
        <p:spPr>
          <a:xfrm>
            <a:off x="7498080" y="3895344"/>
            <a:ext cx="4023360" cy="36576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그 배경의 어느 자리에 붙일까</a:t>
            </a:r>
            <a:endParaRPr lang="en-US" sz="1500" dirty="0"/>
          </a:p>
        </p:txBody>
      </p:sp>
      <p:sp>
        <p:nvSpPr>
          <p:cNvPr id="23" name="Text 20"/>
          <p:cNvSpPr txBox="1"/>
          <p:nvPr/>
        </p:nvSpPr>
        <p:spPr>
          <a:xfrm>
            <a:off x="7498080" y="4261104"/>
            <a:ext cx="4023360" cy="320040"/>
          </a:xfrm>
          <a:prstGeom prst="rect">
            <a:avLst/>
          </a:prstGeom>
          <a:noFill/>
          <a:ln/>
        </p:spPr>
        <p:txBody>
          <a:bodyPr wrap="square" lIns="0" tIns="0" rIns="0" bIns="0" rtlCol="0" anchor="t"/>
          <a:lstStyle/>
          <a:p>
            <a:pPr algn="l" indent="0" marL="0">
              <a:lnSpc>
                <a:spcPct val="110000"/>
              </a:lnSpc>
              <a:buNone/>
            </a:pPr>
            <a:r>
              <a:rPr lang="en-US" sz="1300" dirty="0">
                <a:solidFill>
                  <a:schemeClr val="accent3"/>
                </a:solidFill>
              </a:rPr>
              <a:t>site_score (식 6)</a:t>
            </a:r>
            <a:endParaRPr lang="en-US" sz="1300" dirty="0"/>
          </a:p>
        </p:txBody>
      </p:sp>
      <p:sp>
        <p:nvSpPr>
          <p:cNvPr id="24" name="Text 21"/>
          <p:cNvSpPr txBox="1"/>
          <p:nvPr/>
        </p:nvSpPr>
        <p:spPr>
          <a:xfrm>
            <a:off x="548640" y="5257800"/>
            <a:ext cx="2743200" cy="320040"/>
          </a:xfrm>
          <a:prstGeom prst="rect">
            <a:avLst/>
          </a:prstGeom>
          <a:noFill/>
          <a:ln/>
        </p:spPr>
        <p:txBody>
          <a:bodyPr wrap="square" lIns="0" tIns="0" rIns="0" bIns="0" rtlCol="0" anchor="t"/>
          <a:lstStyle/>
          <a:p>
            <a:pPr algn="l" indent="0" marL="0">
              <a:lnSpc>
                <a:spcPct val="110000"/>
              </a:lnSpc>
              <a:buNone/>
            </a:pPr>
            <a:r>
              <a:rPr lang="en-US" sz="1300" b="1" dirty="0">
                <a:solidFill>
                  <a:schemeClr val="accent3"/>
                </a:solidFill>
              </a:rPr>
              <a:t>적용 데이터셋</a:t>
            </a:r>
            <a:endParaRPr lang="en-US" sz="1300" dirty="0"/>
          </a:p>
        </p:txBody>
      </p:sp>
      <p:sp>
        <p:nvSpPr>
          <p:cNvPr id="25" name="Shape 22"/>
          <p:cNvSpPr/>
          <p:nvPr/>
        </p:nvSpPr>
        <p:spPr>
          <a:xfrm>
            <a:off x="548640" y="5596128"/>
            <a:ext cx="2057400" cy="457200"/>
          </a:xfrm>
          <a:prstGeom prst="roundRect">
            <a:avLst>
              <a:gd name="adj" fmla="val 50000"/>
            </a:avLst>
          </a:prstGeom>
          <a:solidFill>
            <a:schemeClr val="accent4"/>
          </a:solidFill>
          <a:ln/>
        </p:spPr>
      </p:sp>
      <p:sp>
        <p:nvSpPr>
          <p:cNvPr id="26" name="Text 23"/>
          <p:cNvSpPr txBox="1"/>
          <p:nvPr/>
        </p:nvSpPr>
        <p:spPr>
          <a:xfrm>
            <a:off x="548640" y="5596128"/>
            <a:ext cx="2057400" cy="457200"/>
          </a:xfrm>
          <a:prstGeom prst="rect">
            <a:avLst/>
          </a:prstGeom>
          <a:noFill/>
          <a:ln/>
        </p:spPr>
        <p:txBody>
          <a:bodyPr wrap="square" lIns="0" tIns="0" rIns="0" bIns="0" rtlCol="0" anchor="ctr"/>
          <a:lstStyle/>
          <a:p>
            <a:pPr algn="ctr" indent="0" marL="0">
              <a:lnSpc>
                <a:spcPct val="110000"/>
              </a:lnSpc>
              <a:buNone/>
            </a:pPr>
            <a:r>
              <a:rPr lang="en-US" sz="1400" b="1" dirty="0">
                <a:solidFill>
                  <a:schemeClr val="accent1"/>
                </a:solidFill>
              </a:rPr>
              <a:t>AITeX</a:t>
            </a:r>
            <a:endParaRPr lang="en-US" sz="1400" dirty="0"/>
          </a:p>
        </p:txBody>
      </p:sp>
      <p:sp>
        <p:nvSpPr>
          <p:cNvPr id="27" name="Shape 24"/>
          <p:cNvSpPr/>
          <p:nvPr/>
        </p:nvSpPr>
        <p:spPr>
          <a:xfrm>
            <a:off x="2788920" y="5596128"/>
            <a:ext cx="2057400" cy="457200"/>
          </a:xfrm>
          <a:prstGeom prst="roundRect">
            <a:avLst>
              <a:gd name="adj" fmla="val 50000"/>
            </a:avLst>
          </a:prstGeom>
          <a:solidFill>
            <a:schemeClr val="accent4"/>
          </a:solidFill>
          <a:ln/>
        </p:spPr>
      </p:sp>
      <p:sp>
        <p:nvSpPr>
          <p:cNvPr id="28" name="Text 25"/>
          <p:cNvSpPr txBox="1"/>
          <p:nvPr/>
        </p:nvSpPr>
        <p:spPr>
          <a:xfrm>
            <a:off x="2788920" y="5596128"/>
            <a:ext cx="2057400" cy="457200"/>
          </a:xfrm>
          <a:prstGeom prst="rect">
            <a:avLst/>
          </a:prstGeom>
          <a:noFill/>
          <a:ln/>
        </p:spPr>
        <p:txBody>
          <a:bodyPr wrap="square" lIns="0" tIns="0" rIns="0" bIns="0" rtlCol="0" anchor="ctr"/>
          <a:lstStyle/>
          <a:p>
            <a:pPr algn="ctr" indent="0" marL="0">
              <a:lnSpc>
                <a:spcPct val="110000"/>
              </a:lnSpc>
              <a:buNone/>
            </a:pPr>
            <a:r>
              <a:rPr lang="en-US" sz="1400" b="1" dirty="0">
                <a:solidFill>
                  <a:schemeClr val="accent1"/>
                </a:solidFill>
              </a:rPr>
              <a:t>Kolektor</a:t>
            </a:r>
            <a:endParaRPr lang="en-US" sz="1400" dirty="0"/>
          </a:p>
        </p:txBody>
      </p:sp>
      <p:sp>
        <p:nvSpPr>
          <p:cNvPr id="29" name="Shape 26"/>
          <p:cNvSpPr/>
          <p:nvPr/>
        </p:nvSpPr>
        <p:spPr>
          <a:xfrm>
            <a:off x="5029200" y="5596128"/>
            <a:ext cx="2057400" cy="457200"/>
          </a:xfrm>
          <a:prstGeom prst="roundRect">
            <a:avLst>
              <a:gd name="adj" fmla="val 50000"/>
            </a:avLst>
          </a:prstGeom>
          <a:solidFill>
            <a:schemeClr val="accent4"/>
          </a:solidFill>
          <a:ln/>
        </p:spPr>
      </p:sp>
      <p:sp>
        <p:nvSpPr>
          <p:cNvPr id="30" name="Text 27"/>
          <p:cNvSpPr txBox="1"/>
          <p:nvPr/>
        </p:nvSpPr>
        <p:spPr>
          <a:xfrm>
            <a:off x="5029200" y="5596128"/>
            <a:ext cx="2057400" cy="457200"/>
          </a:xfrm>
          <a:prstGeom prst="rect">
            <a:avLst/>
          </a:prstGeom>
          <a:noFill/>
          <a:ln/>
        </p:spPr>
        <p:txBody>
          <a:bodyPr wrap="square" lIns="0" tIns="0" rIns="0" bIns="0" rtlCol="0" anchor="ctr"/>
          <a:lstStyle/>
          <a:p>
            <a:pPr algn="ctr" indent="0" marL="0">
              <a:lnSpc>
                <a:spcPct val="110000"/>
              </a:lnSpc>
              <a:buNone/>
            </a:pPr>
            <a:r>
              <a:rPr lang="en-US" sz="1400" b="1" dirty="0">
                <a:solidFill>
                  <a:schemeClr val="accent1"/>
                </a:solidFill>
              </a:rPr>
              <a:t>Severstal</a:t>
            </a:r>
            <a:endParaRPr lang="en-US" sz="1400" dirty="0"/>
          </a:p>
        </p:txBody>
      </p:sp>
      <p:sp>
        <p:nvSpPr>
          <p:cNvPr id="31" name="Shape 28"/>
          <p:cNvSpPr/>
          <p:nvPr/>
        </p:nvSpPr>
        <p:spPr>
          <a:xfrm>
            <a:off x="7269480" y="5596128"/>
            <a:ext cx="2057400" cy="457200"/>
          </a:xfrm>
          <a:prstGeom prst="roundRect">
            <a:avLst>
              <a:gd name="adj" fmla="val 50000"/>
            </a:avLst>
          </a:prstGeom>
          <a:solidFill>
            <a:schemeClr val="accent4"/>
          </a:solidFill>
          <a:ln/>
        </p:spPr>
      </p:sp>
      <p:sp>
        <p:nvSpPr>
          <p:cNvPr id="32" name="Text 29"/>
          <p:cNvSpPr txBox="1"/>
          <p:nvPr/>
        </p:nvSpPr>
        <p:spPr>
          <a:xfrm>
            <a:off x="7269480" y="5596128"/>
            <a:ext cx="2057400" cy="457200"/>
          </a:xfrm>
          <a:prstGeom prst="rect">
            <a:avLst/>
          </a:prstGeom>
          <a:noFill/>
          <a:ln/>
        </p:spPr>
        <p:txBody>
          <a:bodyPr wrap="square" lIns="0" tIns="0" rIns="0" bIns="0" rtlCol="0" anchor="ctr"/>
          <a:lstStyle/>
          <a:p>
            <a:pPr algn="ctr" indent="0" marL="0">
              <a:lnSpc>
                <a:spcPct val="110000"/>
              </a:lnSpc>
              <a:buNone/>
            </a:pPr>
            <a:r>
              <a:rPr lang="en-US" sz="1400" b="1" dirty="0">
                <a:solidFill>
                  <a:schemeClr val="accent1"/>
                </a:solidFill>
              </a:rPr>
              <a:t>MTD</a:t>
            </a:r>
            <a:endParaRPr lang="en-US" sz="1400" dirty="0"/>
          </a:p>
        </p:txBody>
      </p:sp>
      <p:sp>
        <p:nvSpPr>
          <p:cNvPr id="33" name="Shape 30"/>
          <p:cNvSpPr/>
          <p:nvPr/>
        </p:nvSpPr>
        <p:spPr>
          <a:xfrm>
            <a:off x="9509760" y="5596128"/>
            <a:ext cx="2057400" cy="457200"/>
          </a:xfrm>
          <a:prstGeom prst="roundRect">
            <a:avLst>
              <a:gd name="adj" fmla="val 50000"/>
            </a:avLst>
          </a:prstGeom>
          <a:solidFill>
            <a:schemeClr val="accent4"/>
          </a:solidFill>
          <a:ln/>
        </p:spPr>
      </p:sp>
      <p:sp>
        <p:nvSpPr>
          <p:cNvPr id="34" name="Text 31"/>
          <p:cNvSpPr txBox="1"/>
          <p:nvPr/>
        </p:nvSpPr>
        <p:spPr>
          <a:xfrm>
            <a:off x="9509760" y="5596128"/>
            <a:ext cx="2057400" cy="457200"/>
          </a:xfrm>
          <a:prstGeom prst="rect">
            <a:avLst/>
          </a:prstGeom>
          <a:noFill/>
          <a:ln/>
        </p:spPr>
        <p:txBody>
          <a:bodyPr wrap="square" lIns="0" tIns="0" rIns="0" bIns="0" rtlCol="0" anchor="ctr"/>
          <a:lstStyle/>
          <a:p>
            <a:pPr algn="ctr" indent="0" marL="0">
              <a:lnSpc>
                <a:spcPct val="110000"/>
              </a:lnSpc>
              <a:buNone/>
            </a:pPr>
            <a:r>
              <a:rPr lang="en-US" sz="1400" b="1" dirty="0">
                <a:solidFill>
                  <a:schemeClr val="accent1"/>
                </a:solidFill>
              </a:rPr>
              <a:t>MVTec Leather</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제5장 · 수식</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제5장 수식 한눈에 보기</a:t>
            </a:r>
            <a:endParaRPr lang="en-US" sz="2400" dirty="0"/>
          </a:p>
        </p:txBody>
      </p:sp>
      <p:sp>
        <p:nvSpPr>
          <p:cNvPr id="5" name="Shape 2"/>
          <p:cNvSpPr/>
          <p:nvPr/>
        </p:nvSpPr>
        <p:spPr>
          <a:xfrm>
            <a:off x="548640" y="1280160"/>
            <a:ext cx="5440680" cy="1097280"/>
          </a:xfrm>
          <a:prstGeom prst="roundRect">
            <a:avLst>
              <a:gd name="adj" fmla="val 6667"/>
            </a:avLst>
          </a:prstGeom>
          <a:solidFill>
            <a:schemeClr val="bg2"/>
          </a:solidFill>
          <a:ln/>
        </p:spPr>
      </p:sp>
      <p:sp>
        <p:nvSpPr>
          <p:cNvPr id="6" name="Text 3"/>
          <p:cNvSpPr txBox="1"/>
          <p:nvPr/>
        </p:nvSpPr>
        <p:spPr>
          <a:xfrm>
            <a:off x="731520" y="1371600"/>
            <a:ext cx="5074920" cy="274320"/>
          </a:xfrm>
          <a:prstGeom prst="rect">
            <a:avLst/>
          </a:prstGeom>
          <a:noFill/>
          <a:ln/>
        </p:spPr>
        <p:txBody>
          <a:bodyPr wrap="square" lIns="0" tIns="0" rIns="0" bIns="0" rtlCol="0" anchor="t"/>
          <a:lstStyle/>
          <a:p>
            <a:pPr algn="l" indent="0" marL="0">
              <a:lnSpc>
                <a:spcPct val="110000"/>
              </a:lnSpc>
              <a:buNone/>
            </a:pPr>
            <a:r>
              <a:rPr lang="en-US" sz="1300" b="1" dirty="0">
                <a:solidFill>
                  <a:schemeClr val="accent1"/>
                </a:solidFill>
              </a:rPr>
              <a:t>(1) CCI · 배경 문맥 복잡도</a:t>
            </a:r>
            <a:endParaRPr lang="en-US" sz="1300" dirty="0"/>
          </a:p>
        </p:txBody>
      </p:sp>
      <p:pic>
        <p:nvPicPr>
          <p:cNvPr id="7" name="Image 0" descr="cci">    </p:cNvPr>
          <p:cNvPicPr>
            <a:picLocks noChangeAspect="1"/>
          </p:cNvPicPr>
          <p:nvPr/>
        </p:nvPicPr>
        <p:blipFill>
          <a:blip r:embed="rId1"/>
          <a:stretch>
            <a:fillRect/>
          </a:stretch>
        </p:blipFill>
        <p:spPr>
          <a:xfrm>
            <a:off x="731520" y="1730456"/>
            <a:ext cx="3035899" cy="251551"/>
          </a:xfrm>
          <a:prstGeom prst="rect">
            <a:avLst/>
          </a:prstGeom>
        </p:spPr>
      </p:pic>
      <p:sp>
        <p:nvSpPr>
          <p:cNvPr id="8" name="Text 4"/>
          <p:cNvSpPr txBox="1"/>
          <p:nvPr/>
        </p:nvSpPr>
        <p:spPr>
          <a:xfrm>
            <a:off x="731520" y="2066544"/>
            <a:ext cx="5074920" cy="27432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TE 텍스처 엔트로피 · CC 문맥 군집 수 · FC 주파수 · OV 방향</a:t>
            </a:r>
            <a:endParaRPr lang="en-US" sz="1100" dirty="0"/>
          </a:p>
        </p:txBody>
      </p:sp>
      <p:sp>
        <p:nvSpPr>
          <p:cNvPr id="9" name="Shape 5"/>
          <p:cNvSpPr/>
          <p:nvPr/>
        </p:nvSpPr>
        <p:spPr>
          <a:xfrm>
            <a:off x="6199632" y="1280160"/>
            <a:ext cx="5440680" cy="1097280"/>
          </a:xfrm>
          <a:prstGeom prst="roundRect">
            <a:avLst>
              <a:gd name="adj" fmla="val 6667"/>
            </a:avLst>
          </a:prstGeom>
          <a:solidFill>
            <a:schemeClr val="bg2"/>
          </a:solidFill>
          <a:ln/>
        </p:spPr>
      </p:sp>
      <p:sp>
        <p:nvSpPr>
          <p:cNvPr id="10" name="Text 6"/>
          <p:cNvSpPr txBox="1"/>
          <p:nvPr/>
        </p:nvSpPr>
        <p:spPr>
          <a:xfrm>
            <a:off x="6382512" y="1371600"/>
            <a:ext cx="5074920" cy="274320"/>
          </a:xfrm>
          <a:prstGeom prst="rect">
            <a:avLst/>
          </a:prstGeom>
          <a:noFill/>
          <a:ln/>
        </p:spPr>
        <p:txBody>
          <a:bodyPr wrap="square" lIns="0" tIns="0" rIns="0" bIns="0" rtlCol="0" anchor="t"/>
          <a:lstStyle/>
          <a:p>
            <a:pPr algn="l" indent="0" marL="0">
              <a:lnSpc>
                <a:spcPct val="110000"/>
              </a:lnSpc>
              <a:buNone/>
            </a:pPr>
            <a:r>
              <a:rPr lang="en-US" sz="1300" b="1" dirty="0">
                <a:solidFill>
                  <a:schemeClr val="accent1"/>
                </a:solidFill>
              </a:rPr>
              <a:t>MCI · 결함 형태 복잡도</a:t>
            </a:r>
            <a:endParaRPr lang="en-US" sz="1300" dirty="0"/>
          </a:p>
        </p:txBody>
      </p:sp>
      <p:pic>
        <p:nvPicPr>
          <p:cNvPr id="11" name="Image 1" descr="mci">    </p:cNvPr>
          <p:cNvPicPr>
            <a:picLocks noChangeAspect="1"/>
          </p:cNvPicPr>
          <p:nvPr/>
        </p:nvPicPr>
        <p:blipFill>
          <a:blip r:embed="rId2"/>
          <a:stretch>
            <a:fillRect/>
          </a:stretch>
        </p:blipFill>
        <p:spPr>
          <a:xfrm>
            <a:off x="6382512" y="1730456"/>
            <a:ext cx="3425708" cy="251551"/>
          </a:xfrm>
          <a:prstGeom prst="rect">
            <a:avLst/>
          </a:prstGeom>
        </p:spPr>
      </p:pic>
      <p:sp>
        <p:nvSpPr>
          <p:cNvPr id="12" name="Text 7"/>
          <p:cNvSpPr txBox="1"/>
          <p:nvPr/>
        </p:nvSpPr>
        <p:spPr>
          <a:xfrm>
            <a:off x="6382512" y="2066544"/>
            <a:ext cx="5074920" cy="27432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Ent 군집 엔트로피 · VC 골짜기 수 · CD 클래스 다양성 · Sil</a:t>
            </a:r>
            <a:endParaRPr lang="en-US" sz="1100" dirty="0"/>
          </a:p>
        </p:txBody>
      </p:sp>
      <p:sp>
        <p:nvSpPr>
          <p:cNvPr id="13" name="Shape 8"/>
          <p:cNvSpPr/>
          <p:nvPr/>
        </p:nvSpPr>
        <p:spPr>
          <a:xfrm>
            <a:off x="548640" y="2514600"/>
            <a:ext cx="5440680" cy="1097280"/>
          </a:xfrm>
          <a:prstGeom prst="roundRect">
            <a:avLst>
              <a:gd name="adj" fmla="val 6667"/>
            </a:avLst>
          </a:prstGeom>
          <a:solidFill>
            <a:schemeClr val="bg2"/>
          </a:solidFill>
          <a:ln/>
        </p:spPr>
      </p:sp>
      <p:sp>
        <p:nvSpPr>
          <p:cNvPr id="14" name="Text 9"/>
          <p:cNvSpPr txBox="1"/>
          <p:nvPr/>
        </p:nvSpPr>
        <p:spPr>
          <a:xfrm>
            <a:off x="731520" y="2606040"/>
            <a:ext cx="5074920" cy="274320"/>
          </a:xfrm>
          <a:prstGeom prst="rect">
            <a:avLst/>
          </a:prstGeom>
          <a:noFill/>
          <a:ln/>
        </p:spPr>
        <p:txBody>
          <a:bodyPr wrap="square" lIns="0" tIns="0" rIns="0" bIns="0" rtlCol="0" anchor="t"/>
          <a:lstStyle/>
          <a:p>
            <a:pPr algn="l" indent="0" marL="0">
              <a:lnSpc>
                <a:spcPct val="110000"/>
              </a:lnSpc>
              <a:buNone/>
            </a:pPr>
            <a:r>
              <a:rPr lang="en-US" sz="1300" b="1" dirty="0">
                <a:solidFill>
                  <a:schemeClr val="accent1"/>
                </a:solidFill>
              </a:rPr>
              <a:t>K* · 형태 군집 개수</a:t>
            </a:r>
            <a:endParaRPr lang="en-US" sz="1300" dirty="0"/>
          </a:p>
        </p:txBody>
      </p:sp>
      <p:pic>
        <p:nvPicPr>
          <p:cNvPr id="15" name="Image 2" descr="kstar">    </p:cNvPr>
          <p:cNvPicPr>
            <a:picLocks noChangeAspect="1"/>
          </p:cNvPicPr>
          <p:nvPr/>
        </p:nvPicPr>
        <p:blipFill>
          <a:blip r:embed="rId3"/>
          <a:stretch>
            <a:fillRect/>
          </a:stretch>
        </p:blipFill>
        <p:spPr>
          <a:xfrm>
            <a:off x="731520" y="2917850"/>
            <a:ext cx="1950964" cy="345643"/>
          </a:xfrm>
          <a:prstGeom prst="rect">
            <a:avLst/>
          </a:prstGeom>
        </p:spPr>
      </p:pic>
      <p:sp>
        <p:nvSpPr>
          <p:cNvPr id="16" name="Text 10"/>
          <p:cNvSpPr txBox="1"/>
          <p:nvPr/>
        </p:nvSpPr>
        <p:spPr>
          <a:xfrm>
            <a:off x="731520" y="3300984"/>
            <a:ext cx="5074920" cy="27432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GMM + BIC, BIC는 낮을수록 좋음</a:t>
            </a:r>
            <a:endParaRPr lang="en-US" sz="1100" dirty="0"/>
          </a:p>
        </p:txBody>
      </p:sp>
      <p:sp>
        <p:nvSpPr>
          <p:cNvPr id="17" name="Shape 11"/>
          <p:cNvSpPr/>
          <p:nvPr/>
        </p:nvSpPr>
        <p:spPr>
          <a:xfrm>
            <a:off x="6199632" y="2514600"/>
            <a:ext cx="5440680" cy="1097280"/>
          </a:xfrm>
          <a:prstGeom prst="roundRect">
            <a:avLst>
              <a:gd name="adj" fmla="val 6667"/>
            </a:avLst>
          </a:prstGeom>
          <a:solidFill>
            <a:schemeClr val="accent4"/>
          </a:solidFill>
          <a:ln/>
        </p:spPr>
      </p:sp>
      <p:sp>
        <p:nvSpPr>
          <p:cNvPr id="18" name="Text 12"/>
          <p:cNvSpPr txBox="1"/>
          <p:nvPr/>
        </p:nvSpPr>
        <p:spPr>
          <a:xfrm>
            <a:off x="6382512" y="2606040"/>
            <a:ext cx="5074920" cy="274320"/>
          </a:xfrm>
          <a:prstGeom prst="rect">
            <a:avLst/>
          </a:prstGeom>
          <a:noFill/>
          <a:ln/>
        </p:spPr>
        <p:txBody>
          <a:bodyPr wrap="square" lIns="0" tIns="0" rIns="0" bIns="0" rtlCol="0" anchor="t"/>
          <a:lstStyle/>
          <a:p>
            <a:pPr algn="l" indent="0" marL="0">
              <a:lnSpc>
                <a:spcPct val="110000"/>
              </a:lnSpc>
              <a:buNone/>
            </a:pPr>
            <a:r>
              <a:rPr lang="en-US" sz="1300" b="1" dirty="0">
                <a:solidFill>
                  <a:schemeClr val="accent1"/>
                </a:solidFill>
              </a:rPr>
              <a:t>(2) 대칭 호환성 게이트 ★</a:t>
            </a:r>
            <a:endParaRPr lang="en-US" sz="1300" dirty="0"/>
          </a:p>
        </p:txBody>
      </p:sp>
      <p:pic>
        <p:nvPicPr>
          <p:cNvPr id="19" name="Image 3" descr="ctx">    </p:cNvPr>
          <p:cNvPicPr>
            <a:picLocks noChangeAspect="1"/>
          </p:cNvPicPr>
          <p:nvPr/>
        </p:nvPicPr>
        <p:blipFill>
          <a:blip r:embed="rId4"/>
          <a:stretch>
            <a:fillRect/>
          </a:stretch>
        </p:blipFill>
        <p:spPr>
          <a:xfrm>
            <a:off x="6382512" y="2914970"/>
            <a:ext cx="3535162" cy="351404"/>
          </a:xfrm>
          <a:prstGeom prst="rect">
            <a:avLst/>
          </a:prstGeom>
        </p:spPr>
      </p:pic>
      <p:sp>
        <p:nvSpPr>
          <p:cNvPr id="20" name="Text 13"/>
          <p:cNvSpPr txBox="1"/>
          <p:nvPr/>
        </p:nvSpPr>
        <p:spPr>
          <a:xfrm>
            <a:off x="6382512" y="3300984"/>
            <a:ext cx="5074920" cy="27432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결함 주변 관측 × 정상 이미지 존재, 기하평균</a:t>
            </a:r>
            <a:endParaRPr lang="en-US" sz="1100" dirty="0"/>
          </a:p>
        </p:txBody>
      </p:sp>
      <p:sp>
        <p:nvSpPr>
          <p:cNvPr id="21" name="Shape 14"/>
          <p:cNvSpPr/>
          <p:nvPr/>
        </p:nvSpPr>
        <p:spPr>
          <a:xfrm>
            <a:off x="548640" y="3749040"/>
            <a:ext cx="5440680" cy="1097280"/>
          </a:xfrm>
          <a:prstGeom prst="roundRect">
            <a:avLst>
              <a:gd name="adj" fmla="val 6667"/>
            </a:avLst>
          </a:prstGeom>
          <a:solidFill>
            <a:schemeClr val="bg2"/>
          </a:solidFill>
          <a:ln/>
        </p:spPr>
      </p:sp>
      <p:sp>
        <p:nvSpPr>
          <p:cNvPr id="22" name="Text 15"/>
          <p:cNvSpPr txBox="1"/>
          <p:nvPr/>
        </p:nvSpPr>
        <p:spPr>
          <a:xfrm>
            <a:off x="731520" y="3840480"/>
            <a:ext cx="5074920" cy="274320"/>
          </a:xfrm>
          <a:prstGeom prst="rect">
            <a:avLst/>
          </a:prstGeom>
          <a:noFill/>
          <a:ln/>
        </p:spPr>
        <p:txBody>
          <a:bodyPr wrap="square" lIns="0" tIns="0" rIns="0" bIns="0" rtlCol="0" anchor="t"/>
          <a:lstStyle/>
          <a:p>
            <a:pPr algn="l" indent="0" marL="0">
              <a:lnSpc>
                <a:spcPct val="110000"/>
              </a:lnSpc>
              <a:buNone/>
            </a:pPr>
            <a:r>
              <a:rPr lang="en-US" sz="1300" b="1" dirty="0">
                <a:solidFill>
                  <a:schemeClr val="accent1"/>
                </a:solidFill>
              </a:rPr>
              <a:t>(3) 결함 패치 우선순위</a:t>
            </a:r>
            <a:endParaRPr lang="en-US" sz="1300" dirty="0"/>
          </a:p>
        </p:txBody>
      </p:sp>
      <p:pic>
        <p:nvPicPr>
          <p:cNvPr id="23" name="Image 4" descr="roi">    </p:cNvPr>
          <p:cNvPicPr>
            <a:picLocks noChangeAspect="1"/>
          </p:cNvPicPr>
          <p:nvPr/>
        </p:nvPicPr>
        <p:blipFill>
          <a:blip r:embed="rId5"/>
          <a:stretch>
            <a:fillRect/>
          </a:stretch>
        </p:blipFill>
        <p:spPr>
          <a:xfrm>
            <a:off x="731520" y="4207017"/>
            <a:ext cx="3504438" cy="236190"/>
          </a:xfrm>
          <a:prstGeom prst="rect">
            <a:avLst/>
          </a:prstGeom>
        </p:spPr>
      </p:pic>
      <p:sp>
        <p:nvSpPr>
          <p:cNvPr id="24" name="Text 16"/>
          <p:cNvSpPr txBox="1"/>
          <p:nvPr/>
        </p:nvSpPr>
        <p:spPr>
          <a:xfrm>
            <a:off x="731520" y="4535424"/>
            <a:ext cx="5074920" cy="27432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morph_prior = P(k) = n_k / N, 상위 K개 선택</a:t>
            </a:r>
            <a:endParaRPr lang="en-US" sz="1100" dirty="0"/>
          </a:p>
        </p:txBody>
      </p:sp>
      <p:sp>
        <p:nvSpPr>
          <p:cNvPr id="25" name="Shape 17"/>
          <p:cNvSpPr/>
          <p:nvPr/>
        </p:nvSpPr>
        <p:spPr>
          <a:xfrm>
            <a:off x="6199632" y="3749040"/>
            <a:ext cx="5440680" cy="1097280"/>
          </a:xfrm>
          <a:prstGeom prst="roundRect">
            <a:avLst>
              <a:gd name="adj" fmla="val 6667"/>
            </a:avLst>
          </a:prstGeom>
          <a:solidFill>
            <a:schemeClr val="bg2"/>
          </a:solidFill>
          <a:ln/>
        </p:spPr>
      </p:sp>
      <p:sp>
        <p:nvSpPr>
          <p:cNvPr id="26" name="Text 18"/>
          <p:cNvSpPr txBox="1"/>
          <p:nvPr/>
        </p:nvSpPr>
        <p:spPr>
          <a:xfrm>
            <a:off x="6382512" y="3840480"/>
            <a:ext cx="5074920" cy="274320"/>
          </a:xfrm>
          <a:prstGeom prst="rect">
            <a:avLst/>
          </a:prstGeom>
          <a:noFill/>
          <a:ln/>
        </p:spPr>
        <p:txBody>
          <a:bodyPr wrap="square" lIns="0" tIns="0" rIns="0" bIns="0" rtlCol="0" anchor="t"/>
          <a:lstStyle/>
          <a:p>
            <a:pPr algn="l" indent="0" marL="0">
              <a:lnSpc>
                <a:spcPct val="110000"/>
              </a:lnSpc>
              <a:buNone/>
            </a:pPr>
            <a:r>
              <a:rPr lang="en-US" sz="1300" b="1" dirty="0">
                <a:solidFill>
                  <a:schemeClr val="accent1"/>
                </a:solidFill>
              </a:rPr>
              <a:t>(4) 히스토그램 교집합</a:t>
            </a:r>
            <a:endParaRPr lang="en-US" sz="1300" dirty="0"/>
          </a:p>
        </p:txBody>
      </p:sp>
      <p:pic>
        <p:nvPicPr>
          <p:cNvPr id="27" name="Image 5" descr="inter">    </p:cNvPr>
          <p:cNvPicPr>
            <a:picLocks noChangeAspect="1"/>
          </p:cNvPicPr>
          <p:nvPr/>
        </p:nvPicPr>
        <p:blipFill>
          <a:blip r:embed="rId6"/>
          <a:stretch>
            <a:fillRect/>
          </a:stretch>
        </p:blipFill>
        <p:spPr>
          <a:xfrm>
            <a:off x="6382512" y="4114800"/>
            <a:ext cx="2385357" cy="420624"/>
          </a:xfrm>
          <a:prstGeom prst="rect">
            <a:avLst/>
          </a:prstGeom>
        </p:spPr>
      </p:pic>
      <p:sp>
        <p:nvSpPr>
          <p:cNvPr id="28" name="Text 19"/>
          <p:cNvSpPr txBox="1"/>
          <p:nvPr/>
        </p:nvSpPr>
        <p:spPr>
          <a:xfrm>
            <a:off x="6382512" y="4535424"/>
            <a:ext cx="5074920" cy="27432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식 (5)·(6)의 기본 연산</a:t>
            </a:r>
            <a:endParaRPr lang="en-US" sz="1100" dirty="0"/>
          </a:p>
        </p:txBody>
      </p:sp>
      <p:sp>
        <p:nvSpPr>
          <p:cNvPr id="29" name="Shape 20"/>
          <p:cNvSpPr/>
          <p:nvPr/>
        </p:nvSpPr>
        <p:spPr>
          <a:xfrm>
            <a:off x="548640" y="4983480"/>
            <a:ext cx="5440680" cy="1097280"/>
          </a:xfrm>
          <a:prstGeom prst="roundRect">
            <a:avLst>
              <a:gd name="adj" fmla="val 6667"/>
            </a:avLst>
          </a:prstGeom>
          <a:solidFill>
            <a:schemeClr val="bg2"/>
          </a:solidFill>
          <a:ln/>
        </p:spPr>
      </p:sp>
      <p:sp>
        <p:nvSpPr>
          <p:cNvPr id="30" name="Text 21"/>
          <p:cNvSpPr txBox="1"/>
          <p:nvPr/>
        </p:nvSpPr>
        <p:spPr>
          <a:xfrm>
            <a:off x="731520" y="5074920"/>
            <a:ext cx="5074920" cy="274320"/>
          </a:xfrm>
          <a:prstGeom prst="rect">
            <a:avLst/>
          </a:prstGeom>
          <a:noFill/>
          <a:ln/>
        </p:spPr>
        <p:txBody>
          <a:bodyPr wrap="square" lIns="0" tIns="0" rIns="0" bIns="0" rtlCol="0" anchor="t"/>
          <a:lstStyle/>
          <a:p>
            <a:pPr algn="l" indent="0" marL="0">
              <a:lnSpc>
                <a:spcPct val="110000"/>
              </a:lnSpc>
              <a:buNone/>
            </a:pPr>
            <a:r>
              <a:rPr lang="en-US" sz="1300" b="1" dirty="0">
                <a:solidFill>
                  <a:schemeClr val="accent1"/>
                </a:solidFill>
              </a:rPr>
              <a:t>(5) 배경 이미지 선정</a:t>
            </a:r>
            <a:endParaRPr lang="en-US" sz="1300" dirty="0"/>
          </a:p>
        </p:txBody>
      </p:sp>
      <p:pic>
        <p:nvPicPr>
          <p:cNvPr id="31" name="Image 6" descr="bg">    </p:cNvPr>
          <p:cNvPicPr>
            <a:picLocks noChangeAspect="1"/>
          </p:cNvPicPr>
          <p:nvPr/>
        </p:nvPicPr>
        <p:blipFill>
          <a:blip r:embed="rId7"/>
          <a:stretch>
            <a:fillRect/>
          </a:stretch>
        </p:blipFill>
        <p:spPr>
          <a:xfrm>
            <a:off x="731520" y="5441457"/>
            <a:ext cx="3525561" cy="236190"/>
          </a:xfrm>
          <a:prstGeom prst="rect">
            <a:avLst/>
          </a:prstGeom>
        </p:spPr>
      </p:pic>
      <p:sp>
        <p:nvSpPr>
          <p:cNvPr id="32" name="Text 22"/>
          <p:cNvSpPr txBox="1"/>
          <p:nvPr/>
        </p:nvSpPr>
        <p:spPr>
          <a:xfrm>
            <a:off x="731520" y="5769864"/>
            <a:ext cx="5074920" cy="27432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원본 주변 분포 · 클래스 프로파일 · 크기 적합도</a:t>
            </a:r>
            <a:endParaRPr lang="en-US" sz="1100" dirty="0"/>
          </a:p>
        </p:txBody>
      </p:sp>
      <p:sp>
        <p:nvSpPr>
          <p:cNvPr id="33" name="Shape 23"/>
          <p:cNvSpPr/>
          <p:nvPr/>
        </p:nvSpPr>
        <p:spPr>
          <a:xfrm>
            <a:off x="6199632" y="4983480"/>
            <a:ext cx="5440680" cy="1097280"/>
          </a:xfrm>
          <a:prstGeom prst="roundRect">
            <a:avLst>
              <a:gd name="adj" fmla="val 6667"/>
            </a:avLst>
          </a:prstGeom>
          <a:solidFill>
            <a:schemeClr val="bg2"/>
          </a:solidFill>
          <a:ln/>
        </p:spPr>
      </p:sp>
      <p:sp>
        <p:nvSpPr>
          <p:cNvPr id="34" name="Text 24"/>
          <p:cNvSpPr txBox="1"/>
          <p:nvPr/>
        </p:nvSpPr>
        <p:spPr>
          <a:xfrm>
            <a:off x="6382512" y="5074920"/>
            <a:ext cx="5074920" cy="274320"/>
          </a:xfrm>
          <a:prstGeom prst="rect">
            <a:avLst/>
          </a:prstGeom>
          <a:noFill/>
          <a:ln/>
        </p:spPr>
        <p:txBody>
          <a:bodyPr wrap="square" lIns="0" tIns="0" rIns="0" bIns="0" rtlCol="0" anchor="t"/>
          <a:lstStyle/>
          <a:p>
            <a:pPr algn="l" indent="0" marL="0">
              <a:lnSpc>
                <a:spcPct val="110000"/>
              </a:lnSpc>
              <a:buNone/>
            </a:pPr>
            <a:r>
              <a:rPr lang="en-US" sz="1300" b="1" dirty="0">
                <a:solidFill>
                  <a:schemeClr val="accent1"/>
                </a:solidFill>
              </a:rPr>
              <a:t>(6) 삽입 위치 선정</a:t>
            </a:r>
            <a:endParaRPr lang="en-US" sz="1300" dirty="0"/>
          </a:p>
        </p:txBody>
      </p:sp>
      <p:pic>
        <p:nvPicPr>
          <p:cNvPr id="35" name="Image 7" descr="site">    </p:cNvPr>
          <p:cNvPicPr>
            <a:picLocks noChangeAspect="1"/>
          </p:cNvPicPr>
          <p:nvPr/>
        </p:nvPicPr>
        <p:blipFill>
          <a:blip r:embed="rId8"/>
          <a:stretch>
            <a:fillRect/>
          </a:stretch>
        </p:blipFill>
        <p:spPr>
          <a:xfrm>
            <a:off x="6382512" y="5433776"/>
            <a:ext cx="2323490" cy="251551"/>
          </a:xfrm>
          <a:prstGeom prst="rect">
            <a:avLst/>
          </a:prstGeom>
        </p:spPr>
      </p:pic>
      <p:sp>
        <p:nvSpPr>
          <p:cNvPr id="36" name="Text 25"/>
          <p:cNvSpPr txBox="1"/>
          <p:nvPr/>
        </p:nvSpPr>
        <p:spPr>
          <a:xfrm>
            <a:off x="6382512" y="5769864"/>
            <a:ext cx="5074920" cy="27432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후보 위치의 ring 히스토그램 × 군집 k 목표 분포</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제5장 · 수식 상세 ① 배경 특징</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배경 문맥 특징 5종 — CCI와 문맥 셀의 공통 원료</a:t>
            </a:r>
            <a:endParaRPr lang="en-US" sz="2400" dirty="0"/>
          </a:p>
        </p:txBody>
      </p:sp>
      <p:sp>
        <p:nvSpPr>
          <p:cNvPr id="5" name="Shape 2"/>
          <p:cNvSpPr/>
          <p:nvPr/>
        </p:nvSpPr>
        <p:spPr>
          <a:xfrm>
            <a:off x="548640" y="1188720"/>
            <a:ext cx="6355080" cy="640080"/>
          </a:xfrm>
          <a:prstGeom prst="roundRect">
            <a:avLst>
              <a:gd name="adj" fmla="val 11429"/>
            </a:avLst>
          </a:prstGeom>
          <a:solidFill>
            <a:schemeClr val="bg2"/>
          </a:solidFill>
          <a:ln/>
        </p:spPr>
      </p:sp>
      <p:sp>
        <p:nvSpPr>
          <p:cNvPr id="6" name="Text 3"/>
          <p:cNvSpPr txBox="1"/>
          <p:nvPr/>
        </p:nvSpPr>
        <p:spPr>
          <a:xfrm>
            <a:off x="731520" y="1188720"/>
            <a:ext cx="6035040" cy="640080"/>
          </a:xfrm>
          <a:prstGeom prst="rect">
            <a:avLst/>
          </a:prstGeom>
          <a:noFill/>
          <a:ln/>
        </p:spPr>
        <p:txBody>
          <a:bodyPr wrap="square" lIns="0" tIns="0" rIns="0" bIns="0" rtlCol="0" anchor="ctr"/>
          <a:lstStyle/>
          <a:p>
            <a:pPr algn="l" indent="0" marL="0">
              <a:lnSpc>
                <a:spcPct val="110000"/>
              </a:lnSpc>
              <a:buNone/>
            </a:pPr>
            <a:r>
              <a:rPr lang="en-US" sz="1300" dirty="0">
                <a:solidFill>
                  <a:schemeClr val="tx1"/>
                </a:solidFill>
              </a:rPr>
              <a:t>정상 이미지 → 64px 격자 패치 p → 5개 값 → P33/P66 삼분위 조합 = 문맥 셀 키 (최대 3⁵ = 243개)</a:t>
            </a:r>
            <a:endParaRPr lang="en-US" sz="1300" dirty="0"/>
          </a:p>
        </p:txBody>
      </p:sp>
      <p:sp>
        <p:nvSpPr>
          <p:cNvPr id="7" name="Shape 4"/>
          <p:cNvSpPr/>
          <p:nvPr/>
        </p:nvSpPr>
        <p:spPr>
          <a:xfrm>
            <a:off x="7086600" y="1188720"/>
            <a:ext cx="4553712" cy="640080"/>
          </a:xfrm>
          <a:prstGeom prst="roundRect">
            <a:avLst>
              <a:gd name="adj" fmla="val 11429"/>
            </a:avLst>
          </a:prstGeom>
          <a:solidFill>
            <a:schemeClr val="accent4"/>
          </a:solidFill>
          <a:ln/>
        </p:spPr>
      </p:sp>
      <p:sp>
        <p:nvSpPr>
          <p:cNvPr id="8" name="Text 5"/>
          <p:cNvSpPr txBox="1"/>
          <p:nvPr/>
        </p:nvSpPr>
        <p:spPr>
          <a:xfrm>
            <a:off x="7223760" y="1188720"/>
            <a:ext cx="914400" cy="640080"/>
          </a:xfrm>
          <a:prstGeom prst="rect">
            <a:avLst/>
          </a:prstGeom>
          <a:noFill/>
          <a:ln/>
        </p:spPr>
        <p:txBody>
          <a:bodyPr wrap="square" lIns="0" tIns="0" rIns="0" bIns="0" rtlCol="0" anchor="ctr"/>
          <a:lstStyle/>
          <a:p>
            <a:pPr algn="l" indent="0" marL="0">
              <a:lnSpc>
                <a:spcPct val="110000"/>
              </a:lnSpc>
              <a:buNone/>
            </a:pPr>
            <a:r>
              <a:rPr lang="en-US" sz="1200" b="1" dirty="0">
                <a:solidFill>
                  <a:schemeClr val="accent1"/>
                </a:solidFill>
              </a:rPr>
              <a:t>공통 도구</a:t>
            </a:r>
            <a:endParaRPr lang="en-US" sz="1200" dirty="0"/>
          </a:p>
        </p:txBody>
      </p:sp>
      <p:pic>
        <p:nvPicPr>
          <p:cNvPr id="9" name="Image 0" descr="H">    </p:cNvPr>
          <p:cNvPicPr>
            <a:picLocks noChangeAspect="1"/>
          </p:cNvPicPr>
          <p:nvPr/>
        </p:nvPicPr>
        <p:blipFill>
          <a:blip r:embed="rId1"/>
          <a:stretch>
            <a:fillRect/>
          </a:stretch>
        </p:blipFill>
        <p:spPr>
          <a:xfrm>
            <a:off x="8138160" y="1313673"/>
            <a:ext cx="1554480" cy="390174"/>
          </a:xfrm>
          <a:prstGeom prst="rect">
            <a:avLst/>
          </a:prstGeom>
        </p:spPr>
      </p:pic>
      <p:sp>
        <p:nvSpPr>
          <p:cNvPr id="10" name="Text 6"/>
          <p:cNvSpPr txBox="1"/>
          <p:nvPr/>
        </p:nvSpPr>
        <p:spPr>
          <a:xfrm>
            <a:off x="10195560" y="1188720"/>
            <a:ext cx="1371600" cy="640080"/>
          </a:xfrm>
          <a:prstGeom prst="rect">
            <a:avLst/>
          </a:prstGeom>
          <a:noFill/>
          <a:ln/>
        </p:spPr>
        <p:txBody>
          <a:bodyPr wrap="square" lIns="0" tIns="0" rIns="0" bIns="0" rtlCol="0" anchor="ctr"/>
          <a:lstStyle/>
          <a:p>
            <a:pPr algn="l" indent="0" marL="0">
              <a:lnSpc>
                <a:spcPct val="110000"/>
              </a:lnSpc>
              <a:buNone/>
            </a:pPr>
            <a:r>
              <a:rPr lang="en-US" sz="1100" dirty="0">
                <a:solidFill>
                  <a:schemeClr val="accent3"/>
                </a:solidFill>
              </a:rPr>
              <a:t>고르게 퍼질수록 큼</a:t>
            </a:r>
            <a:endParaRPr lang="en-US" sz="1100" dirty="0"/>
          </a:p>
        </p:txBody>
      </p:sp>
      <p:sp>
        <p:nvSpPr>
          <p:cNvPr id="11" name="Text 7"/>
          <p:cNvSpPr txBox="1"/>
          <p:nvPr/>
        </p:nvSpPr>
        <p:spPr>
          <a:xfrm>
            <a:off x="658368" y="1920240"/>
            <a:ext cx="2057400" cy="274320"/>
          </a:xfrm>
          <a:prstGeom prst="rect">
            <a:avLst/>
          </a:prstGeom>
          <a:noFill/>
          <a:ln/>
        </p:spPr>
        <p:txBody>
          <a:bodyPr wrap="square" lIns="0" tIns="0" rIns="0" bIns="0" rtlCol="0" anchor="t"/>
          <a:lstStyle/>
          <a:p>
            <a:pPr algn="l" indent="0" marL="0">
              <a:lnSpc>
                <a:spcPct val="110000"/>
              </a:lnSpc>
              <a:buNone/>
            </a:pPr>
            <a:r>
              <a:rPr lang="en-US" sz="1200" b="1" dirty="0">
                <a:solidFill>
                  <a:schemeClr val="accent3"/>
                </a:solidFill>
              </a:rPr>
              <a:t>특징</a:t>
            </a:r>
            <a:endParaRPr lang="en-US" sz="1200" dirty="0"/>
          </a:p>
        </p:txBody>
      </p:sp>
      <p:sp>
        <p:nvSpPr>
          <p:cNvPr id="12" name="Text 8"/>
          <p:cNvSpPr txBox="1"/>
          <p:nvPr/>
        </p:nvSpPr>
        <p:spPr>
          <a:xfrm>
            <a:off x="2898648" y="1920240"/>
            <a:ext cx="3886200" cy="274320"/>
          </a:xfrm>
          <a:prstGeom prst="rect">
            <a:avLst/>
          </a:prstGeom>
          <a:noFill/>
          <a:ln/>
        </p:spPr>
        <p:txBody>
          <a:bodyPr wrap="square" lIns="0" tIns="0" rIns="0" bIns="0" rtlCol="0" anchor="t"/>
          <a:lstStyle/>
          <a:p>
            <a:pPr algn="l" indent="0" marL="0">
              <a:lnSpc>
                <a:spcPct val="110000"/>
              </a:lnSpc>
              <a:buNone/>
            </a:pPr>
            <a:r>
              <a:rPr lang="en-US" sz="1200" b="1" dirty="0">
                <a:solidFill>
                  <a:schemeClr val="accent3"/>
                </a:solidFill>
              </a:rPr>
              <a:t>수식</a:t>
            </a:r>
            <a:endParaRPr lang="en-US" sz="1200" dirty="0"/>
          </a:p>
        </p:txBody>
      </p:sp>
      <p:sp>
        <p:nvSpPr>
          <p:cNvPr id="13" name="Text 9"/>
          <p:cNvSpPr txBox="1"/>
          <p:nvPr/>
        </p:nvSpPr>
        <p:spPr>
          <a:xfrm>
            <a:off x="6967728" y="1920240"/>
            <a:ext cx="2743200" cy="274320"/>
          </a:xfrm>
          <a:prstGeom prst="rect">
            <a:avLst/>
          </a:prstGeom>
          <a:noFill/>
          <a:ln/>
        </p:spPr>
        <p:txBody>
          <a:bodyPr wrap="square" lIns="0" tIns="0" rIns="0" bIns="0" rtlCol="0" anchor="t"/>
          <a:lstStyle/>
          <a:p>
            <a:pPr algn="l" indent="0" marL="0">
              <a:lnSpc>
                <a:spcPct val="110000"/>
              </a:lnSpc>
              <a:buNone/>
            </a:pPr>
            <a:r>
              <a:rPr lang="en-US" sz="1200" b="1" dirty="0">
                <a:solidFill>
                  <a:schemeClr val="accent3"/>
                </a:solidFill>
              </a:rPr>
              <a:t>한 줄 설명</a:t>
            </a:r>
            <a:endParaRPr lang="en-US" sz="1200" dirty="0"/>
          </a:p>
        </p:txBody>
      </p:sp>
      <p:sp>
        <p:nvSpPr>
          <p:cNvPr id="14" name="Text 10"/>
          <p:cNvSpPr txBox="1"/>
          <p:nvPr/>
        </p:nvSpPr>
        <p:spPr>
          <a:xfrm>
            <a:off x="9893808" y="1920240"/>
            <a:ext cx="1673352" cy="274320"/>
          </a:xfrm>
          <a:prstGeom prst="rect">
            <a:avLst/>
          </a:prstGeom>
          <a:noFill/>
          <a:ln/>
        </p:spPr>
        <p:txBody>
          <a:bodyPr wrap="square" lIns="0" tIns="0" rIns="0" bIns="0" rtlCol="0" anchor="t"/>
          <a:lstStyle/>
          <a:p>
            <a:pPr algn="l" indent="0" marL="0">
              <a:lnSpc>
                <a:spcPct val="110000"/>
              </a:lnSpc>
              <a:buNone/>
            </a:pPr>
            <a:r>
              <a:rPr lang="en-US" sz="1200" b="1" dirty="0">
                <a:solidFill>
                  <a:schemeClr val="accent3"/>
                </a:solidFill>
              </a:rPr>
              <a:t>낮음 / 높음</a:t>
            </a:r>
            <a:endParaRPr lang="en-US" sz="1200" dirty="0"/>
          </a:p>
        </p:txBody>
      </p:sp>
      <p:sp>
        <p:nvSpPr>
          <p:cNvPr id="15" name="Shape 11"/>
          <p:cNvSpPr/>
          <p:nvPr/>
        </p:nvSpPr>
        <p:spPr>
          <a:xfrm>
            <a:off x="548640" y="2249424"/>
            <a:ext cx="11091672" cy="694944"/>
          </a:xfrm>
          <a:prstGeom prst="roundRect">
            <a:avLst>
              <a:gd name="adj" fmla="val 10526"/>
            </a:avLst>
          </a:prstGeom>
          <a:solidFill>
            <a:schemeClr val="bg2"/>
          </a:solidFill>
          <a:ln/>
        </p:spPr>
      </p:sp>
      <p:sp>
        <p:nvSpPr>
          <p:cNvPr id="16" name="Text 12"/>
          <p:cNvSpPr txBox="1"/>
          <p:nvPr/>
        </p:nvSpPr>
        <p:spPr>
          <a:xfrm>
            <a:off x="685800" y="2286000"/>
            <a:ext cx="2011680" cy="347472"/>
          </a:xfrm>
          <a:prstGeom prst="rect">
            <a:avLst/>
          </a:prstGeom>
          <a:noFill/>
          <a:ln/>
        </p:spPr>
        <p:txBody>
          <a:bodyPr wrap="square" lIns="0" tIns="0" rIns="0" bIns="0" rtlCol="0" anchor="b"/>
          <a:lstStyle/>
          <a:p>
            <a:pPr algn="l" indent="0" marL="0">
              <a:lnSpc>
                <a:spcPct val="110000"/>
              </a:lnSpc>
              <a:buNone/>
            </a:pPr>
            <a:r>
              <a:rPr lang="en-US" sz="1400" b="1" dirty="0">
                <a:solidFill>
                  <a:schemeClr val="tx1"/>
                </a:solidFill>
              </a:rPr>
              <a:t>밝기 분산</a:t>
            </a:r>
            <a:endParaRPr lang="en-US" sz="1400" dirty="0"/>
          </a:p>
        </p:txBody>
      </p:sp>
      <p:sp>
        <p:nvSpPr>
          <p:cNvPr id="17" name="Text 13"/>
          <p:cNvSpPr txBox="1"/>
          <p:nvPr/>
        </p:nvSpPr>
        <p:spPr>
          <a:xfrm>
            <a:off x="685800" y="2624694"/>
            <a:ext cx="2011680" cy="291876"/>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local_variance</a:t>
            </a:r>
            <a:endParaRPr lang="en-US" sz="1100" dirty="0"/>
          </a:p>
        </p:txBody>
      </p:sp>
      <p:pic>
        <p:nvPicPr>
          <p:cNvPr id="18" name="Image 1" descr="f1">    </p:cNvPr>
          <p:cNvPicPr>
            <a:picLocks noChangeAspect="1"/>
          </p:cNvPicPr>
          <p:nvPr/>
        </p:nvPicPr>
        <p:blipFill>
          <a:blip r:embed="rId2"/>
          <a:stretch>
            <a:fillRect/>
          </a:stretch>
        </p:blipFill>
        <p:spPr>
          <a:xfrm>
            <a:off x="2898648" y="2379726"/>
            <a:ext cx="1964954" cy="434340"/>
          </a:xfrm>
          <a:prstGeom prst="rect">
            <a:avLst/>
          </a:prstGeom>
        </p:spPr>
      </p:pic>
      <p:sp>
        <p:nvSpPr>
          <p:cNvPr id="19" name="Text 14"/>
          <p:cNvSpPr txBox="1"/>
          <p:nvPr/>
        </p:nvSpPr>
        <p:spPr>
          <a:xfrm>
            <a:off x="6967728" y="2249424"/>
            <a:ext cx="2724912" cy="694944"/>
          </a:xfrm>
          <a:prstGeom prst="rect">
            <a:avLst/>
          </a:prstGeom>
          <a:noFill/>
          <a:ln/>
        </p:spPr>
        <p:txBody>
          <a:bodyPr wrap="square" lIns="0" tIns="0" rIns="0" bIns="0" rtlCol="0" anchor="ctr"/>
          <a:lstStyle/>
          <a:p>
            <a:pPr algn="l" indent="0" marL="0">
              <a:lnSpc>
                <a:spcPct val="110000"/>
              </a:lnSpc>
              <a:buNone/>
            </a:pPr>
            <a:r>
              <a:rPr lang="en-US" sz="1300" dirty="0">
                <a:solidFill>
                  <a:schemeClr val="tx1"/>
                </a:solidFill>
              </a:rPr>
              <a:t>패치 안 밝기가 얼마나 들쭉날쭉한가</a:t>
            </a:r>
            <a:endParaRPr lang="en-US" sz="1300" dirty="0"/>
          </a:p>
        </p:txBody>
      </p:sp>
      <p:sp>
        <p:nvSpPr>
          <p:cNvPr id="20" name="Text 15"/>
          <p:cNvSpPr txBox="1"/>
          <p:nvPr/>
        </p:nvSpPr>
        <p:spPr>
          <a:xfrm>
            <a:off x="9893808" y="2249424"/>
            <a:ext cx="1655064" cy="694944"/>
          </a:xfrm>
          <a:prstGeom prst="rect">
            <a:avLst/>
          </a:prstGeom>
          <a:noFill/>
          <a:ln/>
        </p:spPr>
        <p:txBody>
          <a:bodyPr wrap="square" lIns="0" tIns="0" rIns="0" bIns="0" rtlCol="0" anchor="ctr"/>
          <a:lstStyle/>
          <a:p>
            <a:pPr algn="l" indent="0" marL="0">
              <a:lnSpc>
                <a:spcPct val="110000"/>
              </a:lnSpc>
              <a:buNone/>
            </a:pPr>
            <a:r>
              <a:rPr lang="en-US" sz="1300" dirty="0">
                <a:solidFill>
                  <a:schemeClr val="accent3"/>
                </a:solidFill>
              </a:rPr>
              <a:t>매끈한 면 / 얼룩·요철</a:t>
            </a:r>
            <a:endParaRPr lang="en-US" sz="1300" dirty="0"/>
          </a:p>
        </p:txBody>
      </p:sp>
      <p:sp>
        <p:nvSpPr>
          <p:cNvPr id="21" name="Shape 16"/>
          <p:cNvSpPr/>
          <p:nvPr/>
        </p:nvSpPr>
        <p:spPr>
          <a:xfrm>
            <a:off x="548640" y="2990088"/>
            <a:ext cx="11091672" cy="694944"/>
          </a:xfrm>
          <a:prstGeom prst="roundRect">
            <a:avLst>
              <a:gd name="adj" fmla="val 10526"/>
            </a:avLst>
          </a:prstGeom>
          <a:solidFill>
            <a:schemeClr val="bg1"/>
          </a:solidFill>
          <a:ln w="12700">
            <a:solidFill>
              <a:srgbClr val="D9DEE3"/>
            </a:solidFill>
            <a:prstDash val="solid"/>
          </a:ln>
        </p:spPr>
      </p:sp>
      <p:sp>
        <p:nvSpPr>
          <p:cNvPr id="22" name="Text 17"/>
          <p:cNvSpPr txBox="1"/>
          <p:nvPr/>
        </p:nvSpPr>
        <p:spPr>
          <a:xfrm>
            <a:off x="685800" y="3026664"/>
            <a:ext cx="2011680" cy="347472"/>
          </a:xfrm>
          <a:prstGeom prst="rect">
            <a:avLst/>
          </a:prstGeom>
          <a:noFill/>
          <a:ln/>
        </p:spPr>
        <p:txBody>
          <a:bodyPr wrap="square" lIns="0" tIns="0" rIns="0" bIns="0" rtlCol="0" anchor="b"/>
          <a:lstStyle/>
          <a:p>
            <a:pPr algn="l" indent="0" marL="0">
              <a:lnSpc>
                <a:spcPct val="110000"/>
              </a:lnSpc>
              <a:buNone/>
            </a:pPr>
            <a:r>
              <a:rPr lang="en-US" sz="1400" b="1" dirty="0">
                <a:solidFill>
                  <a:schemeClr val="tx1"/>
                </a:solidFill>
              </a:rPr>
              <a:t>엣지 밀도</a:t>
            </a:r>
            <a:endParaRPr lang="en-US" sz="1400" dirty="0"/>
          </a:p>
        </p:txBody>
      </p:sp>
      <p:sp>
        <p:nvSpPr>
          <p:cNvPr id="23" name="Text 18"/>
          <p:cNvSpPr txBox="1"/>
          <p:nvPr/>
        </p:nvSpPr>
        <p:spPr>
          <a:xfrm>
            <a:off x="685800" y="3365358"/>
            <a:ext cx="2011680" cy="291876"/>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edge_density</a:t>
            </a:r>
            <a:endParaRPr lang="en-US" sz="1100" dirty="0"/>
          </a:p>
        </p:txBody>
      </p:sp>
      <p:pic>
        <p:nvPicPr>
          <p:cNvPr id="24" name="Image 2" descr="f2">    </p:cNvPr>
          <p:cNvPicPr>
            <a:picLocks noChangeAspect="1"/>
          </p:cNvPicPr>
          <p:nvPr/>
        </p:nvPicPr>
        <p:blipFill>
          <a:blip r:embed="rId3"/>
          <a:stretch>
            <a:fillRect/>
          </a:stretch>
        </p:blipFill>
        <p:spPr>
          <a:xfrm>
            <a:off x="2898648" y="3104754"/>
            <a:ext cx="2607777" cy="465612"/>
          </a:xfrm>
          <a:prstGeom prst="rect">
            <a:avLst/>
          </a:prstGeom>
        </p:spPr>
      </p:pic>
      <p:sp>
        <p:nvSpPr>
          <p:cNvPr id="25" name="Text 19"/>
          <p:cNvSpPr txBox="1"/>
          <p:nvPr/>
        </p:nvSpPr>
        <p:spPr>
          <a:xfrm>
            <a:off x="6967728" y="2990088"/>
            <a:ext cx="2724912" cy="694944"/>
          </a:xfrm>
          <a:prstGeom prst="rect">
            <a:avLst/>
          </a:prstGeom>
          <a:noFill/>
          <a:ln/>
        </p:spPr>
        <p:txBody>
          <a:bodyPr wrap="square" lIns="0" tIns="0" rIns="0" bIns="0" rtlCol="0" anchor="ctr"/>
          <a:lstStyle/>
          <a:p>
            <a:pPr algn="l" indent="0" marL="0">
              <a:lnSpc>
                <a:spcPct val="110000"/>
              </a:lnSpc>
              <a:buNone/>
            </a:pPr>
            <a:r>
              <a:rPr lang="en-US" sz="1300" dirty="0">
                <a:solidFill>
                  <a:schemeClr val="tx1"/>
                </a:solidFill>
              </a:rPr>
              <a:t>밝기가 급변하는 경계가 얼마나 많은가</a:t>
            </a:r>
            <a:endParaRPr lang="en-US" sz="1300" dirty="0"/>
          </a:p>
        </p:txBody>
      </p:sp>
      <p:sp>
        <p:nvSpPr>
          <p:cNvPr id="26" name="Text 20"/>
          <p:cNvSpPr txBox="1"/>
          <p:nvPr/>
        </p:nvSpPr>
        <p:spPr>
          <a:xfrm>
            <a:off x="9893808" y="2990088"/>
            <a:ext cx="1655064" cy="694944"/>
          </a:xfrm>
          <a:prstGeom prst="rect">
            <a:avLst/>
          </a:prstGeom>
          <a:noFill/>
          <a:ln/>
        </p:spPr>
        <p:txBody>
          <a:bodyPr wrap="square" lIns="0" tIns="0" rIns="0" bIns="0" rtlCol="0" anchor="ctr"/>
          <a:lstStyle/>
          <a:p>
            <a:pPr algn="l" indent="0" marL="0">
              <a:lnSpc>
                <a:spcPct val="110000"/>
              </a:lnSpc>
              <a:buNone/>
            </a:pPr>
            <a:r>
              <a:rPr lang="en-US" sz="1300" dirty="0">
                <a:solidFill>
                  <a:schemeClr val="accent3"/>
                </a:solidFill>
              </a:rPr>
              <a:t>경계 없음 / 선·무늬</a:t>
            </a:r>
            <a:endParaRPr lang="en-US" sz="1300" dirty="0"/>
          </a:p>
        </p:txBody>
      </p:sp>
      <p:sp>
        <p:nvSpPr>
          <p:cNvPr id="27" name="Shape 21"/>
          <p:cNvSpPr/>
          <p:nvPr/>
        </p:nvSpPr>
        <p:spPr>
          <a:xfrm>
            <a:off x="548640" y="3730752"/>
            <a:ext cx="11091672" cy="694944"/>
          </a:xfrm>
          <a:prstGeom prst="roundRect">
            <a:avLst>
              <a:gd name="adj" fmla="val 10526"/>
            </a:avLst>
          </a:prstGeom>
          <a:solidFill>
            <a:schemeClr val="bg2"/>
          </a:solidFill>
          <a:ln/>
        </p:spPr>
      </p:sp>
      <p:sp>
        <p:nvSpPr>
          <p:cNvPr id="28" name="Text 22"/>
          <p:cNvSpPr txBox="1"/>
          <p:nvPr/>
        </p:nvSpPr>
        <p:spPr>
          <a:xfrm>
            <a:off x="685800" y="3767328"/>
            <a:ext cx="2011680" cy="347472"/>
          </a:xfrm>
          <a:prstGeom prst="rect">
            <a:avLst/>
          </a:prstGeom>
          <a:noFill/>
          <a:ln/>
        </p:spPr>
        <p:txBody>
          <a:bodyPr wrap="square" lIns="0" tIns="0" rIns="0" bIns="0" rtlCol="0" anchor="b"/>
          <a:lstStyle/>
          <a:p>
            <a:pPr algn="l" indent="0" marL="0">
              <a:lnSpc>
                <a:spcPct val="110000"/>
              </a:lnSpc>
              <a:buNone/>
            </a:pPr>
            <a:r>
              <a:rPr lang="en-US" sz="1400" b="1" dirty="0">
                <a:solidFill>
                  <a:schemeClr val="tx1"/>
                </a:solidFill>
              </a:rPr>
              <a:t>텍스처 엔트로피</a:t>
            </a:r>
            <a:endParaRPr lang="en-US" sz="1400" dirty="0"/>
          </a:p>
        </p:txBody>
      </p:sp>
      <p:sp>
        <p:nvSpPr>
          <p:cNvPr id="29" name="Text 23"/>
          <p:cNvSpPr txBox="1"/>
          <p:nvPr/>
        </p:nvSpPr>
        <p:spPr>
          <a:xfrm>
            <a:off x="685800" y="4106022"/>
            <a:ext cx="2011680" cy="291876"/>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texture_entropy</a:t>
            </a:r>
            <a:endParaRPr lang="en-US" sz="1100" dirty="0"/>
          </a:p>
        </p:txBody>
      </p:sp>
      <p:pic>
        <p:nvPicPr>
          <p:cNvPr id="30" name="Image 3" descr="f3">    </p:cNvPr>
          <p:cNvPicPr>
            <a:picLocks noChangeAspect="1"/>
          </p:cNvPicPr>
          <p:nvPr/>
        </p:nvPicPr>
        <p:blipFill>
          <a:blip r:embed="rId4"/>
          <a:stretch>
            <a:fillRect/>
          </a:stretch>
        </p:blipFill>
        <p:spPr>
          <a:xfrm>
            <a:off x="2898648" y="3795034"/>
            <a:ext cx="1535826" cy="566379"/>
          </a:xfrm>
          <a:prstGeom prst="rect">
            <a:avLst/>
          </a:prstGeom>
        </p:spPr>
      </p:pic>
      <p:sp>
        <p:nvSpPr>
          <p:cNvPr id="31" name="Text 24"/>
          <p:cNvSpPr txBox="1"/>
          <p:nvPr/>
        </p:nvSpPr>
        <p:spPr>
          <a:xfrm>
            <a:off x="6967728" y="3730752"/>
            <a:ext cx="2724912" cy="694944"/>
          </a:xfrm>
          <a:prstGeom prst="rect">
            <a:avLst/>
          </a:prstGeom>
          <a:noFill/>
          <a:ln/>
        </p:spPr>
        <p:txBody>
          <a:bodyPr wrap="square" lIns="0" tIns="0" rIns="0" bIns="0" rtlCol="0" anchor="ctr"/>
          <a:lstStyle/>
          <a:p>
            <a:pPr algn="l" indent="0" marL="0">
              <a:lnSpc>
                <a:spcPct val="110000"/>
              </a:lnSpc>
              <a:buNone/>
            </a:pPr>
            <a:r>
              <a:rPr lang="en-US" sz="1300" dirty="0">
                <a:solidFill>
                  <a:schemeClr val="tx1"/>
                </a:solidFill>
              </a:rPr>
              <a:t>미세 무늬(LBP 패턴 10종)가 얼마나 다양한가</a:t>
            </a:r>
            <a:endParaRPr lang="en-US" sz="1300" dirty="0"/>
          </a:p>
        </p:txBody>
      </p:sp>
      <p:sp>
        <p:nvSpPr>
          <p:cNvPr id="32" name="Text 25"/>
          <p:cNvSpPr txBox="1"/>
          <p:nvPr/>
        </p:nvSpPr>
        <p:spPr>
          <a:xfrm>
            <a:off x="9893808" y="3730752"/>
            <a:ext cx="1655064" cy="694944"/>
          </a:xfrm>
          <a:prstGeom prst="rect">
            <a:avLst/>
          </a:prstGeom>
          <a:noFill/>
          <a:ln/>
        </p:spPr>
        <p:txBody>
          <a:bodyPr wrap="square" lIns="0" tIns="0" rIns="0" bIns="0" rtlCol="0" anchor="ctr"/>
          <a:lstStyle/>
          <a:p>
            <a:pPr algn="l" indent="0" marL="0">
              <a:lnSpc>
                <a:spcPct val="110000"/>
              </a:lnSpc>
              <a:buNone/>
            </a:pPr>
            <a:r>
              <a:rPr lang="en-US" sz="1300" dirty="0">
                <a:solidFill>
                  <a:schemeClr val="accent3"/>
                </a:solidFill>
              </a:rPr>
              <a:t>단조로운 결 / 무늬 혼재</a:t>
            </a:r>
            <a:endParaRPr lang="en-US" sz="1300" dirty="0"/>
          </a:p>
        </p:txBody>
      </p:sp>
      <p:sp>
        <p:nvSpPr>
          <p:cNvPr id="33" name="Shape 26"/>
          <p:cNvSpPr/>
          <p:nvPr/>
        </p:nvSpPr>
        <p:spPr>
          <a:xfrm>
            <a:off x="548640" y="4471416"/>
            <a:ext cx="11091672" cy="694944"/>
          </a:xfrm>
          <a:prstGeom prst="roundRect">
            <a:avLst>
              <a:gd name="adj" fmla="val 10526"/>
            </a:avLst>
          </a:prstGeom>
          <a:solidFill>
            <a:schemeClr val="bg1"/>
          </a:solidFill>
          <a:ln w="12700">
            <a:solidFill>
              <a:srgbClr val="D9DEE3"/>
            </a:solidFill>
            <a:prstDash val="solid"/>
          </a:ln>
        </p:spPr>
      </p:sp>
      <p:sp>
        <p:nvSpPr>
          <p:cNvPr id="34" name="Text 27"/>
          <p:cNvSpPr txBox="1"/>
          <p:nvPr/>
        </p:nvSpPr>
        <p:spPr>
          <a:xfrm>
            <a:off x="685800" y="4507992"/>
            <a:ext cx="2011680" cy="347472"/>
          </a:xfrm>
          <a:prstGeom prst="rect">
            <a:avLst/>
          </a:prstGeom>
          <a:noFill/>
          <a:ln/>
        </p:spPr>
        <p:txBody>
          <a:bodyPr wrap="square" lIns="0" tIns="0" rIns="0" bIns="0" rtlCol="0" anchor="b"/>
          <a:lstStyle/>
          <a:p>
            <a:pPr algn="l" indent="0" marL="0">
              <a:lnSpc>
                <a:spcPct val="110000"/>
              </a:lnSpc>
              <a:buNone/>
            </a:pPr>
            <a:r>
              <a:rPr lang="en-US" sz="1400" b="1" dirty="0">
                <a:solidFill>
                  <a:schemeClr val="tx1"/>
                </a:solidFill>
              </a:rPr>
              <a:t>고주파 비율</a:t>
            </a:r>
            <a:endParaRPr lang="en-US" sz="1400" dirty="0"/>
          </a:p>
        </p:txBody>
      </p:sp>
      <p:sp>
        <p:nvSpPr>
          <p:cNvPr id="35" name="Text 28"/>
          <p:cNvSpPr txBox="1"/>
          <p:nvPr/>
        </p:nvSpPr>
        <p:spPr>
          <a:xfrm>
            <a:off x="685800" y="4846686"/>
            <a:ext cx="2011680" cy="291876"/>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frequency_energy</a:t>
            </a:r>
            <a:endParaRPr lang="en-US" sz="1100" dirty="0"/>
          </a:p>
        </p:txBody>
      </p:sp>
      <p:pic>
        <p:nvPicPr>
          <p:cNvPr id="36" name="Image 4" descr="f4">    </p:cNvPr>
          <p:cNvPicPr>
            <a:picLocks noChangeAspect="1"/>
          </p:cNvPicPr>
          <p:nvPr/>
        </p:nvPicPr>
        <p:blipFill>
          <a:blip r:embed="rId5"/>
          <a:stretch>
            <a:fillRect/>
          </a:stretch>
        </p:blipFill>
        <p:spPr>
          <a:xfrm>
            <a:off x="2898648" y="4526280"/>
            <a:ext cx="1871099" cy="585216"/>
          </a:xfrm>
          <a:prstGeom prst="rect">
            <a:avLst/>
          </a:prstGeom>
        </p:spPr>
      </p:pic>
      <p:sp>
        <p:nvSpPr>
          <p:cNvPr id="37" name="Text 29"/>
          <p:cNvSpPr txBox="1"/>
          <p:nvPr/>
        </p:nvSpPr>
        <p:spPr>
          <a:xfrm>
            <a:off x="6967728" y="4471416"/>
            <a:ext cx="2724912" cy="694944"/>
          </a:xfrm>
          <a:prstGeom prst="rect">
            <a:avLst/>
          </a:prstGeom>
          <a:noFill/>
          <a:ln/>
        </p:spPr>
        <p:txBody>
          <a:bodyPr wrap="square" lIns="0" tIns="0" rIns="0" bIns="0" rtlCol="0" anchor="ctr"/>
          <a:lstStyle/>
          <a:p>
            <a:pPr algn="l" indent="0" marL="0">
              <a:lnSpc>
                <a:spcPct val="110000"/>
              </a:lnSpc>
              <a:buNone/>
            </a:pPr>
            <a:r>
              <a:rPr lang="en-US" sz="1300" dirty="0">
                <a:solidFill>
                  <a:schemeClr val="tx1"/>
                </a:solidFill>
              </a:rPr>
              <a:t>스펙트럼에서 고주파 성분의 비중</a:t>
            </a:r>
            <a:endParaRPr lang="en-US" sz="1300" dirty="0"/>
          </a:p>
        </p:txBody>
      </p:sp>
      <p:sp>
        <p:nvSpPr>
          <p:cNvPr id="38" name="Text 30"/>
          <p:cNvSpPr txBox="1"/>
          <p:nvPr/>
        </p:nvSpPr>
        <p:spPr>
          <a:xfrm>
            <a:off x="9893808" y="4471416"/>
            <a:ext cx="1655064" cy="694944"/>
          </a:xfrm>
          <a:prstGeom prst="rect">
            <a:avLst/>
          </a:prstGeom>
          <a:noFill/>
          <a:ln/>
        </p:spPr>
        <p:txBody>
          <a:bodyPr wrap="square" lIns="0" tIns="0" rIns="0" bIns="0" rtlCol="0" anchor="ctr"/>
          <a:lstStyle/>
          <a:p>
            <a:pPr algn="l" indent="0" marL="0">
              <a:lnSpc>
                <a:spcPct val="110000"/>
              </a:lnSpc>
              <a:buNone/>
            </a:pPr>
            <a:r>
              <a:rPr lang="en-US" sz="1300" dirty="0">
                <a:solidFill>
                  <a:schemeClr val="accent3"/>
                </a:solidFill>
              </a:rPr>
              <a:t>완만한 변화 / 잔결·노이즈</a:t>
            </a:r>
            <a:endParaRPr lang="en-US" sz="1300" dirty="0"/>
          </a:p>
        </p:txBody>
      </p:sp>
      <p:sp>
        <p:nvSpPr>
          <p:cNvPr id="39" name="Shape 31"/>
          <p:cNvSpPr/>
          <p:nvPr/>
        </p:nvSpPr>
        <p:spPr>
          <a:xfrm>
            <a:off x="548640" y="5212080"/>
            <a:ext cx="11091672" cy="694944"/>
          </a:xfrm>
          <a:prstGeom prst="roundRect">
            <a:avLst>
              <a:gd name="adj" fmla="val 10526"/>
            </a:avLst>
          </a:prstGeom>
          <a:solidFill>
            <a:schemeClr val="bg2"/>
          </a:solidFill>
          <a:ln/>
        </p:spPr>
      </p:sp>
      <p:sp>
        <p:nvSpPr>
          <p:cNvPr id="40" name="Text 32"/>
          <p:cNvSpPr txBox="1"/>
          <p:nvPr/>
        </p:nvSpPr>
        <p:spPr>
          <a:xfrm>
            <a:off x="685800" y="5248656"/>
            <a:ext cx="2011680" cy="347472"/>
          </a:xfrm>
          <a:prstGeom prst="rect">
            <a:avLst/>
          </a:prstGeom>
          <a:noFill/>
          <a:ln/>
        </p:spPr>
        <p:txBody>
          <a:bodyPr wrap="square" lIns="0" tIns="0" rIns="0" bIns="0" rtlCol="0" anchor="b"/>
          <a:lstStyle/>
          <a:p>
            <a:pPr algn="l" indent="0" marL="0">
              <a:lnSpc>
                <a:spcPct val="110000"/>
              </a:lnSpc>
              <a:buNone/>
            </a:pPr>
            <a:r>
              <a:rPr lang="en-US" sz="1400" b="1" dirty="0">
                <a:solidFill>
                  <a:schemeClr val="tx1"/>
                </a:solidFill>
              </a:rPr>
              <a:t>방향 엔트로피</a:t>
            </a:r>
            <a:endParaRPr lang="en-US" sz="1400" dirty="0"/>
          </a:p>
        </p:txBody>
      </p:sp>
      <p:sp>
        <p:nvSpPr>
          <p:cNvPr id="41" name="Text 33"/>
          <p:cNvSpPr txBox="1"/>
          <p:nvPr/>
        </p:nvSpPr>
        <p:spPr>
          <a:xfrm>
            <a:off x="685800" y="5587350"/>
            <a:ext cx="2011680" cy="291876"/>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orientation_consistency</a:t>
            </a:r>
            <a:endParaRPr lang="en-US" sz="1100" dirty="0"/>
          </a:p>
        </p:txBody>
      </p:sp>
      <p:pic>
        <p:nvPicPr>
          <p:cNvPr id="42" name="Image 5" descr="f5">    </p:cNvPr>
          <p:cNvPicPr>
            <a:picLocks noChangeAspect="1"/>
          </p:cNvPicPr>
          <p:nvPr/>
        </p:nvPicPr>
        <p:blipFill>
          <a:blip r:embed="rId6"/>
          <a:stretch>
            <a:fillRect/>
          </a:stretch>
        </p:blipFill>
        <p:spPr>
          <a:xfrm>
            <a:off x="2898648" y="5277231"/>
            <a:ext cx="3035168" cy="564642"/>
          </a:xfrm>
          <a:prstGeom prst="rect">
            <a:avLst/>
          </a:prstGeom>
        </p:spPr>
      </p:pic>
      <p:sp>
        <p:nvSpPr>
          <p:cNvPr id="43" name="Text 34"/>
          <p:cNvSpPr txBox="1"/>
          <p:nvPr/>
        </p:nvSpPr>
        <p:spPr>
          <a:xfrm>
            <a:off x="6967728" y="5212080"/>
            <a:ext cx="2724912" cy="694944"/>
          </a:xfrm>
          <a:prstGeom prst="rect">
            <a:avLst/>
          </a:prstGeom>
          <a:noFill/>
          <a:ln/>
        </p:spPr>
        <p:txBody>
          <a:bodyPr wrap="square" lIns="0" tIns="0" rIns="0" bIns="0" rtlCol="0" anchor="ctr"/>
          <a:lstStyle/>
          <a:p>
            <a:pPr algn="l" indent="0" marL="0">
              <a:lnSpc>
                <a:spcPct val="110000"/>
              </a:lnSpc>
              <a:buNone/>
            </a:pPr>
            <a:r>
              <a:rPr lang="en-US" sz="1300" dirty="0">
                <a:solidFill>
                  <a:schemeClr val="tx1"/>
                </a:solidFill>
              </a:rPr>
              <a:t>경계 방향이 한쪽으로 정렬됐나 (18칸)</a:t>
            </a:r>
            <a:endParaRPr lang="en-US" sz="1300" dirty="0"/>
          </a:p>
        </p:txBody>
      </p:sp>
      <p:sp>
        <p:nvSpPr>
          <p:cNvPr id="44" name="Text 35"/>
          <p:cNvSpPr txBox="1"/>
          <p:nvPr/>
        </p:nvSpPr>
        <p:spPr>
          <a:xfrm>
            <a:off x="9893808" y="5212080"/>
            <a:ext cx="1655064" cy="694944"/>
          </a:xfrm>
          <a:prstGeom prst="rect">
            <a:avLst/>
          </a:prstGeom>
          <a:noFill/>
          <a:ln/>
        </p:spPr>
        <p:txBody>
          <a:bodyPr wrap="square" lIns="0" tIns="0" rIns="0" bIns="0" rtlCol="0" anchor="ctr"/>
          <a:lstStyle/>
          <a:p>
            <a:pPr algn="l" indent="0" marL="0">
              <a:lnSpc>
                <a:spcPct val="110000"/>
              </a:lnSpc>
              <a:buNone/>
            </a:pPr>
            <a:r>
              <a:rPr lang="en-US" sz="1300" dirty="0">
                <a:solidFill>
                  <a:schemeClr val="accent3"/>
                </a:solidFill>
              </a:rPr>
              <a:t>한 방향 / 제각각</a:t>
            </a:r>
            <a:endParaRPr lang="en-US" sz="1300" dirty="0"/>
          </a:p>
        </p:txBody>
      </p:sp>
      <p:sp>
        <p:nvSpPr>
          <p:cNvPr id="45" name="Text 36"/>
          <p:cNvSpPr txBox="1"/>
          <p:nvPr/>
        </p:nvSpPr>
        <p:spPr>
          <a:xfrm>
            <a:off x="548640" y="6108192"/>
            <a:ext cx="11091672" cy="274320"/>
          </a:xfrm>
          <a:prstGeom prst="rect">
            <a:avLst/>
          </a:prstGeom>
          <a:noFill/>
          <a:ln/>
        </p:spPr>
        <p:txBody>
          <a:bodyPr wrap="square" lIns="0" tIns="0" rIns="0" bIns="0" rtlCol="0" anchor="t"/>
          <a:lstStyle/>
          <a:p>
            <a:pPr algn="l" indent="0" marL="0">
              <a:lnSpc>
                <a:spcPct val="110000"/>
              </a:lnSpc>
              <a:buNone/>
            </a:pPr>
            <a:r>
              <a:rPr lang="en-US" sz="1200" dirty="0">
                <a:solidFill>
                  <a:schemeClr val="accent3"/>
                </a:solidFill>
              </a:rPr>
              <a:t>1·2 얼마나 거친가  ·  3·4 어떤 결인가  ·  5 어느 방향인가 (낮을수록 방향 일관)</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제5장 · 수식 상세 ① 배경 특징</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CCI: 5특징을 데이터셋 단위로 집계</a:t>
            </a:r>
            <a:endParaRPr lang="en-US" sz="2400" dirty="0"/>
          </a:p>
        </p:txBody>
      </p:sp>
      <p:sp>
        <p:nvSpPr>
          <p:cNvPr id="5" name="Text 2"/>
          <p:cNvSpPr txBox="1"/>
          <p:nvPr/>
        </p:nvSpPr>
        <p:spPr>
          <a:xfrm>
            <a:off x="548640" y="1188720"/>
            <a:ext cx="5212080" cy="32004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CCI 4성분 (데이터셋당 20,000 패치)</a:t>
            </a:r>
            <a:endParaRPr lang="en-US" sz="1500" dirty="0"/>
          </a:p>
        </p:txBody>
      </p:sp>
      <p:sp>
        <p:nvSpPr>
          <p:cNvPr id="6" name="Shape 3"/>
          <p:cNvSpPr/>
          <p:nvPr/>
        </p:nvSpPr>
        <p:spPr>
          <a:xfrm>
            <a:off x="548640" y="1600200"/>
            <a:ext cx="5257800" cy="804672"/>
          </a:xfrm>
          <a:prstGeom prst="roundRect">
            <a:avLst>
              <a:gd name="adj" fmla="val 9091"/>
            </a:avLst>
          </a:prstGeom>
          <a:solidFill>
            <a:schemeClr val="bg2"/>
          </a:solidFill>
          <a:ln/>
        </p:spPr>
      </p:sp>
      <p:sp>
        <p:nvSpPr>
          <p:cNvPr id="7" name="Shape 4"/>
          <p:cNvSpPr/>
          <p:nvPr/>
        </p:nvSpPr>
        <p:spPr>
          <a:xfrm>
            <a:off x="713232" y="1755648"/>
            <a:ext cx="493776" cy="493776"/>
          </a:xfrm>
          <a:prstGeom prst="ellipse">
            <a:avLst/>
          </a:prstGeom>
          <a:solidFill>
            <a:schemeClr val="accent1"/>
          </a:solidFill>
          <a:ln/>
        </p:spPr>
      </p:sp>
      <p:sp>
        <p:nvSpPr>
          <p:cNvPr id="8" name="Text 5"/>
          <p:cNvSpPr txBox="1"/>
          <p:nvPr/>
        </p:nvSpPr>
        <p:spPr>
          <a:xfrm>
            <a:off x="713232" y="1755648"/>
            <a:ext cx="493776" cy="493776"/>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TE</a:t>
            </a:r>
            <a:endParaRPr lang="en-US" sz="1200" dirty="0"/>
          </a:p>
        </p:txBody>
      </p:sp>
      <p:sp>
        <p:nvSpPr>
          <p:cNvPr id="9" name="Text 6"/>
          <p:cNvSpPr txBox="1"/>
          <p:nvPr/>
        </p:nvSpPr>
        <p:spPr>
          <a:xfrm>
            <a:off x="1371600" y="1673352"/>
            <a:ext cx="2377440" cy="347472"/>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TextureEntropy</a:t>
            </a:r>
            <a:endParaRPr lang="en-US" sz="1400" dirty="0"/>
          </a:p>
        </p:txBody>
      </p:sp>
      <p:sp>
        <p:nvSpPr>
          <p:cNvPr id="10" name="Text 7"/>
          <p:cNvSpPr txBox="1"/>
          <p:nvPr/>
        </p:nvSpPr>
        <p:spPr>
          <a:xfrm>
            <a:off x="3749040" y="1673352"/>
            <a:ext cx="1965960" cy="347472"/>
          </a:xfrm>
          <a:prstGeom prst="rect">
            <a:avLst/>
          </a:prstGeom>
          <a:noFill/>
          <a:ln/>
        </p:spPr>
        <p:txBody>
          <a:bodyPr wrap="square" lIns="0" tIns="0" rIns="0" bIns="0" rtlCol="0" anchor="t"/>
          <a:lstStyle/>
          <a:p>
            <a:pPr algn="r" indent="0" marL="0">
              <a:lnSpc>
                <a:spcPct val="110000"/>
              </a:lnSpc>
              <a:buNone/>
            </a:pPr>
            <a:r>
              <a:rPr lang="en-US" sz="1200" b="1" dirty="0">
                <a:solidFill>
                  <a:schemeClr val="accent1"/>
                </a:solidFill>
              </a:rPr>
              <a:t>텍스처 무질서도</a:t>
            </a:r>
            <a:endParaRPr lang="en-US" sz="1200" dirty="0"/>
          </a:p>
        </p:txBody>
      </p:sp>
      <p:sp>
        <p:nvSpPr>
          <p:cNvPr id="11" name="Text 8"/>
          <p:cNvSpPr txBox="1"/>
          <p:nvPr/>
        </p:nvSpPr>
        <p:spPr>
          <a:xfrm>
            <a:off x="1371600" y="2029968"/>
            <a:ext cx="4343400" cy="320040"/>
          </a:xfrm>
          <a:prstGeom prst="rect">
            <a:avLst/>
          </a:prstGeom>
          <a:noFill/>
          <a:ln/>
        </p:spPr>
        <p:txBody>
          <a:bodyPr wrap="square" lIns="0" tIns="0" rIns="0" bIns="0" rtlCol="0" anchor="t"/>
          <a:lstStyle/>
          <a:p>
            <a:pPr algn="l" indent="0" marL="0">
              <a:lnSpc>
                <a:spcPct val="110000"/>
              </a:lnSpc>
              <a:buNone/>
            </a:pPr>
            <a:r>
              <a:rPr lang="en-US" sz="1200" dirty="0">
                <a:solidFill>
                  <a:schemeClr val="accent3"/>
                </a:solidFill>
              </a:rPr>
              <a:t>texture_entropy → 패치 평균</a:t>
            </a:r>
            <a:endParaRPr lang="en-US" sz="1200" dirty="0"/>
          </a:p>
        </p:txBody>
      </p:sp>
      <p:sp>
        <p:nvSpPr>
          <p:cNvPr id="12" name="Shape 9"/>
          <p:cNvSpPr/>
          <p:nvPr/>
        </p:nvSpPr>
        <p:spPr>
          <a:xfrm>
            <a:off x="548640" y="2514600"/>
            <a:ext cx="5257800" cy="804672"/>
          </a:xfrm>
          <a:prstGeom prst="roundRect">
            <a:avLst>
              <a:gd name="adj" fmla="val 9091"/>
            </a:avLst>
          </a:prstGeom>
          <a:solidFill>
            <a:schemeClr val="bg2"/>
          </a:solidFill>
          <a:ln/>
        </p:spPr>
      </p:sp>
      <p:sp>
        <p:nvSpPr>
          <p:cNvPr id="13" name="Shape 10"/>
          <p:cNvSpPr/>
          <p:nvPr/>
        </p:nvSpPr>
        <p:spPr>
          <a:xfrm>
            <a:off x="713232" y="2670048"/>
            <a:ext cx="493776" cy="493776"/>
          </a:xfrm>
          <a:prstGeom prst="ellipse">
            <a:avLst/>
          </a:prstGeom>
          <a:solidFill>
            <a:schemeClr val="accent1"/>
          </a:solidFill>
          <a:ln/>
        </p:spPr>
      </p:sp>
      <p:sp>
        <p:nvSpPr>
          <p:cNvPr id="14" name="Text 11"/>
          <p:cNvSpPr txBox="1"/>
          <p:nvPr/>
        </p:nvSpPr>
        <p:spPr>
          <a:xfrm>
            <a:off x="713232" y="2670048"/>
            <a:ext cx="493776" cy="493776"/>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CC</a:t>
            </a:r>
            <a:endParaRPr lang="en-US" sz="1200" dirty="0"/>
          </a:p>
        </p:txBody>
      </p:sp>
      <p:sp>
        <p:nvSpPr>
          <p:cNvPr id="15" name="Text 12"/>
          <p:cNvSpPr txBox="1"/>
          <p:nvPr/>
        </p:nvSpPr>
        <p:spPr>
          <a:xfrm>
            <a:off x="1371600" y="2587752"/>
            <a:ext cx="2377440" cy="347472"/>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ContextClusterCount</a:t>
            </a:r>
            <a:endParaRPr lang="en-US" sz="1400" dirty="0"/>
          </a:p>
        </p:txBody>
      </p:sp>
      <p:sp>
        <p:nvSpPr>
          <p:cNvPr id="16" name="Text 13"/>
          <p:cNvSpPr txBox="1"/>
          <p:nvPr/>
        </p:nvSpPr>
        <p:spPr>
          <a:xfrm>
            <a:off x="3749040" y="2587752"/>
            <a:ext cx="1965960" cy="347472"/>
          </a:xfrm>
          <a:prstGeom prst="rect">
            <a:avLst/>
          </a:prstGeom>
          <a:noFill/>
          <a:ln/>
        </p:spPr>
        <p:txBody>
          <a:bodyPr wrap="square" lIns="0" tIns="0" rIns="0" bIns="0" rtlCol="0" anchor="t"/>
          <a:lstStyle/>
          <a:p>
            <a:pPr algn="r" indent="0" marL="0">
              <a:lnSpc>
                <a:spcPct val="110000"/>
              </a:lnSpc>
              <a:buNone/>
            </a:pPr>
            <a:r>
              <a:rPr lang="en-US" sz="1200" b="1" dirty="0">
                <a:solidFill>
                  <a:schemeClr val="accent1"/>
                </a:solidFill>
              </a:rPr>
              <a:t>배경 문맥 군집 수</a:t>
            </a:r>
            <a:endParaRPr lang="en-US" sz="1200" dirty="0"/>
          </a:p>
        </p:txBody>
      </p:sp>
      <p:sp>
        <p:nvSpPr>
          <p:cNvPr id="17" name="Text 14"/>
          <p:cNvSpPr txBox="1"/>
          <p:nvPr/>
        </p:nvSpPr>
        <p:spPr>
          <a:xfrm>
            <a:off x="1371600" y="2944368"/>
            <a:ext cx="4343400" cy="320040"/>
          </a:xfrm>
          <a:prstGeom prst="rect">
            <a:avLst/>
          </a:prstGeom>
          <a:noFill/>
          <a:ln/>
        </p:spPr>
        <p:txBody>
          <a:bodyPr wrap="square" lIns="0" tIns="0" rIns="0" bIns="0" rtlCol="0" anchor="t"/>
          <a:lstStyle/>
          <a:p>
            <a:pPr algn="l" indent="0" marL="0">
              <a:lnSpc>
                <a:spcPct val="110000"/>
              </a:lnSpc>
              <a:buNone/>
            </a:pPr>
            <a:r>
              <a:rPr lang="en-US" sz="1200" dirty="0">
                <a:solidFill>
                  <a:schemeClr val="accent3"/>
                </a:solidFill>
              </a:rPr>
              <a:t>5특징 z-score → GMM BIC 최적 k</a:t>
            </a:r>
            <a:endParaRPr lang="en-US" sz="1200" dirty="0"/>
          </a:p>
        </p:txBody>
      </p:sp>
      <p:sp>
        <p:nvSpPr>
          <p:cNvPr id="18" name="Shape 15"/>
          <p:cNvSpPr/>
          <p:nvPr/>
        </p:nvSpPr>
        <p:spPr>
          <a:xfrm>
            <a:off x="548640" y="3429000"/>
            <a:ext cx="5257800" cy="804672"/>
          </a:xfrm>
          <a:prstGeom prst="roundRect">
            <a:avLst>
              <a:gd name="adj" fmla="val 9091"/>
            </a:avLst>
          </a:prstGeom>
          <a:solidFill>
            <a:schemeClr val="bg2"/>
          </a:solidFill>
          <a:ln/>
        </p:spPr>
      </p:sp>
      <p:sp>
        <p:nvSpPr>
          <p:cNvPr id="19" name="Shape 16"/>
          <p:cNvSpPr/>
          <p:nvPr/>
        </p:nvSpPr>
        <p:spPr>
          <a:xfrm>
            <a:off x="713232" y="3584448"/>
            <a:ext cx="493776" cy="493776"/>
          </a:xfrm>
          <a:prstGeom prst="ellipse">
            <a:avLst/>
          </a:prstGeom>
          <a:solidFill>
            <a:schemeClr val="accent2"/>
          </a:solidFill>
          <a:ln/>
        </p:spPr>
      </p:sp>
      <p:sp>
        <p:nvSpPr>
          <p:cNvPr id="20" name="Text 17"/>
          <p:cNvSpPr txBox="1"/>
          <p:nvPr/>
        </p:nvSpPr>
        <p:spPr>
          <a:xfrm>
            <a:off x="713232" y="3584448"/>
            <a:ext cx="493776" cy="493776"/>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FC</a:t>
            </a:r>
            <a:endParaRPr lang="en-US" sz="1200" dirty="0"/>
          </a:p>
        </p:txBody>
      </p:sp>
      <p:sp>
        <p:nvSpPr>
          <p:cNvPr id="21" name="Text 18"/>
          <p:cNvSpPr txBox="1"/>
          <p:nvPr/>
        </p:nvSpPr>
        <p:spPr>
          <a:xfrm>
            <a:off x="1371600" y="3502152"/>
            <a:ext cx="2377440" cy="347472"/>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FreqComplexity</a:t>
            </a:r>
            <a:endParaRPr lang="en-US" sz="1400" dirty="0"/>
          </a:p>
        </p:txBody>
      </p:sp>
      <p:sp>
        <p:nvSpPr>
          <p:cNvPr id="22" name="Text 19"/>
          <p:cNvSpPr txBox="1"/>
          <p:nvPr/>
        </p:nvSpPr>
        <p:spPr>
          <a:xfrm>
            <a:off x="3749040" y="3502152"/>
            <a:ext cx="1965960" cy="347472"/>
          </a:xfrm>
          <a:prstGeom prst="rect">
            <a:avLst/>
          </a:prstGeom>
          <a:noFill/>
          <a:ln/>
        </p:spPr>
        <p:txBody>
          <a:bodyPr wrap="square" lIns="0" tIns="0" rIns="0" bIns="0" rtlCol="0" anchor="t"/>
          <a:lstStyle/>
          <a:p>
            <a:pPr algn="r" indent="0" marL="0">
              <a:lnSpc>
                <a:spcPct val="110000"/>
              </a:lnSpc>
              <a:buNone/>
            </a:pPr>
            <a:r>
              <a:rPr lang="en-US" sz="1200" b="1" dirty="0">
                <a:solidFill>
                  <a:schemeClr val="accent1"/>
                </a:solidFill>
              </a:rPr>
              <a:t>주파수 특성의 이질성</a:t>
            </a:r>
            <a:endParaRPr lang="en-US" sz="1200" dirty="0"/>
          </a:p>
        </p:txBody>
      </p:sp>
      <p:sp>
        <p:nvSpPr>
          <p:cNvPr id="23" name="Text 20"/>
          <p:cNvSpPr txBox="1"/>
          <p:nvPr/>
        </p:nvSpPr>
        <p:spPr>
          <a:xfrm>
            <a:off x="1371600" y="3858768"/>
            <a:ext cx="4343400" cy="320040"/>
          </a:xfrm>
          <a:prstGeom prst="rect">
            <a:avLst/>
          </a:prstGeom>
          <a:noFill/>
          <a:ln/>
        </p:spPr>
        <p:txBody>
          <a:bodyPr wrap="square" lIns="0" tIns="0" rIns="0" bIns="0" rtlCol="0" anchor="t"/>
          <a:lstStyle/>
          <a:p>
            <a:pPr algn="l" indent="0" marL="0">
              <a:lnSpc>
                <a:spcPct val="110000"/>
              </a:lnSpc>
              <a:buNone/>
            </a:pPr>
            <a:r>
              <a:rPr lang="en-US" sz="1200" dirty="0">
                <a:solidFill>
                  <a:schemeClr val="accent3"/>
                </a:solidFill>
              </a:rPr>
              <a:t>frequency_energy → 패치간 분산</a:t>
            </a:r>
            <a:endParaRPr lang="en-US" sz="1200" dirty="0"/>
          </a:p>
        </p:txBody>
      </p:sp>
      <p:sp>
        <p:nvSpPr>
          <p:cNvPr id="24" name="Shape 21"/>
          <p:cNvSpPr/>
          <p:nvPr/>
        </p:nvSpPr>
        <p:spPr>
          <a:xfrm>
            <a:off x="548640" y="4343400"/>
            <a:ext cx="5257800" cy="804672"/>
          </a:xfrm>
          <a:prstGeom prst="roundRect">
            <a:avLst>
              <a:gd name="adj" fmla="val 9091"/>
            </a:avLst>
          </a:prstGeom>
          <a:solidFill>
            <a:schemeClr val="bg2"/>
          </a:solidFill>
          <a:ln/>
        </p:spPr>
      </p:sp>
      <p:sp>
        <p:nvSpPr>
          <p:cNvPr id="25" name="Shape 22"/>
          <p:cNvSpPr/>
          <p:nvPr/>
        </p:nvSpPr>
        <p:spPr>
          <a:xfrm>
            <a:off x="713232" y="4498848"/>
            <a:ext cx="493776" cy="493776"/>
          </a:xfrm>
          <a:prstGeom prst="ellipse">
            <a:avLst/>
          </a:prstGeom>
          <a:solidFill>
            <a:schemeClr val="accent2"/>
          </a:solidFill>
          <a:ln/>
        </p:spPr>
      </p:sp>
      <p:sp>
        <p:nvSpPr>
          <p:cNvPr id="26" name="Text 23"/>
          <p:cNvSpPr txBox="1"/>
          <p:nvPr/>
        </p:nvSpPr>
        <p:spPr>
          <a:xfrm>
            <a:off x="713232" y="4498848"/>
            <a:ext cx="493776" cy="493776"/>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OV</a:t>
            </a:r>
            <a:endParaRPr lang="en-US" sz="1200" dirty="0"/>
          </a:p>
        </p:txBody>
      </p:sp>
      <p:sp>
        <p:nvSpPr>
          <p:cNvPr id="27" name="Text 24"/>
          <p:cNvSpPr txBox="1"/>
          <p:nvPr/>
        </p:nvSpPr>
        <p:spPr>
          <a:xfrm>
            <a:off x="1371600" y="4416552"/>
            <a:ext cx="2377440" cy="347472"/>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OrientVariance</a:t>
            </a:r>
            <a:endParaRPr lang="en-US" sz="1400" dirty="0"/>
          </a:p>
        </p:txBody>
      </p:sp>
      <p:sp>
        <p:nvSpPr>
          <p:cNvPr id="28" name="Text 25"/>
          <p:cNvSpPr txBox="1"/>
          <p:nvPr/>
        </p:nvSpPr>
        <p:spPr>
          <a:xfrm>
            <a:off x="3749040" y="4416552"/>
            <a:ext cx="1965960" cy="347472"/>
          </a:xfrm>
          <a:prstGeom prst="rect">
            <a:avLst/>
          </a:prstGeom>
          <a:noFill/>
          <a:ln/>
        </p:spPr>
        <p:txBody>
          <a:bodyPr wrap="square" lIns="0" tIns="0" rIns="0" bIns="0" rtlCol="0" anchor="t"/>
          <a:lstStyle/>
          <a:p>
            <a:pPr algn="r" indent="0" marL="0">
              <a:lnSpc>
                <a:spcPct val="110000"/>
              </a:lnSpc>
              <a:buNone/>
            </a:pPr>
            <a:r>
              <a:rPr lang="en-US" sz="1200" b="1" dirty="0">
                <a:solidFill>
                  <a:schemeClr val="accent1"/>
                </a:solidFill>
              </a:rPr>
              <a:t>방향 특성의 이질성</a:t>
            </a:r>
            <a:endParaRPr lang="en-US" sz="1200" dirty="0"/>
          </a:p>
        </p:txBody>
      </p:sp>
      <p:sp>
        <p:nvSpPr>
          <p:cNvPr id="29" name="Text 26"/>
          <p:cNvSpPr txBox="1"/>
          <p:nvPr/>
        </p:nvSpPr>
        <p:spPr>
          <a:xfrm>
            <a:off x="1371600" y="4773168"/>
            <a:ext cx="4343400" cy="320040"/>
          </a:xfrm>
          <a:prstGeom prst="rect">
            <a:avLst/>
          </a:prstGeom>
          <a:noFill/>
          <a:ln/>
        </p:spPr>
        <p:txBody>
          <a:bodyPr wrap="square" lIns="0" tIns="0" rIns="0" bIns="0" rtlCol="0" anchor="t"/>
          <a:lstStyle/>
          <a:p>
            <a:pPr algn="l" indent="0" marL="0">
              <a:lnSpc>
                <a:spcPct val="110000"/>
              </a:lnSpc>
              <a:buNone/>
            </a:pPr>
            <a:r>
              <a:rPr lang="en-US" sz="1200" dirty="0">
                <a:solidFill>
                  <a:schemeClr val="accent3"/>
                </a:solidFill>
              </a:rPr>
              <a:t>orientation_consistency → 패치간 분산</a:t>
            </a:r>
            <a:endParaRPr lang="en-US" sz="1200" dirty="0"/>
          </a:p>
        </p:txBody>
      </p:sp>
      <p:sp>
        <p:nvSpPr>
          <p:cNvPr id="30" name="Shape 27"/>
          <p:cNvSpPr/>
          <p:nvPr/>
        </p:nvSpPr>
        <p:spPr>
          <a:xfrm>
            <a:off x="548640" y="5349240"/>
            <a:ext cx="5257800" cy="777240"/>
          </a:xfrm>
          <a:prstGeom prst="roundRect">
            <a:avLst>
              <a:gd name="adj" fmla="val 9412"/>
            </a:avLst>
          </a:prstGeom>
          <a:solidFill>
            <a:schemeClr val="accent5"/>
          </a:solidFill>
          <a:ln/>
        </p:spPr>
      </p:sp>
      <p:sp>
        <p:nvSpPr>
          <p:cNvPr id="31" name="Text 28"/>
          <p:cNvSpPr txBox="1"/>
          <p:nvPr/>
        </p:nvSpPr>
        <p:spPr>
          <a:xfrm>
            <a:off x="731520" y="5349240"/>
            <a:ext cx="4937760" cy="777240"/>
          </a:xfrm>
          <a:prstGeom prst="rect">
            <a:avLst/>
          </a:prstGeom>
          <a:noFill/>
          <a:ln/>
        </p:spPr>
        <p:txBody>
          <a:bodyPr wrap="square" lIns="0" tIns="0" rIns="0" bIns="0" rtlCol="0" anchor="ctr"/>
          <a:lstStyle/>
          <a:p>
            <a:pPr algn="l" indent="0" marL="0">
              <a:lnSpc>
                <a:spcPct val="110000"/>
              </a:lnSpc>
              <a:buNone/>
            </a:pPr>
            <a:r>
              <a:rPr lang="en-US" sz="1300" dirty="0">
                <a:solidFill>
                  <a:schemeClr val="tx1"/>
                </a:solidFill>
              </a:rPr>
              <a:t>FC·OV는 평균이 아니라 분산 → 패치마다 얼마나 들쭉날쭉한가(배경 이질성)를 잰다</a:t>
            </a:r>
            <a:endParaRPr lang="en-US" sz="1300" dirty="0"/>
          </a:p>
        </p:txBody>
      </p:sp>
      <p:sp>
        <p:nvSpPr>
          <p:cNvPr id="32" name="Text 29"/>
          <p:cNvSpPr txBox="1"/>
          <p:nvPr/>
        </p:nvSpPr>
        <p:spPr>
          <a:xfrm>
            <a:off x="6172200" y="1188720"/>
            <a:ext cx="5486400" cy="32004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표 2. 데이터셋별 CCI</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172200" y="1600200"/>
          <a:ext cx="5468112" cy="914400"/>
        </p:xfrm>
        <a:graphic>
          <a:graphicData uri="http://schemas.openxmlformats.org/drawingml/2006/table">
            <a:tbl>
              <a:tblPr/>
              <a:tblGrid>
                <a:gridCol w="1627632"/>
                <a:gridCol w="731520"/>
                <a:gridCol w="731520"/>
                <a:gridCol w="548640"/>
                <a:gridCol w="914400"/>
                <a:gridCol w="914400"/>
              </a:tblGrid>
              <a:tr h="438912">
                <a:tc>
                  <a:txBody>
                    <a:bodyPr/>
                    <a:lstStyle/>
                    <a:p>
                      <a:pPr algn="l" indent="0" marL="0">
                        <a:buNone/>
                      </a:pPr>
                      <a:r>
                        <a:rPr lang="en-US" sz="1300" b="1" dirty="0">
                          <a:solidFill>
                            <a:schemeClr val="bg1"/>
                          </a:solidFill>
                        </a:rPr>
                        <a:t>Dataset</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r" indent="0" marL="0">
                        <a:buNone/>
                      </a:pPr>
                      <a:r>
                        <a:rPr lang="en-US" sz="1300" b="1" dirty="0">
                          <a:solidFill>
                            <a:schemeClr val="bg1"/>
                          </a:solidFill>
                        </a:rPr>
                        <a:t>CCI</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r" indent="0" marL="0">
                        <a:buNone/>
                      </a:pPr>
                      <a:r>
                        <a:rPr lang="en-US" sz="1300" b="1" dirty="0">
                          <a:solidFill>
                            <a:schemeClr val="bg1"/>
                          </a:solidFill>
                        </a:rPr>
                        <a:t>TE</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r" indent="0" marL="0">
                        <a:buNone/>
                      </a:pPr>
                      <a:r>
                        <a:rPr lang="en-US" sz="1300" b="1" dirty="0">
                          <a:solidFill>
                            <a:schemeClr val="bg1"/>
                          </a:solidFill>
                        </a:rPr>
                        <a:t>CC</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r" indent="0" marL="0">
                        <a:buNone/>
                      </a:pPr>
                      <a:r>
                        <a:rPr lang="en-US" sz="1300" b="1" dirty="0">
                          <a:solidFill>
                            <a:schemeClr val="bg1"/>
                          </a:solidFill>
                        </a:rPr>
                        <a:t>FC</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r" indent="0" marL="0">
                        <a:buNone/>
                      </a:pPr>
                      <a:r>
                        <a:rPr lang="en-US" sz="1300" b="1" dirty="0">
                          <a:solidFill>
                            <a:schemeClr val="bg1"/>
                          </a:solidFill>
                        </a:rPr>
                        <a:t>OV</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r>
              <a:tr h="438912">
                <a:tc>
                  <a:txBody>
                    <a:bodyPr/>
                    <a:lstStyle/>
                    <a:p>
                      <a:pPr algn="l" indent="0" marL="0">
                        <a:buNone/>
                      </a:pPr>
                      <a:r>
                        <a:rPr lang="en-US" sz="1300" b="1" dirty="0">
                          <a:solidFill>
                            <a:schemeClr val="tx1"/>
                          </a:solidFill>
                        </a:rPr>
                        <a:t>AITeX</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0.440</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2.848</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5</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0.0158</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1.3085</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r>
              <a:tr h="438912">
                <a:tc>
                  <a:txBody>
                    <a:bodyPr/>
                    <a:lstStyle/>
                    <a:p>
                      <a:pPr algn="l" indent="0" marL="0">
                        <a:buNone/>
                      </a:pPr>
                      <a:r>
                        <a:rPr lang="en-US" sz="1300" b="1" dirty="0">
                          <a:solidFill>
                            <a:schemeClr val="tx1"/>
                          </a:solidFill>
                        </a:rPr>
                        <a:t>Severstal</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1"/>
                          </a:solidFill>
                        </a:rPr>
                        <a:t>0.306</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1"/>
                          </a:solidFill>
                        </a:rPr>
                        <a:t>3.008</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1"/>
                          </a:solidFill>
                        </a:rPr>
                        <a:t>5</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1"/>
                          </a:solidFill>
                        </a:rPr>
                        <a:t>0.0073</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1"/>
                          </a:solidFill>
                        </a:rPr>
                        <a:t>0.4326</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r>
              <a:tr h="438912">
                <a:tc>
                  <a:txBody>
                    <a:bodyPr/>
                    <a:lstStyle/>
                    <a:p>
                      <a:pPr algn="l" indent="0" marL="0">
                        <a:buNone/>
                      </a:pPr>
                      <a:r>
                        <a:rPr lang="en-US" sz="1300" b="1" dirty="0">
                          <a:solidFill>
                            <a:schemeClr val="tx1"/>
                          </a:solidFill>
                        </a:rPr>
                        <a:t>MTD</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0.246</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3.215</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5</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0.0065</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0.0093</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r>
              <a:tr h="438912">
                <a:tc>
                  <a:txBody>
                    <a:bodyPr/>
                    <a:lstStyle/>
                    <a:p>
                      <a:pPr algn="l" indent="0" marL="0">
                        <a:buNone/>
                      </a:pPr>
                      <a:r>
                        <a:rPr lang="en-US" sz="1300" b="1" dirty="0">
                          <a:solidFill>
                            <a:schemeClr val="tx1"/>
                          </a:solidFill>
                        </a:rPr>
                        <a:t>Kolektor</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1"/>
                          </a:solidFill>
                        </a:rPr>
                        <a:t>0.224</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1"/>
                          </a:solidFill>
                        </a:rPr>
                        <a:t>2.578</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1"/>
                          </a:solidFill>
                        </a:rPr>
                        <a:t>5</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1"/>
                          </a:solidFill>
                        </a:rPr>
                        <a:t>0.0002</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r" indent="0" marL="0">
                        <a:buNone/>
                      </a:pPr>
                      <a:r>
                        <a:rPr lang="en-US" sz="1300" dirty="0">
                          <a:solidFill>
                            <a:schemeClr val="tx1"/>
                          </a:solidFill>
                        </a:rPr>
                        <a:t>0.0035</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r>
              <a:tr h="438912">
                <a:tc>
                  <a:txBody>
                    <a:bodyPr/>
                    <a:lstStyle/>
                    <a:p>
                      <a:pPr algn="l" indent="0" marL="0">
                        <a:buNone/>
                      </a:pPr>
                      <a:r>
                        <a:rPr lang="en-US" sz="1300" b="1" dirty="0">
                          <a:solidFill>
                            <a:schemeClr val="tx1"/>
                          </a:solidFill>
                        </a:rPr>
                        <a:t>MVTec Leather</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0.200</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2.981</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4</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0.0002</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300" dirty="0">
                          <a:solidFill>
                            <a:schemeClr val="tx1"/>
                          </a:solidFill>
                        </a:rPr>
                        <a:t>0.0005</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r>
            </a:tbl>
          </a:graphicData>
        </a:graphic>
      </p:graphicFrame>
      <p:sp>
        <p:nvSpPr>
          <p:cNvPr id="34" name="Shape 30"/>
          <p:cNvSpPr/>
          <p:nvPr/>
        </p:nvSpPr>
        <p:spPr>
          <a:xfrm>
            <a:off x="6172200" y="4572000"/>
            <a:ext cx="5468112" cy="1554480"/>
          </a:xfrm>
          <a:prstGeom prst="roundRect">
            <a:avLst>
              <a:gd name="adj" fmla="val 4706"/>
            </a:avLst>
          </a:prstGeom>
          <a:solidFill>
            <a:schemeClr val="accent1"/>
          </a:solidFill>
          <a:ln/>
        </p:spPr>
      </p:sp>
      <p:sp>
        <p:nvSpPr>
          <p:cNvPr id="35" name="Text 31"/>
          <p:cNvSpPr txBox="1"/>
          <p:nvPr/>
        </p:nvSpPr>
        <p:spPr>
          <a:xfrm>
            <a:off x="6400800" y="4709160"/>
            <a:ext cx="5029200" cy="411480"/>
          </a:xfrm>
          <a:prstGeom prst="rect">
            <a:avLst/>
          </a:prstGeom>
          <a:noFill/>
          <a:ln/>
        </p:spPr>
        <p:txBody>
          <a:bodyPr wrap="square" lIns="0" tIns="0" rIns="0" bIns="0" rtlCol="0" anchor="t"/>
          <a:lstStyle/>
          <a:p>
            <a:pPr algn="l" indent="0" marL="0">
              <a:lnSpc>
                <a:spcPct val="110000"/>
              </a:lnSpc>
              <a:buNone/>
            </a:pPr>
            <a:r>
              <a:rPr lang="en-US" sz="1700" b="1" dirty="0">
                <a:solidFill>
                  <a:schemeClr val="bg1"/>
                </a:solidFill>
              </a:rPr>
              <a:t>데이터셋을 가르는 것은 OV·FC</a:t>
            </a:r>
            <a:endParaRPr lang="en-US" sz="1700" dirty="0"/>
          </a:p>
        </p:txBody>
      </p:sp>
      <p:sp>
        <p:nvSpPr>
          <p:cNvPr id="36" name="Text 32"/>
          <p:cNvSpPr txBox="1"/>
          <p:nvPr/>
        </p:nvSpPr>
        <p:spPr>
          <a:xfrm>
            <a:off x="6400800" y="5166360"/>
            <a:ext cx="5029200" cy="822960"/>
          </a:xfrm>
          <a:prstGeom prst="rect">
            <a:avLst/>
          </a:prstGeom>
          <a:noFill/>
          <a:ln/>
        </p:spPr>
        <p:txBody>
          <a:bodyPr wrap="square" lIns="0" tIns="0" rIns="0" bIns="0" rtlCol="0" anchor="t"/>
          <a:lstStyle/>
          <a:p>
            <a:pPr algn="l" indent="0" marL="0">
              <a:lnSpc>
                <a:spcPct val="110000"/>
              </a:lnSpc>
              <a:buNone/>
            </a:pPr>
            <a:r>
              <a:rPr lang="en-US" sz="1400" dirty="0">
                <a:solidFill>
                  <a:schemeClr val="accent4"/>
                </a:solidFill>
              </a:rPr>
              <a:t>TE는 2.58~3.22로 폭이 좁다. 강도가 아니라 구조적 특징이 배경 복잡도를 지배한다</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제5장 · 수식 상세 ② 배경 특징</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배경 텍스처 범주 — 표 3, 해석·보고용</a:t>
            </a:r>
            <a:endParaRPr lang="en-US" sz="2400" dirty="0"/>
          </a:p>
        </p:txBody>
      </p:sp>
      <p:sp>
        <p:nvSpPr>
          <p:cNvPr id="5" name="Text 2"/>
          <p:cNvSpPr txBox="1"/>
          <p:nvPr/>
        </p:nvSpPr>
        <p:spPr>
          <a:xfrm>
            <a:off x="548640" y="1188720"/>
            <a:ext cx="11091672" cy="365760"/>
          </a:xfrm>
          <a:prstGeom prst="rect">
            <a:avLst/>
          </a:prstGeom>
          <a:noFill/>
          <a:ln/>
        </p:spPr>
        <p:txBody>
          <a:bodyPr wrap="square" lIns="0" tIns="0" rIns="0" bIns="0" rtlCol="0" anchor="ctr"/>
          <a:lstStyle/>
          <a:p>
            <a:pPr algn="l" indent="0" marL="0">
              <a:lnSpc>
                <a:spcPct val="110000"/>
              </a:lnSpc>
              <a:buNone/>
            </a:pPr>
            <a:r>
              <a:rPr lang="en-US" sz="1400" dirty="0">
                <a:solidFill>
                  <a:schemeClr val="accent3"/>
                </a:solidFill>
              </a:rPr>
              <a:t>위에서부터 차례로 묻고, 먼저 맞는 질문에서 범주가 정해진다. 핵심 배치 경로(식 2~6)에는 쓰이지 않는다.</a:t>
            </a:r>
            <a:endParaRPr lang="en-US" sz="1400" dirty="0"/>
          </a:p>
        </p:txBody>
      </p:sp>
      <p:sp>
        <p:nvSpPr>
          <p:cNvPr id="6" name="Shape 3"/>
          <p:cNvSpPr/>
          <p:nvPr/>
        </p:nvSpPr>
        <p:spPr>
          <a:xfrm>
            <a:off x="548640" y="1691640"/>
            <a:ext cx="11091672" cy="850392"/>
          </a:xfrm>
          <a:prstGeom prst="roundRect">
            <a:avLst>
              <a:gd name="adj" fmla="val 8602"/>
            </a:avLst>
          </a:prstGeom>
          <a:solidFill>
            <a:schemeClr val="bg2"/>
          </a:solidFill>
          <a:ln/>
        </p:spPr>
      </p:sp>
      <p:sp>
        <p:nvSpPr>
          <p:cNvPr id="7" name="Shape 4"/>
          <p:cNvSpPr/>
          <p:nvPr/>
        </p:nvSpPr>
        <p:spPr>
          <a:xfrm>
            <a:off x="685800" y="1920240"/>
            <a:ext cx="384048" cy="384048"/>
          </a:xfrm>
          <a:prstGeom prst="ellipse">
            <a:avLst/>
          </a:prstGeom>
          <a:solidFill>
            <a:schemeClr val="accent1"/>
          </a:solidFill>
          <a:ln/>
        </p:spPr>
      </p:sp>
      <p:sp>
        <p:nvSpPr>
          <p:cNvPr id="8" name="Text 5"/>
          <p:cNvSpPr txBox="1"/>
          <p:nvPr/>
        </p:nvSpPr>
        <p:spPr>
          <a:xfrm>
            <a:off x="685800" y="1920240"/>
            <a:ext cx="384048" cy="384048"/>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1</a:t>
            </a:r>
            <a:endParaRPr lang="en-US" sz="1200" dirty="0"/>
          </a:p>
        </p:txBody>
      </p:sp>
      <p:sp>
        <p:nvSpPr>
          <p:cNvPr id="9" name="Text 6"/>
          <p:cNvSpPr txBox="1"/>
          <p:nvPr/>
        </p:nvSpPr>
        <p:spPr>
          <a:xfrm>
            <a:off x="1188720" y="1691640"/>
            <a:ext cx="1737360" cy="850392"/>
          </a:xfrm>
          <a:prstGeom prst="rect">
            <a:avLst/>
          </a:prstGeom>
          <a:noFill/>
          <a:ln/>
        </p:spPr>
        <p:txBody>
          <a:bodyPr wrap="square" lIns="0" tIns="0" rIns="0" bIns="0" rtlCol="0" anchor="ctr"/>
          <a:lstStyle/>
          <a:p>
            <a:pPr algn="l" indent="0" marL="0">
              <a:lnSpc>
                <a:spcPct val="110000"/>
              </a:lnSpc>
              <a:buNone/>
            </a:pPr>
            <a:r>
              <a:rPr lang="en-US" sz="1400" b="1" dirty="0">
                <a:solidFill>
                  <a:schemeClr val="accent2"/>
                </a:solidFill>
              </a:rPr>
              <a:t>매끈한가?</a:t>
            </a:r>
            <a:endParaRPr lang="en-US" sz="1400" dirty="0"/>
          </a:p>
        </p:txBody>
      </p:sp>
      <p:sp>
        <p:nvSpPr>
          <p:cNvPr id="10" name="Text 7"/>
          <p:cNvSpPr txBox="1"/>
          <p:nvPr/>
        </p:nvSpPr>
        <p:spPr>
          <a:xfrm>
            <a:off x="2971800" y="1801368"/>
            <a:ext cx="2103120" cy="347472"/>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밝기 분산</a:t>
            </a:r>
            <a:endParaRPr lang="en-US" sz="1400" dirty="0"/>
          </a:p>
        </p:txBody>
      </p:sp>
      <p:sp>
        <p:nvSpPr>
          <p:cNvPr id="11" name="Text 8"/>
          <p:cNvSpPr txBox="1"/>
          <p:nvPr/>
        </p:nvSpPr>
        <p:spPr>
          <a:xfrm>
            <a:off x="2971800" y="2148840"/>
            <a:ext cx="2103120" cy="32004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LocalVariance</a:t>
            </a:r>
            <a:endParaRPr lang="en-US" sz="1100" dirty="0"/>
          </a:p>
        </p:txBody>
      </p:sp>
      <p:pic>
        <p:nvPicPr>
          <p:cNvPr id="12" name="Image 0" descr="f1">    </p:cNvPr>
          <p:cNvPicPr>
            <a:picLocks noChangeAspect="1"/>
          </p:cNvPicPr>
          <p:nvPr/>
        </p:nvPicPr>
        <p:blipFill>
          <a:blip r:embed="rId1"/>
          <a:stretch>
            <a:fillRect/>
          </a:stretch>
        </p:blipFill>
        <p:spPr>
          <a:xfrm>
            <a:off x="5120640" y="1888236"/>
            <a:ext cx="2068373" cy="457200"/>
          </a:xfrm>
          <a:prstGeom prst="rect">
            <a:avLst/>
          </a:prstGeom>
        </p:spPr>
      </p:pic>
      <p:sp>
        <p:nvSpPr>
          <p:cNvPr id="13" name="Text 9"/>
          <p:cNvSpPr txBox="1"/>
          <p:nvPr/>
        </p:nvSpPr>
        <p:spPr>
          <a:xfrm>
            <a:off x="9418320" y="1691640"/>
            <a:ext cx="777240" cy="850392"/>
          </a:xfrm>
          <a:prstGeom prst="rect">
            <a:avLst/>
          </a:prstGeom>
          <a:noFill/>
          <a:ln/>
        </p:spPr>
        <p:txBody>
          <a:bodyPr wrap="square" lIns="0" tIns="0" rIns="0" bIns="0" rtlCol="0" anchor="ctr"/>
          <a:lstStyle/>
          <a:p>
            <a:pPr algn="r" indent="0" marL="0">
              <a:lnSpc>
                <a:spcPct val="110000"/>
              </a:lnSpc>
              <a:buNone/>
            </a:pPr>
            <a:r>
              <a:rPr lang="en-US" sz="1400" b="1" dirty="0">
                <a:solidFill>
                  <a:schemeClr val="tx1"/>
                </a:solidFill>
              </a:rPr>
              <a:t>&lt; 100</a:t>
            </a:r>
            <a:endParaRPr lang="en-US" sz="1400" dirty="0"/>
          </a:p>
        </p:txBody>
      </p:sp>
      <p:sp>
        <p:nvSpPr>
          <p:cNvPr id="14" name="Shape 10"/>
          <p:cNvSpPr/>
          <p:nvPr/>
        </p:nvSpPr>
        <p:spPr>
          <a:xfrm>
            <a:off x="10332720" y="1911096"/>
            <a:ext cx="1188720" cy="411480"/>
          </a:xfrm>
          <a:prstGeom prst="roundRect">
            <a:avLst>
              <a:gd name="adj" fmla="val 48889"/>
            </a:avLst>
          </a:prstGeom>
          <a:solidFill>
            <a:schemeClr val="accent1"/>
          </a:solidFill>
          <a:ln/>
        </p:spPr>
      </p:sp>
      <p:sp>
        <p:nvSpPr>
          <p:cNvPr id="15" name="Text 11"/>
          <p:cNvSpPr txBox="1"/>
          <p:nvPr/>
        </p:nvSpPr>
        <p:spPr>
          <a:xfrm>
            <a:off x="10332720" y="1911096"/>
            <a:ext cx="1188720" cy="411480"/>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Smooth</a:t>
            </a:r>
            <a:endParaRPr lang="en-US" sz="1200" dirty="0"/>
          </a:p>
        </p:txBody>
      </p:sp>
      <p:sp>
        <p:nvSpPr>
          <p:cNvPr id="16" name="Shape 12"/>
          <p:cNvSpPr/>
          <p:nvPr/>
        </p:nvSpPr>
        <p:spPr>
          <a:xfrm>
            <a:off x="548640" y="2651760"/>
            <a:ext cx="11091672" cy="850392"/>
          </a:xfrm>
          <a:prstGeom prst="roundRect">
            <a:avLst>
              <a:gd name="adj" fmla="val 8602"/>
            </a:avLst>
          </a:prstGeom>
          <a:solidFill>
            <a:schemeClr val="bg1"/>
          </a:solidFill>
          <a:ln w="12700">
            <a:solidFill>
              <a:srgbClr val="D9DEE3"/>
            </a:solidFill>
            <a:prstDash val="solid"/>
          </a:ln>
        </p:spPr>
      </p:sp>
      <p:sp>
        <p:nvSpPr>
          <p:cNvPr id="17" name="Shape 13"/>
          <p:cNvSpPr/>
          <p:nvPr/>
        </p:nvSpPr>
        <p:spPr>
          <a:xfrm>
            <a:off x="685800" y="2880360"/>
            <a:ext cx="384048" cy="384048"/>
          </a:xfrm>
          <a:prstGeom prst="ellipse">
            <a:avLst/>
          </a:prstGeom>
          <a:solidFill>
            <a:schemeClr val="accent1"/>
          </a:solidFill>
          <a:ln/>
        </p:spPr>
      </p:sp>
      <p:sp>
        <p:nvSpPr>
          <p:cNvPr id="18" name="Text 14"/>
          <p:cNvSpPr txBox="1"/>
          <p:nvPr/>
        </p:nvSpPr>
        <p:spPr>
          <a:xfrm>
            <a:off x="685800" y="2880360"/>
            <a:ext cx="384048" cy="384048"/>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2</a:t>
            </a:r>
            <a:endParaRPr lang="en-US" sz="1200" dirty="0"/>
          </a:p>
        </p:txBody>
      </p:sp>
      <p:sp>
        <p:nvSpPr>
          <p:cNvPr id="19" name="Text 15"/>
          <p:cNvSpPr txBox="1"/>
          <p:nvPr/>
        </p:nvSpPr>
        <p:spPr>
          <a:xfrm>
            <a:off x="1188720" y="2651760"/>
            <a:ext cx="1737360" cy="850392"/>
          </a:xfrm>
          <a:prstGeom prst="rect">
            <a:avLst/>
          </a:prstGeom>
          <a:noFill/>
          <a:ln/>
        </p:spPr>
        <p:txBody>
          <a:bodyPr wrap="square" lIns="0" tIns="0" rIns="0" bIns="0" rtlCol="0" anchor="ctr"/>
          <a:lstStyle/>
          <a:p>
            <a:pPr algn="l" indent="0" marL="0">
              <a:lnSpc>
                <a:spcPct val="110000"/>
              </a:lnSpc>
              <a:buNone/>
            </a:pPr>
            <a:r>
              <a:rPr lang="en-US" sz="1400" b="1" dirty="0">
                <a:solidFill>
                  <a:schemeClr val="accent2"/>
                </a:solidFill>
              </a:rPr>
              <a:t>한 방향 결인가?</a:t>
            </a:r>
            <a:endParaRPr lang="en-US" sz="1400" dirty="0"/>
          </a:p>
        </p:txBody>
      </p:sp>
      <p:sp>
        <p:nvSpPr>
          <p:cNvPr id="20" name="Text 16"/>
          <p:cNvSpPr txBox="1"/>
          <p:nvPr/>
        </p:nvSpPr>
        <p:spPr>
          <a:xfrm>
            <a:off x="2971800" y="2761488"/>
            <a:ext cx="2103120" cy="347472"/>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경계 방향 엔트로피</a:t>
            </a:r>
            <a:endParaRPr lang="en-US" sz="1400" dirty="0"/>
          </a:p>
        </p:txBody>
      </p:sp>
      <p:sp>
        <p:nvSpPr>
          <p:cNvPr id="21" name="Text 17"/>
          <p:cNvSpPr txBox="1"/>
          <p:nvPr/>
        </p:nvSpPr>
        <p:spPr>
          <a:xfrm>
            <a:off x="2971800" y="3108960"/>
            <a:ext cx="2103120" cy="32004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GradOrientEntropy</a:t>
            </a:r>
            <a:endParaRPr lang="en-US" sz="1100" dirty="0"/>
          </a:p>
        </p:txBody>
      </p:sp>
      <p:pic>
        <p:nvPicPr>
          <p:cNvPr id="22" name="Image 1" descr="t2">    </p:cNvPr>
          <p:cNvPicPr>
            <a:picLocks noChangeAspect="1"/>
          </p:cNvPicPr>
          <p:nvPr/>
        </p:nvPicPr>
        <p:blipFill>
          <a:blip r:embed="rId2"/>
          <a:stretch>
            <a:fillRect/>
          </a:stretch>
        </p:blipFill>
        <p:spPr>
          <a:xfrm>
            <a:off x="5120640" y="2706624"/>
            <a:ext cx="2291025" cy="740664"/>
          </a:xfrm>
          <a:prstGeom prst="rect">
            <a:avLst/>
          </a:prstGeom>
        </p:spPr>
      </p:pic>
      <p:sp>
        <p:nvSpPr>
          <p:cNvPr id="23" name="Text 18"/>
          <p:cNvSpPr txBox="1"/>
          <p:nvPr/>
        </p:nvSpPr>
        <p:spPr>
          <a:xfrm>
            <a:off x="9418320" y="2651760"/>
            <a:ext cx="777240" cy="850392"/>
          </a:xfrm>
          <a:prstGeom prst="rect">
            <a:avLst/>
          </a:prstGeom>
          <a:noFill/>
          <a:ln/>
        </p:spPr>
        <p:txBody>
          <a:bodyPr wrap="square" lIns="0" tIns="0" rIns="0" bIns="0" rtlCol="0" anchor="ctr"/>
          <a:lstStyle/>
          <a:p>
            <a:pPr algn="r" indent="0" marL="0">
              <a:lnSpc>
                <a:spcPct val="110000"/>
              </a:lnSpc>
              <a:buNone/>
            </a:pPr>
            <a:r>
              <a:rPr lang="en-US" sz="1400" b="1" dirty="0">
                <a:solidFill>
                  <a:schemeClr val="tx1"/>
                </a:solidFill>
              </a:rPr>
              <a:t>&lt; 1.0</a:t>
            </a:r>
            <a:endParaRPr lang="en-US" sz="1400" dirty="0"/>
          </a:p>
        </p:txBody>
      </p:sp>
      <p:sp>
        <p:nvSpPr>
          <p:cNvPr id="24" name="Shape 19"/>
          <p:cNvSpPr/>
          <p:nvPr/>
        </p:nvSpPr>
        <p:spPr>
          <a:xfrm>
            <a:off x="10332720" y="2871216"/>
            <a:ext cx="1188720" cy="411480"/>
          </a:xfrm>
          <a:prstGeom prst="roundRect">
            <a:avLst>
              <a:gd name="adj" fmla="val 48889"/>
            </a:avLst>
          </a:prstGeom>
          <a:solidFill>
            <a:schemeClr val="accent1"/>
          </a:solidFill>
          <a:ln/>
        </p:spPr>
      </p:sp>
      <p:sp>
        <p:nvSpPr>
          <p:cNvPr id="25" name="Text 20"/>
          <p:cNvSpPr txBox="1"/>
          <p:nvPr/>
        </p:nvSpPr>
        <p:spPr>
          <a:xfrm>
            <a:off x="10332720" y="2871216"/>
            <a:ext cx="1188720" cy="411480"/>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Directional</a:t>
            </a:r>
            <a:endParaRPr lang="en-US" sz="1200" dirty="0"/>
          </a:p>
        </p:txBody>
      </p:sp>
      <p:sp>
        <p:nvSpPr>
          <p:cNvPr id="26" name="Shape 21"/>
          <p:cNvSpPr/>
          <p:nvPr/>
        </p:nvSpPr>
        <p:spPr>
          <a:xfrm>
            <a:off x="548640" y="3611880"/>
            <a:ext cx="11091672" cy="850392"/>
          </a:xfrm>
          <a:prstGeom prst="roundRect">
            <a:avLst>
              <a:gd name="adj" fmla="val 8602"/>
            </a:avLst>
          </a:prstGeom>
          <a:solidFill>
            <a:schemeClr val="bg2"/>
          </a:solidFill>
          <a:ln/>
        </p:spPr>
      </p:sp>
      <p:sp>
        <p:nvSpPr>
          <p:cNvPr id="27" name="Shape 22"/>
          <p:cNvSpPr/>
          <p:nvPr/>
        </p:nvSpPr>
        <p:spPr>
          <a:xfrm>
            <a:off x="685800" y="3840480"/>
            <a:ext cx="384048" cy="384048"/>
          </a:xfrm>
          <a:prstGeom prst="ellipse">
            <a:avLst/>
          </a:prstGeom>
          <a:solidFill>
            <a:schemeClr val="accent1"/>
          </a:solidFill>
          <a:ln/>
        </p:spPr>
      </p:sp>
      <p:sp>
        <p:nvSpPr>
          <p:cNvPr id="28" name="Text 23"/>
          <p:cNvSpPr txBox="1"/>
          <p:nvPr/>
        </p:nvSpPr>
        <p:spPr>
          <a:xfrm>
            <a:off x="685800" y="3840480"/>
            <a:ext cx="384048" cy="384048"/>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3</a:t>
            </a:r>
            <a:endParaRPr lang="en-US" sz="1200" dirty="0"/>
          </a:p>
        </p:txBody>
      </p:sp>
      <p:sp>
        <p:nvSpPr>
          <p:cNvPr id="29" name="Text 24"/>
          <p:cNvSpPr txBox="1"/>
          <p:nvPr/>
        </p:nvSpPr>
        <p:spPr>
          <a:xfrm>
            <a:off x="1188720" y="3611880"/>
            <a:ext cx="1737360" cy="850392"/>
          </a:xfrm>
          <a:prstGeom prst="rect">
            <a:avLst/>
          </a:prstGeom>
          <a:noFill/>
          <a:ln/>
        </p:spPr>
        <p:txBody>
          <a:bodyPr wrap="square" lIns="0" tIns="0" rIns="0" bIns="0" rtlCol="0" anchor="ctr"/>
          <a:lstStyle/>
          <a:p>
            <a:pPr algn="l" indent="0" marL="0">
              <a:lnSpc>
                <a:spcPct val="110000"/>
              </a:lnSpc>
              <a:buNone/>
            </a:pPr>
            <a:r>
              <a:rPr lang="en-US" sz="1400" b="1" dirty="0">
                <a:solidFill>
                  <a:schemeClr val="accent2"/>
                </a:solidFill>
              </a:rPr>
              <a:t>반복 무늬인가?</a:t>
            </a:r>
            <a:endParaRPr lang="en-US" sz="1400" dirty="0"/>
          </a:p>
        </p:txBody>
      </p:sp>
      <p:sp>
        <p:nvSpPr>
          <p:cNvPr id="30" name="Text 25"/>
          <p:cNvSpPr txBox="1"/>
          <p:nvPr/>
        </p:nvSpPr>
        <p:spPr>
          <a:xfrm>
            <a:off x="2971800" y="3721608"/>
            <a:ext cx="2103120" cy="347472"/>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자기상관 피크</a:t>
            </a:r>
            <a:endParaRPr lang="en-US" sz="1400" dirty="0"/>
          </a:p>
        </p:txBody>
      </p:sp>
      <p:sp>
        <p:nvSpPr>
          <p:cNvPr id="31" name="Text 26"/>
          <p:cNvSpPr txBox="1"/>
          <p:nvPr/>
        </p:nvSpPr>
        <p:spPr>
          <a:xfrm>
            <a:off x="2971800" y="4069080"/>
            <a:ext cx="2103120" cy="32004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AutocorrPeak</a:t>
            </a:r>
            <a:endParaRPr lang="en-US" sz="1100" dirty="0"/>
          </a:p>
        </p:txBody>
      </p:sp>
      <p:pic>
        <p:nvPicPr>
          <p:cNvPr id="32" name="Image 2" descr="t3">    </p:cNvPr>
          <p:cNvPicPr>
            <a:picLocks noChangeAspect="1"/>
          </p:cNvPicPr>
          <p:nvPr/>
        </p:nvPicPr>
        <p:blipFill>
          <a:blip r:embed="rId3"/>
          <a:stretch>
            <a:fillRect/>
          </a:stretch>
        </p:blipFill>
        <p:spPr>
          <a:xfrm>
            <a:off x="5120640" y="3782873"/>
            <a:ext cx="4056278" cy="508406"/>
          </a:xfrm>
          <a:prstGeom prst="rect">
            <a:avLst/>
          </a:prstGeom>
        </p:spPr>
      </p:pic>
      <p:sp>
        <p:nvSpPr>
          <p:cNvPr id="33" name="Text 27"/>
          <p:cNvSpPr txBox="1"/>
          <p:nvPr/>
        </p:nvSpPr>
        <p:spPr>
          <a:xfrm>
            <a:off x="9418320" y="3611880"/>
            <a:ext cx="777240" cy="850392"/>
          </a:xfrm>
          <a:prstGeom prst="rect">
            <a:avLst/>
          </a:prstGeom>
          <a:noFill/>
          <a:ln/>
        </p:spPr>
        <p:txBody>
          <a:bodyPr wrap="square" lIns="0" tIns="0" rIns="0" bIns="0" rtlCol="0" anchor="ctr"/>
          <a:lstStyle/>
          <a:p>
            <a:pPr algn="r" indent="0" marL="0">
              <a:lnSpc>
                <a:spcPct val="110000"/>
              </a:lnSpc>
              <a:buNone/>
            </a:pPr>
            <a:r>
              <a:rPr lang="en-US" sz="1400" b="1" dirty="0">
                <a:solidFill>
                  <a:schemeClr val="tx1"/>
                </a:solidFill>
              </a:rPr>
              <a:t>&gt; 0.15</a:t>
            </a:r>
            <a:endParaRPr lang="en-US" sz="1400" dirty="0"/>
          </a:p>
        </p:txBody>
      </p:sp>
      <p:sp>
        <p:nvSpPr>
          <p:cNvPr id="34" name="Shape 28"/>
          <p:cNvSpPr/>
          <p:nvPr/>
        </p:nvSpPr>
        <p:spPr>
          <a:xfrm>
            <a:off x="10332720" y="3831336"/>
            <a:ext cx="1188720" cy="411480"/>
          </a:xfrm>
          <a:prstGeom prst="roundRect">
            <a:avLst>
              <a:gd name="adj" fmla="val 48889"/>
            </a:avLst>
          </a:prstGeom>
          <a:solidFill>
            <a:schemeClr val="accent1"/>
          </a:solidFill>
          <a:ln/>
        </p:spPr>
      </p:sp>
      <p:sp>
        <p:nvSpPr>
          <p:cNvPr id="35" name="Text 29"/>
          <p:cNvSpPr txBox="1"/>
          <p:nvPr/>
        </p:nvSpPr>
        <p:spPr>
          <a:xfrm>
            <a:off x="10332720" y="3831336"/>
            <a:ext cx="1188720" cy="411480"/>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Periodic</a:t>
            </a:r>
            <a:endParaRPr lang="en-US" sz="1200" dirty="0"/>
          </a:p>
        </p:txBody>
      </p:sp>
      <p:sp>
        <p:nvSpPr>
          <p:cNvPr id="36" name="Shape 30"/>
          <p:cNvSpPr/>
          <p:nvPr/>
        </p:nvSpPr>
        <p:spPr>
          <a:xfrm>
            <a:off x="548640" y="4572000"/>
            <a:ext cx="11091672" cy="850392"/>
          </a:xfrm>
          <a:prstGeom prst="roundRect">
            <a:avLst>
              <a:gd name="adj" fmla="val 8602"/>
            </a:avLst>
          </a:prstGeom>
          <a:solidFill>
            <a:schemeClr val="bg1"/>
          </a:solidFill>
          <a:ln w="12700">
            <a:solidFill>
              <a:srgbClr val="D9DEE3"/>
            </a:solidFill>
            <a:prstDash val="solid"/>
          </a:ln>
        </p:spPr>
      </p:sp>
      <p:sp>
        <p:nvSpPr>
          <p:cNvPr id="37" name="Shape 31"/>
          <p:cNvSpPr/>
          <p:nvPr/>
        </p:nvSpPr>
        <p:spPr>
          <a:xfrm>
            <a:off x="685800" y="4800600"/>
            <a:ext cx="384048" cy="384048"/>
          </a:xfrm>
          <a:prstGeom prst="ellipse">
            <a:avLst/>
          </a:prstGeom>
          <a:solidFill>
            <a:schemeClr val="accent1"/>
          </a:solidFill>
          <a:ln/>
        </p:spPr>
      </p:sp>
      <p:sp>
        <p:nvSpPr>
          <p:cNvPr id="38" name="Text 32"/>
          <p:cNvSpPr txBox="1"/>
          <p:nvPr/>
        </p:nvSpPr>
        <p:spPr>
          <a:xfrm>
            <a:off x="685800" y="4800600"/>
            <a:ext cx="384048" cy="384048"/>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4</a:t>
            </a:r>
            <a:endParaRPr lang="en-US" sz="1200" dirty="0"/>
          </a:p>
        </p:txBody>
      </p:sp>
      <p:sp>
        <p:nvSpPr>
          <p:cNvPr id="39" name="Text 33"/>
          <p:cNvSpPr txBox="1"/>
          <p:nvPr/>
        </p:nvSpPr>
        <p:spPr>
          <a:xfrm>
            <a:off x="1188720" y="4572000"/>
            <a:ext cx="1737360" cy="850392"/>
          </a:xfrm>
          <a:prstGeom prst="rect">
            <a:avLst/>
          </a:prstGeom>
          <a:noFill/>
          <a:ln/>
        </p:spPr>
        <p:txBody>
          <a:bodyPr wrap="square" lIns="0" tIns="0" rIns="0" bIns="0" rtlCol="0" anchor="ctr"/>
          <a:lstStyle/>
          <a:p>
            <a:pPr algn="l" indent="0" marL="0">
              <a:lnSpc>
                <a:spcPct val="110000"/>
              </a:lnSpc>
              <a:buNone/>
            </a:pPr>
            <a:r>
              <a:rPr lang="en-US" sz="1400" b="1" dirty="0">
                <a:solidFill>
                  <a:schemeClr val="accent2"/>
                </a:solidFill>
              </a:rPr>
              <a:t>여러 무늬가 섞였나?</a:t>
            </a:r>
            <a:endParaRPr lang="en-US" sz="1400" dirty="0"/>
          </a:p>
        </p:txBody>
      </p:sp>
      <p:sp>
        <p:nvSpPr>
          <p:cNvPr id="40" name="Text 34"/>
          <p:cNvSpPr txBox="1"/>
          <p:nvPr/>
        </p:nvSpPr>
        <p:spPr>
          <a:xfrm>
            <a:off x="2971800" y="4681728"/>
            <a:ext cx="2103120" cy="347472"/>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텍스처 엔트로피</a:t>
            </a:r>
            <a:endParaRPr lang="en-US" sz="1400" dirty="0"/>
          </a:p>
        </p:txBody>
      </p:sp>
      <p:sp>
        <p:nvSpPr>
          <p:cNvPr id="41" name="Text 35"/>
          <p:cNvSpPr txBox="1"/>
          <p:nvPr/>
        </p:nvSpPr>
        <p:spPr>
          <a:xfrm>
            <a:off x="2971800" y="5029200"/>
            <a:ext cx="2103120" cy="32004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LBPEntropy</a:t>
            </a:r>
            <a:endParaRPr lang="en-US" sz="1100" dirty="0"/>
          </a:p>
        </p:txBody>
      </p:sp>
      <p:pic>
        <p:nvPicPr>
          <p:cNvPr id="42" name="Image 3" descr="f3">    </p:cNvPr>
          <p:cNvPicPr>
            <a:picLocks noChangeAspect="1"/>
          </p:cNvPicPr>
          <p:nvPr/>
        </p:nvPicPr>
        <p:blipFill>
          <a:blip r:embed="rId4"/>
          <a:stretch>
            <a:fillRect/>
          </a:stretch>
        </p:blipFill>
        <p:spPr>
          <a:xfrm>
            <a:off x="5120640" y="4699102"/>
            <a:ext cx="1616659" cy="596189"/>
          </a:xfrm>
          <a:prstGeom prst="rect">
            <a:avLst/>
          </a:prstGeom>
        </p:spPr>
      </p:pic>
      <p:sp>
        <p:nvSpPr>
          <p:cNvPr id="43" name="Text 36"/>
          <p:cNvSpPr txBox="1"/>
          <p:nvPr/>
        </p:nvSpPr>
        <p:spPr>
          <a:xfrm>
            <a:off x="9418320" y="4572000"/>
            <a:ext cx="777240" cy="850392"/>
          </a:xfrm>
          <a:prstGeom prst="rect">
            <a:avLst/>
          </a:prstGeom>
          <a:noFill/>
          <a:ln/>
        </p:spPr>
        <p:txBody>
          <a:bodyPr wrap="square" lIns="0" tIns="0" rIns="0" bIns="0" rtlCol="0" anchor="ctr"/>
          <a:lstStyle/>
          <a:p>
            <a:pPr algn="r" indent="0" marL="0">
              <a:lnSpc>
                <a:spcPct val="110000"/>
              </a:lnSpc>
              <a:buNone/>
            </a:pPr>
            <a:r>
              <a:rPr lang="en-US" sz="1400" b="1" dirty="0">
                <a:solidFill>
                  <a:schemeClr val="tx1"/>
                </a:solidFill>
              </a:rPr>
              <a:t>&gt; 2.5</a:t>
            </a:r>
            <a:endParaRPr lang="en-US" sz="1400" dirty="0"/>
          </a:p>
        </p:txBody>
      </p:sp>
      <p:sp>
        <p:nvSpPr>
          <p:cNvPr id="44" name="Shape 37"/>
          <p:cNvSpPr/>
          <p:nvPr/>
        </p:nvSpPr>
        <p:spPr>
          <a:xfrm>
            <a:off x="10332720" y="4791456"/>
            <a:ext cx="1188720" cy="411480"/>
          </a:xfrm>
          <a:prstGeom prst="roundRect">
            <a:avLst>
              <a:gd name="adj" fmla="val 48889"/>
            </a:avLst>
          </a:prstGeom>
          <a:solidFill>
            <a:schemeClr val="accent1"/>
          </a:solidFill>
          <a:ln/>
        </p:spPr>
      </p:sp>
      <p:sp>
        <p:nvSpPr>
          <p:cNvPr id="45" name="Text 38"/>
          <p:cNvSpPr txBox="1"/>
          <p:nvPr/>
        </p:nvSpPr>
        <p:spPr>
          <a:xfrm>
            <a:off x="10332720" y="4791456"/>
            <a:ext cx="1188720" cy="411480"/>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Organic</a:t>
            </a:r>
            <a:endParaRPr lang="en-US" sz="1200" dirty="0"/>
          </a:p>
        </p:txBody>
      </p:sp>
      <p:sp>
        <p:nvSpPr>
          <p:cNvPr id="46" name="Shape 39"/>
          <p:cNvSpPr/>
          <p:nvPr/>
        </p:nvSpPr>
        <p:spPr>
          <a:xfrm>
            <a:off x="548640" y="5577840"/>
            <a:ext cx="11091672" cy="502920"/>
          </a:xfrm>
          <a:prstGeom prst="roundRect">
            <a:avLst>
              <a:gd name="adj" fmla="val 14545"/>
            </a:avLst>
          </a:prstGeom>
          <a:solidFill>
            <a:schemeClr val="bg2"/>
          </a:solidFill>
          <a:ln/>
        </p:spPr>
      </p:sp>
      <p:sp>
        <p:nvSpPr>
          <p:cNvPr id="47" name="Text 40"/>
          <p:cNvSpPr txBox="1"/>
          <p:nvPr/>
        </p:nvSpPr>
        <p:spPr>
          <a:xfrm>
            <a:off x="1188720" y="5577840"/>
            <a:ext cx="2743200" cy="502920"/>
          </a:xfrm>
          <a:prstGeom prst="rect">
            <a:avLst/>
          </a:prstGeom>
          <a:noFill/>
          <a:ln/>
        </p:spPr>
        <p:txBody>
          <a:bodyPr wrap="square" lIns="0" tIns="0" rIns="0" bIns="0" rtlCol="0" anchor="ctr"/>
          <a:lstStyle/>
          <a:p>
            <a:pPr algn="l" indent="0" marL="0">
              <a:lnSpc>
                <a:spcPct val="110000"/>
              </a:lnSpc>
              <a:buNone/>
            </a:pPr>
            <a:r>
              <a:rPr lang="en-US" sz="1400" b="1" dirty="0">
                <a:solidFill>
                  <a:schemeClr val="accent2"/>
                </a:solidFill>
              </a:rPr>
              <a:t>모두 아니면</a:t>
            </a:r>
            <a:endParaRPr lang="en-US" sz="1400" dirty="0"/>
          </a:p>
        </p:txBody>
      </p:sp>
      <p:sp>
        <p:nvSpPr>
          <p:cNvPr id="48" name="Shape 41"/>
          <p:cNvSpPr/>
          <p:nvPr/>
        </p:nvSpPr>
        <p:spPr>
          <a:xfrm>
            <a:off x="10332720" y="5623560"/>
            <a:ext cx="1188720" cy="411480"/>
          </a:xfrm>
          <a:prstGeom prst="roundRect">
            <a:avLst>
              <a:gd name="adj" fmla="val 48889"/>
            </a:avLst>
          </a:prstGeom>
          <a:solidFill>
            <a:schemeClr val="accent3"/>
          </a:solidFill>
          <a:ln/>
        </p:spPr>
      </p:sp>
      <p:sp>
        <p:nvSpPr>
          <p:cNvPr id="49" name="Text 42"/>
          <p:cNvSpPr txBox="1"/>
          <p:nvPr/>
        </p:nvSpPr>
        <p:spPr>
          <a:xfrm>
            <a:off x="10332720" y="5623560"/>
            <a:ext cx="1188720" cy="411480"/>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Complex</a:t>
            </a:r>
            <a:endParaRPr lang="en-US" sz="1200" dirty="0"/>
          </a:p>
        </p:txBody>
      </p:sp>
      <p:sp>
        <p:nvSpPr>
          <p:cNvPr id="50" name="Text 43"/>
          <p:cNvSpPr txBox="1"/>
          <p:nvPr/>
        </p:nvSpPr>
        <p:spPr>
          <a:xfrm>
            <a:off x="548640" y="6144768"/>
            <a:ext cx="11091672" cy="256032"/>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임계값은 디스크립터 분포 관찰에 근거한 고정값 — 데이터셋마다 판정 기준이 흔들리지 않도록 범위 고정</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제5장 · 수식 상세 ③ 결함 특징</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결함 형태 특징 6종 — 군집 K*와 MCI의 원료</a:t>
            </a:r>
            <a:endParaRPr lang="en-US" sz="2400" dirty="0"/>
          </a:p>
        </p:txBody>
      </p:sp>
      <p:sp>
        <p:nvSpPr>
          <p:cNvPr id="5" name="Shape 2"/>
          <p:cNvSpPr/>
          <p:nvPr/>
        </p:nvSpPr>
        <p:spPr>
          <a:xfrm>
            <a:off x="548640" y="1188720"/>
            <a:ext cx="11091672" cy="438912"/>
          </a:xfrm>
          <a:prstGeom prst="roundRect">
            <a:avLst>
              <a:gd name="adj" fmla="val 16667"/>
            </a:avLst>
          </a:prstGeom>
          <a:solidFill>
            <a:schemeClr val="bg2"/>
          </a:solidFill>
          <a:ln/>
        </p:spPr>
      </p:sp>
      <p:sp>
        <p:nvSpPr>
          <p:cNvPr id="6" name="Text 3"/>
          <p:cNvSpPr txBox="1"/>
          <p:nvPr/>
        </p:nvSpPr>
        <p:spPr>
          <a:xfrm>
            <a:off x="731520" y="1188720"/>
            <a:ext cx="10789920" cy="438912"/>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결함 마스크 (GT → SAM → Otsu)  →  8-연결 성분 중 최대 blob 1개  →  6개 형태 특징</a:t>
            </a:r>
            <a:endParaRPr lang="en-US" sz="1400" dirty="0"/>
          </a:p>
        </p:txBody>
      </p:sp>
      <p:sp>
        <p:nvSpPr>
          <p:cNvPr id="7" name="Text 4"/>
          <p:cNvSpPr txBox="1"/>
          <p:nvPr/>
        </p:nvSpPr>
        <p:spPr>
          <a:xfrm>
            <a:off x="658368" y="1700784"/>
            <a:ext cx="1920240" cy="274320"/>
          </a:xfrm>
          <a:prstGeom prst="rect">
            <a:avLst/>
          </a:prstGeom>
          <a:noFill/>
          <a:ln/>
        </p:spPr>
        <p:txBody>
          <a:bodyPr wrap="square" lIns="0" tIns="0" rIns="0" bIns="0" rtlCol="0" anchor="t"/>
          <a:lstStyle/>
          <a:p>
            <a:pPr algn="l" indent="0" marL="0">
              <a:lnSpc>
                <a:spcPct val="110000"/>
              </a:lnSpc>
              <a:buNone/>
            </a:pPr>
            <a:r>
              <a:rPr lang="en-US" sz="1200" b="1" dirty="0">
                <a:solidFill>
                  <a:schemeClr val="accent3"/>
                </a:solidFill>
              </a:rPr>
              <a:t>특징</a:t>
            </a:r>
            <a:endParaRPr lang="en-US" sz="1200" dirty="0"/>
          </a:p>
        </p:txBody>
      </p:sp>
      <p:sp>
        <p:nvSpPr>
          <p:cNvPr id="8" name="Text 5"/>
          <p:cNvSpPr txBox="1"/>
          <p:nvPr/>
        </p:nvSpPr>
        <p:spPr>
          <a:xfrm>
            <a:off x="2761488" y="1700784"/>
            <a:ext cx="3108960" cy="274320"/>
          </a:xfrm>
          <a:prstGeom prst="rect">
            <a:avLst/>
          </a:prstGeom>
          <a:noFill/>
          <a:ln/>
        </p:spPr>
        <p:txBody>
          <a:bodyPr wrap="square" lIns="0" tIns="0" rIns="0" bIns="0" rtlCol="0" anchor="t"/>
          <a:lstStyle/>
          <a:p>
            <a:pPr algn="l" indent="0" marL="0">
              <a:lnSpc>
                <a:spcPct val="110000"/>
              </a:lnSpc>
              <a:buNone/>
            </a:pPr>
            <a:r>
              <a:rPr lang="en-US" sz="1200" b="1" dirty="0">
                <a:solidFill>
                  <a:schemeClr val="accent3"/>
                </a:solidFill>
              </a:rPr>
              <a:t>수식</a:t>
            </a:r>
            <a:endParaRPr lang="en-US" sz="1200" dirty="0"/>
          </a:p>
        </p:txBody>
      </p:sp>
      <p:sp>
        <p:nvSpPr>
          <p:cNvPr id="9" name="Text 6"/>
          <p:cNvSpPr txBox="1"/>
          <p:nvPr/>
        </p:nvSpPr>
        <p:spPr>
          <a:xfrm>
            <a:off x="6053328" y="1700784"/>
            <a:ext cx="3383280" cy="274320"/>
          </a:xfrm>
          <a:prstGeom prst="rect">
            <a:avLst/>
          </a:prstGeom>
          <a:noFill/>
          <a:ln/>
        </p:spPr>
        <p:txBody>
          <a:bodyPr wrap="square" lIns="0" tIns="0" rIns="0" bIns="0" rtlCol="0" anchor="t"/>
          <a:lstStyle/>
          <a:p>
            <a:pPr algn="l" indent="0" marL="0">
              <a:lnSpc>
                <a:spcPct val="110000"/>
              </a:lnSpc>
              <a:buNone/>
            </a:pPr>
            <a:r>
              <a:rPr lang="en-US" sz="1200" b="1" dirty="0">
                <a:solidFill>
                  <a:schemeClr val="accent3"/>
                </a:solidFill>
              </a:rPr>
              <a:t>한 줄 설명</a:t>
            </a:r>
            <a:endParaRPr lang="en-US" sz="1200" dirty="0"/>
          </a:p>
        </p:txBody>
      </p:sp>
      <p:sp>
        <p:nvSpPr>
          <p:cNvPr id="10" name="Text 7"/>
          <p:cNvSpPr txBox="1"/>
          <p:nvPr/>
        </p:nvSpPr>
        <p:spPr>
          <a:xfrm>
            <a:off x="9619488" y="1700784"/>
            <a:ext cx="1947672" cy="274320"/>
          </a:xfrm>
          <a:prstGeom prst="rect">
            <a:avLst/>
          </a:prstGeom>
          <a:noFill/>
          <a:ln/>
        </p:spPr>
        <p:txBody>
          <a:bodyPr wrap="square" lIns="0" tIns="0" rIns="0" bIns="0" rtlCol="0" anchor="t"/>
          <a:lstStyle/>
          <a:p>
            <a:pPr algn="l" indent="0" marL="0">
              <a:lnSpc>
                <a:spcPct val="110000"/>
              </a:lnSpc>
              <a:buNone/>
            </a:pPr>
            <a:r>
              <a:rPr lang="en-US" sz="1200" b="1" dirty="0">
                <a:solidFill>
                  <a:schemeClr val="accent3"/>
                </a:solidFill>
              </a:rPr>
              <a:t>낮음 / 높음</a:t>
            </a:r>
            <a:endParaRPr lang="en-US" sz="1200" dirty="0"/>
          </a:p>
        </p:txBody>
      </p:sp>
      <p:sp>
        <p:nvSpPr>
          <p:cNvPr id="11" name="Shape 8"/>
          <p:cNvSpPr/>
          <p:nvPr/>
        </p:nvSpPr>
        <p:spPr>
          <a:xfrm>
            <a:off x="548640" y="2029968"/>
            <a:ext cx="11091672" cy="566928"/>
          </a:xfrm>
          <a:prstGeom prst="roundRect">
            <a:avLst>
              <a:gd name="adj" fmla="val 12903"/>
            </a:avLst>
          </a:prstGeom>
          <a:solidFill>
            <a:schemeClr val="bg2"/>
          </a:solidFill>
          <a:ln/>
        </p:spPr>
      </p:sp>
      <p:sp>
        <p:nvSpPr>
          <p:cNvPr id="12" name="Text 9"/>
          <p:cNvSpPr txBox="1"/>
          <p:nvPr/>
        </p:nvSpPr>
        <p:spPr>
          <a:xfrm>
            <a:off x="685800" y="2066544"/>
            <a:ext cx="1874520" cy="283464"/>
          </a:xfrm>
          <a:prstGeom prst="rect">
            <a:avLst/>
          </a:prstGeom>
          <a:noFill/>
          <a:ln/>
        </p:spPr>
        <p:txBody>
          <a:bodyPr wrap="square" lIns="0" tIns="0" rIns="0" bIns="0" rtlCol="0" anchor="b"/>
          <a:lstStyle/>
          <a:p>
            <a:pPr algn="l" indent="0" marL="0">
              <a:lnSpc>
                <a:spcPct val="110000"/>
              </a:lnSpc>
              <a:buNone/>
            </a:pPr>
            <a:r>
              <a:rPr lang="en-US" sz="1400" b="1" dirty="0">
                <a:solidFill>
                  <a:schemeClr val="tx1"/>
                </a:solidFill>
              </a:rPr>
              <a:t>선형성</a:t>
            </a:r>
            <a:endParaRPr lang="en-US" sz="1400" dirty="0"/>
          </a:p>
        </p:txBody>
      </p:sp>
      <p:sp>
        <p:nvSpPr>
          <p:cNvPr id="13" name="Text 10"/>
          <p:cNvSpPr txBox="1"/>
          <p:nvPr/>
        </p:nvSpPr>
        <p:spPr>
          <a:xfrm>
            <a:off x="685800" y="2336109"/>
            <a:ext cx="1874520" cy="23811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linearity</a:t>
            </a:r>
            <a:endParaRPr lang="en-US" sz="1100" dirty="0"/>
          </a:p>
        </p:txBody>
      </p:sp>
      <p:pic>
        <p:nvPicPr>
          <p:cNvPr id="14" name="Image 0" descr="d1">    </p:cNvPr>
          <p:cNvPicPr>
            <a:picLocks noChangeAspect="1"/>
          </p:cNvPicPr>
          <p:nvPr/>
        </p:nvPicPr>
        <p:blipFill>
          <a:blip r:embed="rId1"/>
          <a:stretch>
            <a:fillRect/>
          </a:stretch>
        </p:blipFill>
        <p:spPr>
          <a:xfrm>
            <a:off x="2761488" y="2109338"/>
            <a:ext cx="697870" cy="408188"/>
          </a:xfrm>
          <a:prstGeom prst="rect">
            <a:avLst/>
          </a:prstGeom>
        </p:spPr>
      </p:pic>
      <p:sp>
        <p:nvSpPr>
          <p:cNvPr id="15" name="Text 11"/>
          <p:cNvSpPr txBox="1"/>
          <p:nvPr/>
        </p:nvSpPr>
        <p:spPr>
          <a:xfrm>
            <a:off x="6053328" y="2029968"/>
            <a:ext cx="3364992" cy="566928"/>
          </a:xfrm>
          <a:prstGeom prst="rect">
            <a:avLst/>
          </a:prstGeom>
          <a:noFill/>
          <a:ln/>
        </p:spPr>
        <p:txBody>
          <a:bodyPr wrap="square" lIns="0" tIns="0" rIns="0" bIns="0" rtlCol="0" anchor="ctr"/>
          <a:lstStyle/>
          <a:p>
            <a:pPr algn="l" indent="0" marL="0">
              <a:lnSpc>
                <a:spcPct val="110000"/>
              </a:lnSpc>
              <a:buNone/>
            </a:pPr>
            <a:r>
              <a:rPr lang="en-US" sz="1300" dirty="0">
                <a:solidFill>
                  <a:schemeClr val="tx1"/>
                </a:solidFill>
              </a:rPr>
              <a:t>한 방향으로 얼마나 뻗었나</a:t>
            </a:r>
            <a:endParaRPr lang="en-US" sz="1300" dirty="0"/>
          </a:p>
        </p:txBody>
      </p:sp>
      <p:sp>
        <p:nvSpPr>
          <p:cNvPr id="16" name="Text 12"/>
          <p:cNvSpPr txBox="1"/>
          <p:nvPr/>
        </p:nvSpPr>
        <p:spPr>
          <a:xfrm>
            <a:off x="9619488" y="2029968"/>
            <a:ext cx="1929384" cy="566928"/>
          </a:xfrm>
          <a:prstGeom prst="rect">
            <a:avLst/>
          </a:prstGeom>
          <a:noFill/>
          <a:ln/>
        </p:spPr>
        <p:txBody>
          <a:bodyPr wrap="square" lIns="0" tIns="0" rIns="0" bIns="0" rtlCol="0" anchor="ctr"/>
          <a:lstStyle/>
          <a:p>
            <a:pPr algn="l" indent="0" marL="0">
              <a:lnSpc>
                <a:spcPct val="110000"/>
              </a:lnSpc>
              <a:buNone/>
            </a:pPr>
            <a:r>
              <a:rPr lang="en-US" sz="1300" dirty="0">
                <a:solidFill>
                  <a:schemeClr val="accent3"/>
                </a:solidFill>
              </a:rPr>
              <a:t>원형 / 선형</a:t>
            </a:r>
            <a:endParaRPr lang="en-US" sz="1300" dirty="0"/>
          </a:p>
        </p:txBody>
      </p:sp>
      <p:sp>
        <p:nvSpPr>
          <p:cNvPr id="17" name="Shape 13"/>
          <p:cNvSpPr/>
          <p:nvPr/>
        </p:nvSpPr>
        <p:spPr>
          <a:xfrm>
            <a:off x="548640" y="2633472"/>
            <a:ext cx="11091672" cy="566928"/>
          </a:xfrm>
          <a:prstGeom prst="roundRect">
            <a:avLst>
              <a:gd name="adj" fmla="val 12903"/>
            </a:avLst>
          </a:prstGeom>
          <a:solidFill>
            <a:schemeClr val="bg1"/>
          </a:solidFill>
          <a:ln w="12700">
            <a:solidFill>
              <a:srgbClr val="D9DEE3"/>
            </a:solidFill>
            <a:prstDash val="solid"/>
          </a:ln>
        </p:spPr>
      </p:sp>
      <p:sp>
        <p:nvSpPr>
          <p:cNvPr id="18" name="Text 14"/>
          <p:cNvSpPr txBox="1"/>
          <p:nvPr/>
        </p:nvSpPr>
        <p:spPr>
          <a:xfrm>
            <a:off x="685800" y="2670048"/>
            <a:ext cx="1874520" cy="283464"/>
          </a:xfrm>
          <a:prstGeom prst="rect">
            <a:avLst/>
          </a:prstGeom>
          <a:noFill/>
          <a:ln/>
        </p:spPr>
        <p:txBody>
          <a:bodyPr wrap="square" lIns="0" tIns="0" rIns="0" bIns="0" rtlCol="0" anchor="b"/>
          <a:lstStyle/>
          <a:p>
            <a:pPr algn="l" indent="0" marL="0">
              <a:lnSpc>
                <a:spcPct val="110000"/>
              </a:lnSpc>
              <a:buNone/>
            </a:pPr>
            <a:r>
              <a:rPr lang="en-US" sz="1400" b="1" dirty="0">
                <a:solidFill>
                  <a:schemeClr val="tx1"/>
                </a:solidFill>
              </a:rPr>
              <a:t>견고도</a:t>
            </a:r>
            <a:endParaRPr lang="en-US" sz="1400" dirty="0"/>
          </a:p>
        </p:txBody>
      </p:sp>
      <p:sp>
        <p:nvSpPr>
          <p:cNvPr id="19" name="Text 15"/>
          <p:cNvSpPr txBox="1"/>
          <p:nvPr/>
        </p:nvSpPr>
        <p:spPr>
          <a:xfrm>
            <a:off x="685800" y="2939613"/>
            <a:ext cx="1874520" cy="23811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solidity</a:t>
            </a:r>
            <a:endParaRPr lang="en-US" sz="1100" dirty="0"/>
          </a:p>
        </p:txBody>
      </p:sp>
      <p:pic>
        <p:nvPicPr>
          <p:cNvPr id="20" name="Image 1" descr="d2">    </p:cNvPr>
          <p:cNvPicPr>
            <a:picLocks noChangeAspect="1"/>
          </p:cNvPicPr>
          <p:nvPr/>
        </p:nvPicPr>
        <p:blipFill>
          <a:blip r:embed="rId2"/>
          <a:stretch>
            <a:fillRect/>
          </a:stretch>
        </p:blipFill>
        <p:spPr>
          <a:xfrm>
            <a:off x="2761488" y="2724363"/>
            <a:ext cx="401604" cy="385145"/>
          </a:xfrm>
          <a:prstGeom prst="rect">
            <a:avLst/>
          </a:prstGeom>
        </p:spPr>
      </p:pic>
      <p:sp>
        <p:nvSpPr>
          <p:cNvPr id="21" name="Text 16"/>
          <p:cNvSpPr txBox="1"/>
          <p:nvPr/>
        </p:nvSpPr>
        <p:spPr>
          <a:xfrm>
            <a:off x="6053328" y="2633472"/>
            <a:ext cx="3364992" cy="566928"/>
          </a:xfrm>
          <a:prstGeom prst="rect">
            <a:avLst/>
          </a:prstGeom>
          <a:noFill/>
          <a:ln/>
        </p:spPr>
        <p:txBody>
          <a:bodyPr wrap="square" lIns="0" tIns="0" rIns="0" bIns="0" rtlCol="0" anchor="ctr"/>
          <a:lstStyle/>
          <a:p>
            <a:pPr algn="l" indent="0" marL="0">
              <a:lnSpc>
                <a:spcPct val="110000"/>
              </a:lnSpc>
              <a:buNone/>
            </a:pPr>
            <a:r>
              <a:rPr lang="en-US" sz="1300" dirty="0">
                <a:solidFill>
                  <a:schemeClr val="tx1"/>
                </a:solidFill>
              </a:rPr>
              <a:t>볼록껍질을 얼마나 채우나</a:t>
            </a:r>
            <a:endParaRPr lang="en-US" sz="1300" dirty="0"/>
          </a:p>
        </p:txBody>
      </p:sp>
      <p:sp>
        <p:nvSpPr>
          <p:cNvPr id="22" name="Text 17"/>
          <p:cNvSpPr txBox="1"/>
          <p:nvPr/>
        </p:nvSpPr>
        <p:spPr>
          <a:xfrm>
            <a:off x="9619488" y="2633472"/>
            <a:ext cx="1929384" cy="566928"/>
          </a:xfrm>
          <a:prstGeom prst="rect">
            <a:avLst/>
          </a:prstGeom>
          <a:noFill/>
          <a:ln/>
        </p:spPr>
        <p:txBody>
          <a:bodyPr wrap="square" lIns="0" tIns="0" rIns="0" bIns="0" rtlCol="0" anchor="ctr"/>
          <a:lstStyle/>
          <a:p>
            <a:pPr algn="l" indent="0" marL="0">
              <a:lnSpc>
                <a:spcPct val="110000"/>
              </a:lnSpc>
              <a:buNone/>
            </a:pPr>
            <a:r>
              <a:rPr lang="en-US" sz="1300" dirty="0">
                <a:solidFill>
                  <a:schemeClr val="accent3"/>
                </a:solidFill>
              </a:rPr>
              <a:t>요철·가지형 / 꽉 찬 볼록</a:t>
            </a:r>
            <a:endParaRPr lang="en-US" sz="1300" dirty="0"/>
          </a:p>
        </p:txBody>
      </p:sp>
      <p:sp>
        <p:nvSpPr>
          <p:cNvPr id="23" name="Shape 18"/>
          <p:cNvSpPr/>
          <p:nvPr/>
        </p:nvSpPr>
        <p:spPr>
          <a:xfrm>
            <a:off x="548640" y="3236976"/>
            <a:ext cx="11091672" cy="566928"/>
          </a:xfrm>
          <a:prstGeom prst="roundRect">
            <a:avLst>
              <a:gd name="adj" fmla="val 12903"/>
            </a:avLst>
          </a:prstGeom>
          <a:solidFill>
            <a:schemeClr val="bg2"/>
          </a:solidFill>
          <a:ln/>
        </p:spPr>
      </p:sp>
      <p:sp>
        <p:nvSpPr>
          <p:cNvPr id="24" name="Text 19"/>
          <p:cNvSpPr txBox="1"/>
          <p:nvPr/>
        </p:nvSpPr>
        <p:spPr>
          <a:xfrm>
            <a:off x="685800" y="3273552"/>
            <a:ext cx="1874520" cy="283464"/>
          </a:xfrm>
          <a:prstGeom prst="rect">
            <a:avLst/>
          </a:prstGeom>
          <a:noFill/>
          <a:ln/>
        </p:spPr>
        <p:txBody>
          <a:bodyPr wrap="square" lIns="0" tIns="0" rIns="0" bIns="0" rtlCol="0" anchor="b"/>
          <a:lstStyle/>
          <a:p>
            <a:pPr algn="l" indent="0" marL="0">
              <a:lnSpc>
                <a:spcPct val="110000"/>
              </a:lnSpc>
              <a:buNone/>
            </a:pPr>
            <a:r>
              <a:rPr lang="en-US" sz="1400" b="1" dirty="0">
                <a:solidFill>
                  <a:schemeClr val="tx1"/>
                </a:solidFill>
              </a:rPr>
              <a:t>면적비</a:t>
            </a:r>
            <a:endParaRPr lang="en-US" sz="1400" dirty="0"/>
          </a:p>
        </p:txBody>
      </p:sp>
      <p:sp>
        <p:nvSpPr>
          <p:cNvPr id="25" name="Text 20"/>
          <p:cNvSpPr txBox="1"/>
          <p:nvPr/>
        </p:nvSpPr>
        <p:spPr>
          <a:xfrm>
            <a:off x="685800" y="3543117"/>
            <a:ext cx="1874520" cy="23811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extent</a:t>
            </a:r>
            <a:endParaRPr lang="en-US" sz="1100" dirty="0"/>
          </a:p>
        </p:txBody>
      </p:sp>
      <p:pic>
        <p:nvPicPr>
          <p:cNvPr id="26" name="Image 2" descr="d3">    </p:cNvPr>
          <p:cNvPicPr>
            <a:picLocks noChangeAspect="1"/>
          </p:cNvPicPr>
          <p:nvPr/>
        </p:nvPicPr>
        <p:blipFill>
          <a:blip r:embed="rId3"/>
          <a:stretch>
            <a:fillRect/>
          </a:stretch>
        </p:blipFill>
        <p:spPr>
          <a:xfrm>
            <a:off x="2761488" y="3327867"/>
            <a:ext cx="423001" cy="385145"/>
          </a:xfrm>
          <a:prstGeom prst="rect">
            <a:avLst/>
          </a:prstGeom>
        </p:spPr>
      </p:pic>
      <p:sp>
        <p:nvSpPr>
          <p:cNvPr id="27" name="Text 21"/>
          <p:cNvSpPr txBox="1"/>
          <p:nvPr/>
        </p:nvSpPr>
        <p:spPr>
          <a:xfrm>
            <a:off x="6053328" y="3236976"/>
            <a:ext cx="3364992" cy="566928"/>
          </a:xfrm>
          <a:prstGeom prst="rect">
            <a:avLst/>
          </a:prstGeom>
          <a:noFill/>
          <a:ln/>
        </p:spPr>
        <p:txBody>
          <a:bodyPr wrap="square" lIns="0" tIns="0" rIns="0" bIns="0" rtlCol="0" anchor="ctr"/>
          <a:lstStyle/>
          <a:p>
            <a:pPr algn="l" indent="0" marL="0">
              <a:lnSpc>
                <a:spcPct val="110000"/>
              </a:lnSpc>
              <a:buNone/>
            </a:pPr>
            <a:r>
              <a:rPr lang="en-US" sz="1300" dirty="0">
                <a:solidFill>
                  <a:schemeClr val="tx1"/>
                </a:solidFill>
              </a:rPr>
              <a:t>외접 사각형을 얼마나 채우나</a:t>
            </a:r>
            <a:endParaRPr lang="en-US" sz="1300" dirty="0"/>
          </a:p>
        </p:txBody>
      </p:sp>
      <p:sp>
        <p:nvSpPr>
          <p:cNvPr id="28" name="Text 22"/>
          <p:cNvSpPr txBox="1"/>
          <p:nvPr/>
        </p:nvSpPr>
        <p:spPr>
          <a:xfrm>
            <a:off x="9619488" y="3236976"/>
            <a:ext cx="1929384" cy="566928"/>
          </a:xfrm>
          <a:prstGeom prst="rect">
            <a:avLst/>
          </a:prstGeom>
          <a:noFill/>
          <a:ln/>
        </p:spPr>
        <p:txBody>
          <a:bodyPr wrap="square" lIns="0" tIns="0" rIns="0" bIns="0" rtlCol="0" anchor="ctr"/>
          <a:lstStyle/>
          <a:p>
            <a:pPr algn="l" indent="0" marL="0">
              <a:lnSpc>
                <a:spcPct val="110000"/>
              </a:lnSpc>
              <a:buNone/>
            </a:pPr>
            <a:r>
              <a:rPr lang="en-US" sz="1300" dirty="0">
                <a:solidFill>
                  <a:schemeClr val="accent3"/>
                </a:solidFill>
              </a:rPr>
              <a:t>흩어진 모양 / 사각형</a:t>
            </a:r>
            <a:endParaRPr lang="en-US" sz="1300" dirty="0"/>
          </a:p>
        </p:txBody>
      </p:sp>
      <p:sp>
        <p:nvSpPr>
          <p:cNvPr id="29" name="Shape 23"/>
          <p:cNvSpPr/>
          <p:nvPr/>
        </p:nvSpPr>
        <p:spPr>
          <a:xfrm>
            <a:off x="548640" y="3840480"/>
            <a:ext cx="11091672" cy="566928"/>
          </a:xfrm>
          <a:prstGeom prst="roundRect">
            <a:avLst>
              <a:gd name="adj" fmla="val 12903"/>
            </a:avLst>
          </a:prstGeom>
          <a:solidFill>
            <a:schemeClr val="bg1"/>
          </a:solidFill>
          <a:ln w="12700">
            <a:solidFill>
              <a:srgbClr val="D9DEE3"/>
            </a:solidFill>
            <a:prstDash val="solid"/>
          </a:ln>
        </p:spPr>
      </p:sp>
      <p:sp>
        <p:nvSpPr>
          <p:cNvPr id="30" name="Text 24"/>
          <p:cNvSpPr txBox="1"/>
          <p:nvPr/>
        </p:nvSpPr>
        <p:spPr>
          <a:xfrm>
            <a:off x="685800" y="3877056"/>
            <a:ext cx="1874520" cy="283464"/>
          </a:xfrm>
          <a:prstGeom prst="rect">
            <a:avLst/>
          </a:prstGeom>
          <a:noFill/>
          <a:ln/>
        </p:spPr>
        <p:txBody>
          <a:bodyPr wrap="square" lIns="0" tIns="0" rIns="0" bIns="0" rtlCol="0" anchor="b"/>
          <a:lstStyle/>
          <a:p>
            <a:pPr algn="l" indent="0" marL="0">
              <a:lnSpc>
                <a:spcPct val="110000"/>
              </a:lnSpc>
              <a:buNone/>
            </a:pPr>
            <a:r>
              <a:rPr lang="en-US" sz="1400" b="1" dirty="0">
                <a:solidFill>
                  <a:schemeClr val="tx1"/>
                </a:solidFill>
              </a:rPr>
              <a:t>종횡비</a:t>
            </a:r>
            <a:endParaRPr lang="en-US" sz="1400" dirty="0"/>
          </a:p>
        </p:txBody>
      </p:sp>
      <p:sp>
        <p:nvSpPr>
          <p:cNvPr id="31" name="Text 25"/>
          <p:cNvSpPr txBox="1"/>
          <p:nvPr/>
        </p:nvSpPr>
        <p:spPr>
          <a:xfrm>
            <a:off x="685800" y="4146621"/>
            <a:ext cx="1874520" cy="23811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aspect_ratio</a:t>
            </a:r>
            <a:endParaRPr lang="en-US" sz="1100" dirty="0"/>
          </a:p>
        </p:txBody>
      </p:sp>
      <p:pic>
        <p:nvPicPr>
          <p:cNvPr id="32" name="Image 3" descr="d4">    </p:cNvPr>
          <p:cNvPicPr>
            <a:picLocks noChangeAspect="1"/>
          </p:cNvPicPr>
          <p:nvPr/>
        </p:nvPicPr>
        <p:blipFill>
          <a:blip r:embed="rId4"/>
          <a:stretch>
            <a:fillRect/>
          </a:stretch>
        </p:blipFill>
        <p:spPr>
          <a:xfrm>
            <a:off x="2761488" y="3895344"/>
            <a:ext cx="1582255" cy="457200"/>
          </a:xfrm>
          <a:prstGeom prst="rect">
            <a:avLst/>
          </a:prstGeom>
        </p:spPr>
      </p:pic>
      <p:sp>
        <p:nvSpPr>
          <p:cNvPr id="33" name="Text 26"/>
          <p:cNvSpPr txBox="1"/>
          <p:nvPr/>
        </p:nvSpPr>
        <p:spPr>
          <a:xfrm>
            <a:off x="6053328" y="3840480"/>
            <a:ext cx="3364992" cy="566928"/>
          </a:xfrm>
          <a:prstGeom prst="rect">
            <a:avLst/>
          </a:prstGeom>
          <a:noFill/>
          <a:ln/>
        </p:spPr>
        <p:txBody>
          <a:bodyPr wrap="square" lIns="0" tIns="0" rIns="0" bIns="0" rtlCol="0" anchor="ctr"/>
          <a:lstStyle/>
          <a:p>
            <a:pPr algn="l" indent="0" marL="0">
              <a:lnSpc>
                <a:spcPct val="110000"/>
              </a:lnSpc>
              <a:buNone/>
            </a:pPr>
            <a:r>
              <a:rPr lang="en-US" sz="1300" dirty="0">
                <a:solidFill>
                  <a:schemeClr val="tx1"/>
                </a:solidFill>
              </a:rPr>
              <a:t>등가 타원이 얼마나 길쭉한가</a:t>
            </a:r>
            <a:endParaRPr lang="en-US" sz="1300" dirty="0"/>
          </a:p>
        </p:txBody>
      </p:sp>
      <p:sp>
        <p:nvSpPr>
          <p:cNvPr id="34" name="Text 27"/>
          <p:cNvSpPr txBox="1"/>
          <p:nvPr/>
        </p:nvSpPr>
        <p:spPr>
          <a:xfrm>
            <a:off x="9619488" y="3840480"/>
            <a:ext cx="1929384" cy="566928"/>
          </a:xfrm>
          <a:prstGeom prst="rect">
            <a:avLst/>
          </a:prstGeom>
          <a:noFill/>
          <a:ln/>
        </p:spPr>
        <p:txBody>
          <a:bodyPr wrap="square" lIns="0" tIns="0" rIns="0" bIns="0" rtlCol="0" anchor="ctr"/>
          <a:lstStyle/>
          <a:p>
            <a:pPr algn="l" indent="0" marL="0">
              <a:lnSpc>
                <a:spcPct val="110000"/>
              </a:lnSpc>
              <a:buNone/>
            </a:pPr>
            <a:r>
              <a:rPr lang="en-US" sz="1300" dirty="0">
                <a:solidFill>
                  <a:schemeClr val="accent3"/>
                </a:solidFill>
              </a:rPr>
              <a:t>1 = 원 / 가늘고 긺</a:t>
            </a:r>
            <a:endParaRPr lang="en-US" sz="1300" dirty="0"/>
          </a:p>
        </p:txBody>
      </p:sp>
      <p:sp>
        <p:nvSpPr>
          <p:cNvPr id="35" name="Shape 28"/>
          <p:cNvSpPr/>
          <p:nvPr/>
        </p:nvSpPr>
        <p:spPr>
          <a:xfrm>
            <a:off x="548640" y="4443984"/>
            <a:ext cx="11091672" cy="566928"/>
          </a:xfrm>
          <a:prstGeom prst="roundRect">
            <a:avLst>
              <a:gd name="adj" fmla="val 12903"/>
            </a:avLst>
          </a:prstGeom>
          <a:solidFill>
            <a:schemeClr val="bg2"/>
          </a:solidFill>
          <a:ln/>
        </p:spPr>
      </p:sp>
      <p:sp>
        <p:nvSpPr>
          <p:cNvPr id="36" name="Text 29"/>
          <p:cNvSpPr txBox="1"/>
          <p:nvPr/>
        </p:nvSpPr>
        <p:spPr>
          <a:xfrm>
            <a:off x="685800" y="4480560"/>
            <a:ext cx="1874520" cy="283464"/>
          </a:xfrm>
          <a:prstGeom prst="rect">
            <a:avLst/>
          </a:prstGeom>
          <a:noFill/>
          <a:ln/>
        </p:spPr>
        <p:txBody>
          <a:bodyPr wrap="square" lIns="0" tIns="0" rIns="0" bIns="0" rtlCol="0" anchor="b"/>
          <a:lstStyle/>
          <a:p>
            <a:pPr algn="l" indent="0" marL="0">
              <a:lnSpc>
                <a:spcPct val="110000"/>
              </a:lnSpc>
              <a:buNone/>
            </a:pPr>
            <a:r>
              <a:rPr lang="en-US" sz="1400" b="1" dirty="0">
                <a:solidFill>
                  <a:schemeClr val="tx1"/>
                </a:solidFill>
              </a:rPr>
              <a:t>이심률</a:t>
            </a:r>
            <a:endParaRPr lang="en-US" sz="1400" dirty="0"/>
          </a:p>
        </p:txBody>
      </p:sp>
      <p:sp>
        <p:nvSpPr>
          <p:cNvPr id="37" name="Text 30"/>
          <p:cNvSpPr txBox="1"/>
          <p:nvPr/>
        </p:nvSpPr>
        <p:spPr>
          <a:xfrm>
            <a:off x="685800" y="4750125"/>
            <a:ext cx="1874520" cy="23811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eccentricity</a:t>
            </a:r>
            <a:endParaRPr lang="en-US" sz="1100" dirty="0"/>
          </a:p>
        </p:txBody>
      </p:sp>
      <p:pic>
        <p:nvPicPr>
          <p:cNvPr id="38" name="Image 4" descr="d5">    </p:cNvPr>
          <p:cNvPicPr>
            <a:picLocks noChangeAspect="1"/>
          </p:cNvPicPr>
          <p:nvPr/>
        </p:nvPicPr>
        <p:blipFill>
          <a:blip r:embed="rId5"/>
          <a:stretch>
            <a:fillRect/>
          </a:stretch>
        </p:blipFill>
        <p:spPr>
          <a:xfrm>
            <a:off x="2761488" y="4574377"/>
            <a:ext cx="1762780" cy="306141"/>
          </a:xfrm>
          <a:prstGeom prst="rect">
            <a:avLst/>
          </a:prstGeom>
        </p:spPr>
      </p:pic>
      <p:sp>
        <p:nvSpPr>
          <p:cNvPr id="39" name="Text 31"/>
          <p:cNvSpPr txBox="1"/>
          <p:nvPr/>
        </p:nvSpPr>
        <p:spPr>
          <a:xfrm>
            <a:off x="6053328" y="4443984"/>
            <a:ext cx="3364992" cy="566928"/>
          </a:xfrm>
          <a:prstGeom prst="rect">
            <a:avLst/>
          </a:prstGeom>
          <a:noFill/>
          <a:ln/>
        </p:spPr>
        <p:txBody>
          <a:bodyPr wrap="square" lIns="0" tIns="0" rIns="0" bIns="0" rtlCol="0" anchor="ctr"/>
          <a:lstStyle/>
          <a:p>
            <a:pPr algn="l" indent="0" marL="0">
              <a:lnSpc>
                <a:spcPct val="110000"/>
              </a:lnSpc>
              <a:buNone/>
            </a:pPr>
            <a:r>
              <a:rPr lang="en-US" sz="1300" dirty="0">
                <a:solidFill>
                  <a:schemeClr val="tx1"/>
                </a:solidFill>
              </a:rPr>
              <a:t>등가 타원이 원에서 얼마나 벗어났나</a:t>
            </a:r>
            <a:endParaRPr lang="en-US" sz="1300" dirty="0"/>
          </a:p>
        </p:txBody>
      </p:sp>
      <p:sp>
        <p:nvSpPr>
          <p:cNvPr id="40" name="Text 32"/>
          <p:cNvSpPr txBox="1"/>
          <p:nvPr/>
        </p:nvSpPr>
        <p:spPr>
          <a:xfrm>
            <a:off x="9619488" y="4443984"/>
            <a:ext cx="1929384" cy="566928"/>
          </a:xfrm>
          <a:prstGeom prst="rect">
            <a:avLst/>
          </a:prstGeom>
          <a:noFill/>
          <a:ln/>
        </p:spPr>
        <p:txBody>
          <a:bodyPr wrap="square" lIns="0" tIns="0" rIns="0" bIns="0" rtlCol="0" anchor="ctr"/>
          <a:lstStyle/>
          <a:p>
            <a:pPr algn="l" indent="0" marL="0">
              <a:lnSpc>
                <a:spcPct val="110000"/>
              </a:lnSpc>
              <a:buNone/>
            </a:pPr>
            <a:r>
              <a:rPr lang="en-US" sz="1300" dirty="0">
                <a:solidFill>
                  <a:schemeClr val="accent3"/>
                </a:solidFill>
              </a:rPr>
              <a:t>원 / 선분</a:t>
            </a:r>
            <a:endParaRPr lang="en-US" sz="1300" dirty="0"/>
          </a:p>
        </p:txBody>
      </p:sp>
      <p:sp>
        <p:nvSpPr>
          <p:cNvPr id="41" name="Shape 33"/>
          <p:cNvSpPr/>
          <p:nvPr/>
        </p:nvSpPr>
        <p:spPr>
          <a:xfrm>
            <a:off x="548640" y="5047488"/>
            <a:ext cx="11091672" cy="566928"/>
          </a:xfrm>
          <a:prstGeom prst="roundRect">
            <a:avLst>
              <a:gd name="adj" fmla="val 12903"/>
            </a:avLst>
          </a:prstGeom>
          <a:solidFill>
            <a:schemeClr val="bg1"/>
          </a:solidFill>
          <a:ln w="12700">
            <a:solidFill>
              <a:srgbClr val="D9DEE3"/>
            </a:solidFill>
            <a:prstDash val="solid"/>
          </a:ln>
        </p:spPr>
      </p:sp>
      <p:sp>
        <p:nvSpPr>
          <p:cNvPr id="42" name="Text 34"/>
          <p:cNvSpPr txBox="1"/>
          <p:nvPr/>
        </p:nvSpPr>
        <p:spPr>
          <a:xfrm>
            <a:off x="685800" y="5084064"/>
            <a:ext cx="1874520" cy="283464"/>
          </a:xfrm>
          <a:prstGeom prst="rect">
            <a:avLst/>
          </a:prstGeom>
          <a:noFill/>
          <a:ln/>
        </p:spPr>
        <p:txBody>
          <a:bodyPr wrap="square" lIns="0" tIns="0" rIns="0" bIns="0" rtlCol="0" anchor="b"/>
          <a:lstStyle/>
          <a:p>
            <a:pPr algn="l" indent="0" marL="0">
              <a:lnSpc>
                <a:spcPct val="110000"/>
              </a:lnSpc>
              <a:buNone/>
            </a:pPr>
            <a:r>
              <a:rPr lang="en-US" sz="1400" b="1" dirty="0">
                <a:solidFill>
                  <a:schemeClr val="tx1"/>
                </a:solidFill>
              </a:rPr>
              <a:t>원형도</a:t>
            </a:r>
            <a:endParaRPr lang="en-US" sz="1400" dirty="0"/>
          </a:p>
        </p:txBody>
      </p:sp>
      <p:sp>
        <p:nvSpPr>
          <p:cNvPr id="43" name="Text 35"/>
          <p:cNvSpPr txBox="1"/>
          <p:nvPr/>
        </p:nvSpPr>
        <p:spPr>
          <a:xfrm>
            <a:off x="685800" y="5353629"/>
            <a:ext cx="1874520" cy="23811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circularity</a:t>
            </a:r>
            <a:endParaRPr lang="en-US" sz="1100" dirty="0"/>
          </a:p>
        </p:txBody>
      </p:sp>
      <p:pic>
        <p:nvPicPr>
          <p:cNvPr id="44" name="Image 5" descr="d6">    </p:cNvPr>
          <p:cNvPicPr>
            <a:picLocks noChangeAspect="1"/>
          </p:cNvPicPr>
          <p:nvPr/>
        </p:nvPicPr>
        <p:blipFill>
          <a:blip r:embed="rId6"/>
          <a:stretch>
            <a:fillRect/>
          </a:stretch>
        </p:blipFill>
        <p:spPr>
          <a:xfrm>
            <a:off x="2761488" y="5141671"/>
            <a:ext cx="362102" cy="378562"/>
          </a:xfrm>
          <a:prstGeom prst="rect">
            <a:avLst/>
          </a:prstGeom>
        </p:spPr>
      </p:pic>
      <p:sp>
        <p:nvSpPr>
          <p:cNvPr id="45" name="Text 36"/>
          <p:cNvSpPr txBox="1"/>
          <p:nvPr/>
        </p:nvSpPr>
        <p:spPr>
          <a:xfrm>
            <a:off x="6053328" y="5047488"/>
            <a:ext cx="3364992" cy="566928"/>
          </a:xfrm>
          <a:prstGeom prst="rect">
            <a:avLst/>
          </a:prstGeom>
          <a:noFill/>
          <a:ln/>
        </p:spPr>
        <p:txBody>
          <a:bodyPr wrap="square" lIns="0" tIns="0" rIns="0" bIns="0" rtlCol="0" anchor="ctr"/>
          <a:lstStyle/>
          <a:p>
            <a:pPr algn="l" indent="0" marL="0">
              <a:lnSpc>
                <a:spcPct val="110000"/>
              </a:lnSpc>
              <a:buNone/>
            </a:pPr>
            <a:r>
              <a:rPr lang="en-US" sz="1300" dirty="0">
                <a:solidFill>
                  <a:schemeClr val="tx1"/>
                </a:solidFill>
              </a:rPr>
              <a:t>둘레 대비 면적이 원에 가까운가</a:t>
            </a:r>
            <a:endParaRPr lang="en-US" sz="1300" dirty="0"/>
          </a:p>
        </p:txBody>
      </p:sp>
      <p:sp>
        <p:nvSpPr>
          <p:cNvPr id="46" name="Text 37"/>
          <p:cNvSpPr txBox="1"/>
          <p:nvPr/>
        </p:nvSpPr>
        <p:spPr>
          <a:xfrm>
            <a:off x="9619488" y="5047488"/>
            <a:ext cx="1929384" cy="566928"/>
          </a:xfrm>
          <a:prstGeom prst="rect">
            <a:avLst/>
          </a:prstGeom>
          <a:noFill/>
          <a:ln/>
        </p:spPr>
        <p:txBody>
          <a:bodyPr wrap="square" lIns="0" tIns="0" rIns="0" bIns="0" rtlCol="0" anchor="ctr"/>
          <a:lstStyle/>
          <a:p>
            <a:pPr algn="l" indent="0" marL="0">
              <a:lnSpc>
                <a:spcPct val="110000"/>
              </a:lnSpc>
              <a:buNone/>
            </a:pPr>
            <a:r>
              <a:rPr lang="en-US" sz="1300" dirty="0">
                <a:solidFill>
                  <a:schemeClr val="accent3"/>
                </a:solidFill>
              </a:rPr>
              <a:t>들쭉날쭉 / 1 = 원</a:t>
            </a:r>
            <a:endParaRPr lang="en-US" sz="1300" dirty="0"/>
          </a:p>
        </p:txBody>
      </p:sp>
      <p:sp>
        <p:nvSpPr>
          <p:cNvPr id="47" name="Shape 38"/>
          <p:cNvSpPr/>
          <p:nvPr/>
        </p:nvSpPr>
        <p:spPr>
          <a:xfrm>
            <a:off x="548640" y="5742432"/>
            <a:ext cx="11091672" cy="502920"/>
          </a:xfrm>
          <a:prstGeom prst="roundRect">
            <a:avLst>
              <a:gd name="adj" fmla="val 14545"/>
            </a:avLst>
          </a:prstGeom>
          <a:solidFill>
            <a:schemeClr val="accent5"/>
          </a:solidFill>
          <a:ln/>
        </p:spPr>
      </p:sp>
      <p:pic>
        <p:nvPicPr>
          <p:cNvPr id="48" name="Image 6" descr="rel">    </p:cNvPr>
          <p:cNvPicPr>
            <a:picLocks noChangeAspect="1"/>
          </p:cNvPicPr>
          <p:nvPr/>
        </p:nvPicPr>
        <p:blipFill>
          <a:blip r:embed="rId7"/>
          <a:stretch>
            <a:fillRect/>
          </a:stretch>
        </p:blipFill>
        <p:spPr>
          <a:xfrm>
            <a:off x="731520" y="5827837"/>
            <a:ext cx="3280136" cy="332110"/>
          </a:xfrm>
          <a:prstGeom prst="rect">
            <a:avLst/>
          </a:prstGeom>
        </p:spPr>
      </p:pic>
      <p:sp>
        <p:nvSpPr>
          <p:cNvPr id="49" name="Text 39"/>
          <p:cNvSpPr txBox="1"/>
          <p:nvPr/>
        </p:nvSpPr>
        <p:spPr>
          <a:xfrm>
            <a:off x="5120640" y="5742432"/>
            <a:ext cx="6400800" cy="502920"/>
          </a:xfrm>
          <a:prstGeom prst="rect">
            <a:avLst/>
          </a:prstGeom>
          <a:noFill/>
          <a:ln/>
        </p:spPr>
        <p:txBody>
          <a:bodyPr wrap="square" lIns="0" tIns="0" rIns="0" bIns="0" rtlCol="0" anchor="ctr"/>
          <a:lstStyle/>
          <a:p>
            <a:pPr algn="l" indent="0" marL="0">
              <a:lnSpc>
                <a:spcPct val="110000"/>
              </a:lnSpc>
              <a:buNone/>
            </a:pPr>
            <a:r>
              <a:rPr lang="en-US" sz="1300" b="1" dirty="0">
                <a:solidFill>
                  <a:schemeClr val="tx1"/>
                </a:solidFill>
              </a:rPr>
              <a:t>→ 1·4·5는 같은 등가 타원의 함수 · 실질 자유도 4축</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제5장 · 수식 상세 ③ 결함 특징</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형태 군집 K*와 MCI</a:t>
            </a:r>
            <a:endParaRPr lang="en-US" sz="2400" dirty="0"/>
          </a:p>
        </p:txBody>
      </p:sp>
      <p:sp>
        <p:nvSpPr>
          <p:cNvPr id="5" name="Text 2"/>
          <p:cNvSpPr txBox="1"/>
          <p:nvPr/>
        </p:nvSpPr>
        <p:spPr>
          <a:xfrm>
            <a:off x="548640" y="1188720"/>
            <a:ext cx="5120640" cy="32004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군집 K* — 호환성 게이트의 행</a:t>
            </a:r>
            <a:endParaRPr lang="en-US" sz="1500" dirty="0"/>
          </a:p>
        </p:txBody>
      </p:sp>
      <p:sp>
        <p:nvSpPr>
          <p:cNvPr id="6" name="Shape 3"/>
          <p:cNvSpPr/>
          <p:nvPr/>
        </p:nvSpPr>
        <p:spPr>
          <a:xfrm>
            <a:off x="548640" y="1600200"/>
            <a:ext cx="5120640" cy="530352"/>
          </a:xfrm>
          <a:prstGeom prst="roundRect">
            <a:avLst>
              <a:gd name="adj" fmla="val 13793"/>
            </a:avLst>
          </a:prstGeom>
          <a:solidFill>
            <a:schemeClr val="bg2"/>
          </a:solidFill>
          <a:ln/>
        </p:spPr>
      </p:sp>
      <p:sp>
        <p:nvSpPr>
          <p:cNvPr id="7" name="Text 4"/>
          <p:cNvSpPr txBox="1"/>
          <p:nvPr/>
        </p:nvSpPr>
        <p:spPr>
          <a:xfrm>
            <a:off x="777240" y="1600200"/>
            <a:ext cx="4754880" cy="530352"/>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X ∈ ℝ^(N×6)  형태 특징 행렬</a:t>
            </a:r>
            <a:endParaRPr lang="en-US" sz="1400" dirty="0"/>
          </a:p>
        </p:txBody>
      </p:sp>
      <p:sp>
        <p:nvSpPr>
          <p:cNvPr id="8" name="Shape 5"/>
          <p:cNvSpPr/>
          <p:nvPr/>
        </p:nvSpPr>
        <p:spPr>
          <a:xfrm>
            <a:off x="3108960" y="2130552"/>
            <a:ext cx="0" cy="182880"/>
          </a:xfrm>
          <a:prstGeom prst="line">
            <a:avLst/>
          </a:prstGeom>
          <a:noFill/>
          <a:ln w="19050">
            <a:solidFill>
              <a:srgbClr val="0E7C7B"/>
            </a:solidFill>
            <a:prstDash val="solid"/>
            <a:tailEnd type="triangle"/>
          </a:ln>
        </p:spPr>
      </p:sp>
      <p:sp>
        <p:nvSpPr>
          <p:cNvPr id="9" name="Shape 6"/>
          <p:cNvSpPr/>
          <p:nvPr/>
        </p:nvSpPr>
        <p:spPr>
          <a:xfrm>
            <a:off x="548640" y="2313432"/>
            <a:ext cx="5120640" cy="530352"/>
          </a:xfrm>
          <a:prstGeom prst="roundRect">
            <a:avLst>
              <a:gd name="adj" fmla="val 13793"/>
            </a:avLst>
          </a:prstGeom>
          <a:solidFill>
            <a:schemeClr val="bg2"/>
          </a:solidFill>
          <a:ln/>
        </p:spPr>
      </p:sp>
      <p:sp>
        <p:nvSpPr>
          <p:cNvPr id="10" name="Text 7"/>
          <p:cNvSpPr txBox="1"/>
          <p:nvPr/>
        </p:nvSpPr>
        <p:spPr>
          <a:xfrm>
            <a:off x="777240" y="2313432"/>
            <a:ext cx="4754880" cy="530352"/>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특징별 min-max → [0, 1]</a:t>
            </a:r>
            <a:endParaRPr lang="en-US" sz="1400" dirty="0"/>
          </a:p>
        </p:txBody>
      </p:sp>
      <p:sp>
        <p:nvSpPr>
          <p:cNvPr id="11" name="Shape 8"/>
          <p:cNvSpPr/>
          <p:nvPr/>
        </p:nvSpPr>
        <p:spPr>
          <a:xfrm>
            <a:off x="3108960" y="2843784"/>
            <a:ext cx="0" cy="182880"/>
          </a:xfrm>
          <a:prstGeom prst="line">
            <a:avLst/>
          </a:prstGeom>
          <a:noFill/>
          <a:ln w="19050">
            <a:solidFill>
              <a:srgbClr val="0E7C7B"/>
            </a:solidFill>
            <a:prstDash val="solid"/>
            <a:tailEnd type="triangle"/>
          </a:ln>
        </p:spPr>
      </p:sp>
      <p:sp>
        <p:nvSpPr>
          <p:cNvPr id="12" name="Shape 9"/>
          <p:cNvSpPr/>
          <p:nvPr/>
        </p:nvSpPr>
        <p:spPr>
          <a:xfrm>
            <a:off x="548640" y="3026664"/>
            <a:ext cx="5120640" cy="530352"/>
          </a:xfrm>
          <a:prstGeom prst="roundRect">
            <a:avLst>
              <a:gd name="adj" fmla="val 13793"/>
            </a:avLst>
          </a:prstGeom>
          <a:solidFill>
            <a:schemeClr val="bg2"/>
          </a:solidFill>
          <a:ln/>
        </p:spPr>
      </p:sp>
      <p:sp>
        <p:nvSpPr>
          <p:cNvPr id="13" name="Text 10"/>
          <p:cNvSpPr txBox="1"/>
          <p:nvPr/>
        </p:nvSpPr>
        <p:spPr>
          <a:xfrm>
            <a:off x="777240" y="3026664"/>
            <a:ext cx="4754880" cy="530352"/>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GaussianMixture  k = 1 … 5</a:t>
            </a:r>
            <a:endParaRPr lang="en-US" sz="1400" dirty="0"/>
          </a:p>
        </p:txBody>
      </p:sp>
      <p:sp>
        <p:nvSpPr>
          <p:cNvPr id="14" name="Shape 11"/>
          <p:cNvSpPr/>
          <p:nvPr/>
        </p:nvSpPr>
        <p:spPr>
          <a:xfrm>
            <a:off x="3108960" y="3557016"/>
            <a:ext cx="0" cy="182880"/>
          </a:xfrm>
          <a:prstGeom prst="line">
            <a:avLst/>
          </a:prstGeom>
          <a:noFill/>
          <a:ln w="19050">
            <a:solidFill>
              <a:srgbClr val="0E7C7B"/>
            </a:solidFill>
            <a:prstDash val="solid"/>
            <a:tailEnd type="triangle"/>
          </a:ln>
        </p:spPr>
      </p:sp>
      <p:sp>
        <p:nvSpPr>
          <p:cNvPr id="15" name="Shape 12"/>
          <p:cNvSpPr/>
          <p:nvPr/>
        </p:nvSpPr>
        <p:spPr>
          <a:xfrm>
            <a:off x="548640" y="3739896"/>
            <a:ext cx="5120640" cy="731520"/>
          </a:xfrm>
          <a:prstGeom prst="roundRect">
            <a:avLst>
              <a:gd name="adj" fmla="val 10000"/>
            </a:avLst>
          </a:prstGeom>
          <a:solidFill>
            <a:schemeClr val="accent4"/>
          </a:solidFill>
          <a:ln/>
        </p:spPr>
      </p:sp>
      <p:pic>
        <p:nvPicPr>
          <p:cNvPr id="16" name="Image 0" descr="kstar">    </p:cNvPr>
          <p:cNvPicPr>
            <a:picLocks noChangeAspect="1"/>
          </p:cNvPicPr>
          <p:nvPr/>
        </p:nvPicPr>
        <p:blipFill>
          <a:blip r:embed="rId1"/>
          <a:stretch>
            <a:fillRect/>
          </a:stretch>
        </p:blipFill>
        <p:spPr>
          <a:xfrm>
            <a:off x="2063801" y="3920490"/>
            <a:ext cx="2090318" cy="370332"/>
          </a:xfrm>
          <a:prstGeom prst="rect">
            <a:avLst/>
          </a:prstGeom>
        </p:spPr>
      </p:pic>
      <p:sp>
        <p:nvSpPr>
          <p:cNvPr id="17" name="Text 13"/>
          <p:cNvSpPr txBox="1"/>
          <p:nvPr/>
        </p:nvSpPr>
        <p:spPr>
          <a:xfrm>
            <a:off x="548640" y="4663440"/>
            <a:ext cx="5120640" cy="1463040"/>
          </a:xfrm>
          <a:prstGeom prst="rect">
            <a:avLst/>
          </a:prstGeom>
          <a:noFill/>
          <a:ln/>
        </p:spPr>
        <p:txBody>
          <a:bodyPr wrap="square" lIns="0" tIns="0" rIns="0" bIns="0" rtlCol="0" anchor="t"/>
          <a:lstStyle/>
          <a:p>
            <a:pPr marL="203200" indent="-203200">
              <a:lnSpc>
                <a:spcPct val="110000"/>
              </a:lnSpc>
              <a:spcAft>
                <a:spcPts val="600"/>
              </a:spcAft>
              <a:buSzPct val="100000"/>
              <a:buChar char="•"/>
            </a:pPr>
            <a:r>
              <a:rPr lang="en-US" sz="1300" dirty="0">
                <a:solidFill>
                  <a:schemeClr val="tx1"/>
                </a:solidFill>
              </a:rPr>
              <a:t>BIC = 적합도 + 모형 복잡도, 낮을수록 좋음</a:t>
            </a:r>
            <a:endParaRPr lang="en-US" sz="1300" dirty="0"/>
          </a:p>
          <a:p>
            <a:pPr marL="203200" indent="-203200">
              <a:lnSpc>
                <a:spcPct val="110000"/>
              </a:lnSpc>
              <a:spcAft>
                <a:spcPts val="600"/>
              </a:spcAft>
              <a:buSzPct val="100000"/>
              <a:buChar char="•"/>
            </a:pPr>
            <a:r>
              <a:rPr lang="en-US" sz="1300" dirty="0">
                <a:solidFill>
                  <a:schemeClr val="tx1"/>
                </a:solidFill>
              </a:rPr>
              <a:t>군집 k → morph_prior P(k)와 호환성 행렬(식 2)의 행</a:t>
            </a:r>
            <a:endParaRPr lang="en-US" sz="1300" dirty="0"/>
          </a:p>
          <a:p>
            <a:pPr marL="203200" indent="-203200">
              <a:lnSpc>
                <a:spcPct val="110000"/>
              </a:lnSpc>
              <a:spcAft>
                <a:spcPts val="600"/>
              </a:spcAft>
              <a:buSzPct val="100000"/>
              <a:buChar char="•"/>
            </a:pPr>
            <a:r>
              <a:rPr lang="en-US" sz="1300" dirty="0">
                <a:solidFill>
                  <a:schemeClr val="tx1"/>
                </a:solidFill>
              </a:rPr>
              <a:t>배경 군집은 z-score, 형태 군집은 min-max</a:t>
            </a:r>
            <a:endParaRPr lang="en-US" sz="1300" dirty="0"/>
          </a:p>
        </p:txBody>
      </p:sp>
      <p:sp>
        <p:nvSpPr>
          <p:cNvPr id="18" name="Text 14"/>
          <p:cNvSpPr txBox="1"/>
          <p:nvPr/>
        </p:nvSpPr>
        <p:spPr>
          <a:xfrm>
            <a:off x="6035040" y="1188720"/>
            <a:ext cx="5605272" cy="32004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MCI 4성분 — CCI와 대칭, min-max 후 동일 가중 평균</a:t>
            </a:r>
            <a:endParaRPr lang="en-US" sz="1500" dirty="0"/>
          </a:p>
        </p:txBody>
      </p:sp>
      <p:sp>
        <p:nvSpPr>
          <p:cNvPr id="19" name="Shape 15"/>
          <p:cNvSpPr/>
          <p:nvPr/>
        </p:nvSpPr>
        <p:spPr>
          <a:xfrm>
            <a:off x="6035040" y="1600200"/>
            <a:ext cx="2697480" cy="2331720"/>
          </a:xfrm>
          <a:prstGeom prst="roundRect">
            <a:avLst>
              <a:gd name="adj" fmla="val 3137"/>
            </a:avLst>
          </a:prstGeom>
          <a:solidFill>
            <a:schemeClr val="bg2"/>
          </a:solidFill>
          <a:ln/>
        </p:spPr>
      </p:sp>
      <p:sp>
        <p:nvSpPr>
          <p:cNvPr id="20" name="Text 16"/>
          <p:cNvSpPr txBox="1"/>
          <p:nvPr/>
        </p:nvSpPr>
        <p:spPr>
          <a:xfrm>
            <a:off x="6217920" y="1737360"/>
            <a:ext cx="2331720" cy="36576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Entropy</a:t>
            </a:r>
            <a:endParaRPr lang="en-US" sz="1500" dirty="0"/>
          </a:p>
        </p:txBody>
      </p:sp>
      <p:sp>
        <p:nvSpPr>
          <p:cNvPr id="21" name="Text 17"/>
          <p:cNvSpPr txBox="1"/>
          <p:nvPr/>
        </p:nvSpPr>
        <p:spPr>
          <a:xfrm>
            <a:off x="6217920" y="2103120"/>
            <a:ext cx="2331720" cy="27432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군집 라벨 분포</a:t>
            </a:r>
            <a:endParaRPr lang="en-US" sz="1100" dirty="0"/>
          </a:p>
        </p:txBody>
      </p:sp>
      <p:pic>
        <p:nvPicPr>
          <p:cNvPr id="22" name="Image 1" descr="ent">    </p:cNvPr>
          <p:cNvPicPr>
            <a:picLocks noChangeAspect="1"/>
          </p:cNvPicPr>
          <p:nvPr/>
        </p:nvPicPr>
        <p:blipFill>
          <a:blip r:embed="rId2"/>
          <a:stretch>
            <a:fillRect/>
          </a:stretch>
        </p:blipFill>
        <p:spPr>
          <a:xfrm>
            <a:off x="6217920" y="2506873"/>
            <a:ext cx="1146658" cy="436077"/>
          </a:xfrm>
          <a:prstGeom prst="rect">
            <a:avLst/>
          </a:prstGeom>
        </p:spPr>
      </p:pic>
      <p:sp>
        <p:nvSpPr>
          <p:cNvPr id="23" name="Text 18"/>
          <p:cNvSpPr txBox="1"/>
          <p:nvPr/>
        </p:nvSpPr>
        <p:spPr>
          <a:xfrm>
            <a:off x="6217920" y="3108960"/>
            <a:ext cx="2331720" cy="73152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군집 크기가 얼마나 고르게 나뉘나</a:t>
            </a:r>
            <a:endParaRPr lang="en-US" sz="1300" dirty="0"/>
          </a:p>
        </p:txBody>
      </p:sp>
      <p:sp>
        <p:nvSpPr>
          <p:cNvPr id="24" name="Shape 19"/>
          <p:cNvSpPr/>
          <p:nvPr/>
        </p:nvSpPr>
        <p:spPr>
          <a:xfrm>
            <a:off x="8942832" y="1600200"/>
            <a:ext cx="2697480" cy="2331720"/>
          </a:xfrm>
          <a:prstGeom prst="roundRect">
            <a:avLst>
              <a:gd name="adj" fmla="val 3137"/>
            </a:avLst>
          </a:prstGeom>
          <a:solidFill>
            <a:schemeClr val="bg2"/>
          </a:solidFill>
          <a:ln/>
        </p:spPr>
      </p:sp>
      <p:sp>
        <p:nvSpPr>
          <p:cNvPr id="25" name="Text 20"/>
          <p:cNvSpPr txBox="1"/>
          <p:nvPr/>
        </p:nvSpPr>
        <p:spPr>
          <a:xfrm>
            <a:off x="9125712" y="1737360"/>
            <a:ext cx="2331720" cy="36576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ValleyCount</a:t>
            </a:r>
            <a:endParaRPr lang="en-US" sz="1500" dirty="0"/>
          </a:p>
        </p:txBody>
      </p:sp>
      <p:sp>
        <p:nvSpPr>
          <p:cNvPr id="26" name="Text 21"/>
          <p:cNvSpPr txBox="1"/>
          <p:nvPr/>
        </p:nvSpPr>
        <p:spPr>
          <a:xfrm>
            <a:off x="9125712" y="2103120"/>
            <a:ext cx="2331720" cy="27432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6특징 히스토그램</a:t>
            </a:r>
            <a:endParaRPr lang="en-US" sz="1100" dirty="0"/>
          </a:p>
        </p:txBody>
      </p:sp>
      <p:sp>
        <p:nvSpPr>
          <p:cNvPr id="27" name="Text 22"/>
          <p:cNvSpPr txBox="1"/>
          <p:nvPr/>
        </p:nvSpPr>
        <p:spPr>
          <a:xfrm>
            <a:off x="9125712" y="3108960"/>
            <a:ext cx="2331720" cy="73152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분포의 골짜기 수 합 — 다봉성</a:t>
            </a:r>
            <a:endParaRPr lang="en-US" sz="1300" dirty="0"/>
          </a:p>
        </p:txBody>
      </p:sp>
      <p:sp>
        <p:nvSpPr>
          <p:cNvPr id="28" name="Shape 23"/>
          <p:cNvSpPr/>
          <p:nvPr/>
        </p:nvSpPr>
        <p:spPr>
          <a:xfrm>
            <a:off x="6035040" y="4114800"/>
            <a:ext cx="2697480" cy="2331720"/>
          </a:xfrm>
          <a:prstGeom prst="roundRect">
            <a:avLst>
              <a:gd name="adj" fmla="val 3137"/>
            </a:avLst>
          </a:prstGeom>
          <a:solidFill>
            <a:schemeClr val="bg2"/>
          </a:solidFill>
          <a:ln/>
        </p:spPr>
      </p:sp>
      <p:sp>
        <p:nvSpPr>
          <p:cNvPr id="29" name="Text 24"/>
          <p:cNvSpPr txBox="1"/>
          <p:nvPr/>
        </p:nvSpPr>
        <p:spPr>
          <a:xfrm>
            <a:off x="6217920" y="4251960"/>
            <a:ext cx="2331720" cy="36576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ClassDiversity</a:t>
            </a:r>
            <a:endParaRPr lang="en-US" sz="1500" dirty="0"/>
          </a:p>
        </p:txBody>
      </p:sp>
      <p:sp>
        <p:nvSpPr>
          <p:cNvPr id="30" name="Text 25"/>
          <p:cNvSpPr txBox="1"/>
          <p:nvPr/>
        </p:nvSpPr>
        <p:spPr>
          <a:xfrm>
            <a:off x="6217920" y="4617720"/>
            <a:ext cx="2331720" cy="27432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GT 결함 클래스</a:t>
            </a:r>
            <a:endParaRPr lang="en-US" sz="1100" dirty="0"/>
          </a:p>
        </p:txBody>
      </p:sp>
      <p:pic>
        <p:nvPicPr>
          <p:cNvPr id="31" name="Image 2" descr="neff">    </p:cNvPr>
          <p:cNvPicPr>
            <a:picLocks noChangeAspect="1"/>
          </p:cNvPicPr>
          <p:nvPr/>
        </p:nvPicPr>
        <p:blipFill>
          <a:blip r:embed="rId3"/>
          <a:stretch>
            <a:fillRect/>
          </a:stretch>
        </p:blipFill>
        <p:spPr>
          <a:xfrm>
            <a:off x="6217920" y="5037110"/>
            <a:ext cx="2070933" cy="404805"/>
          </a:xfrm>
          <a:prstGeom prst="rect">
            <a:avLst/>
          </a:prstGeom>
        </p:spPr>
      </p:pic>
      <p:sp>
        <p:nvSpPr>
          <p:cNvPr id="32" name="Text 26"/>
          <p:cNvSpPr txBox="1"/>
          <p:nvPr/>
        </p:nvSpPr>
        <p:spPr>
          <a:xfrm>
            <a:off x="6217920" y="5623560"/>
            <a:ext cx="2331720" cy="73152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결함 종류의 실효 개수 (Hill 수)</a:t>
            </a:r>
            <a:endParaRPr lang="en-US" sz="1300" dirty="0"/>
          </a:p>
        </p:txBody>
      </p:sp>
      <p:sp>
        <p:nvSpPr>
          <p:cNvPr id="33" name="Shape 27"/>
          <p:cNvSpPr/>
          <p:nvPr/>
        </p:nvSpPr>
        <p:spPr>
          <a:xfrm>
            <a:off x="8942832" y="4114800"/>
            <a:ext cx="2697480" cy="2331720"/>
          </a:xfrm>
          <a:prstGeom prst="roundRect">
            <a:avLst>
              <a:gd name="adj" fmla="val 3137"/>
            </a:avLst>
          </a:prstGeom>
          <a:solidFill>
            <a:schemeClr val="bg2"/>
          </a:solidFill>
          <a:ln/>
        </p:spPr>
      </p:sp>
      <p:sp>
        <p:nvSpPr>
          <p:cNvPr id="34" name="Text 28"/>
          <p:cNvSpPr txBox="1"/>
          <p:nvPr/>
        </p:nvSpPr>
        <p:spPr>
          <a:xfrm>
            <a:off x="9125712" y="4251960"/>
            <a:ext cx="2331720" cy="36576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1 − Silhouette</a:t>
            </a:r>
            <a:endParaRPr lang="en-US" sz="1500" dirty="0"/>
          </a:p>
        </p:txBody>
      </p:sp>
      <p:sp>
        <p:nvSpPr>
          <p:cNvPr id="35" name="Text 29"/>
          <p:cNvSpPr txBox="1"/>
          <p:nvPr/>
        </p:nvSpPr>
        <p:spPr>
          <a:xfrm>
            <a:off x="9125712" y="4617720"/>
            <a:ext cx="2331720" cy="27432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6특징 + 군집 라벨</a:t>
            </a:r>
            <a:endParaRPr lang="en-US" sz="1100" dirty="0"/>
          </a:p>
        </p:txBody>
      </p:sp>
      <p:sp>
        <p:nvSpPr>
          <p:cNvPr id="36" name="Text 30"/>
          <p:cNvSpPr txBox="1"/>
          <p:nvPr/>
        </p:nvSpPr>
        <p:spPr>
          <a:xfrm>
            <a:off x="9125712" y="5623560"/>
            <a:ext cx="2331720" cy="73152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군집이 잘 안 갈릴수록 큼 → 복잡</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제5장 · 수식 상세 ③ 결함 특징</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데이터셋별 MCI·CCI — 서로 다른 두 축</a:t>
            </a:r>
            <a:endParaRPr lang="en-US" sz="2400" dirty="0"/>
          </a:p>
        </p:txBody>
      </p:sp>
      <p:graphicFrame>
        <p:nvGraphicFramePr>
          <p:cNvPr id="5" name="MCI vs CCI chart" descr=""/>
          <p:cNvGraphicFramePr/>
          <p:nvPr/>
        </p:nvGraphicFramePr>
        <p:xfrm>
          <a:off x="548640" y="1234440"/>
          <a:ext cx="7040880" cy="49377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8001000" y="1371600"/>
            <a:ext cx="3639312" cy="1371600"/>
          </a:xfrm>
          <a:prstGeom prst="roundRect">
            <a:avLst>
              <a:gd name="adj" fmla="val 5333"/>
            </a:avLst>
          </a:prstGeom>
          <a:solidFill>
            <a:schemeClr val="bg2"/>
          </a:solidFill>
          <a:ln/>
        </p:spPr>
      </p:sp>
      <p:sp>
        <p:nvSpPr>
          <p:cNvPr id="7" name="Text 3"/>
          <p:cNvSpPr txBox="1"/>
          <p:nvPr/>
        </p:nvSpPr>
        <p:spPr>
          <a:xfrm>
            <a:off x="8229600" y="1554480"/>
            <a:ext cx="3200400" cy="411480"/>
          </a:xfrm>
          <a:prstGeom prst="rect">
            <a:avLst/>
          </a:prstGeom>
          <a:noFill/>
          <a:ln/>
        </p:spPr>
        <p:txBody>
          <a:bodyPr wrap="square" lIns="0" tIns="0" rIns="0" bIns="0" rtlCol="0" anchor="t"/>
          <a:lstStyle/>
          <a:p>
            <a:pPr algn="l" indent="0" marL="0">
              <a:lnSpc>
                <a:spcPct val="110000"/>
              </a:lnSpc>
              <a:buNone/>
            </a:pPr>
            <a:r>
              <a:rPr lang="en-US" sz="1700" b="1" dirty="0">
                <a:solidFill>
                  <a:schemeClr val="accent1"/>
                </a:solidFill>
              </a:rPr>
              <a:t>MVTec Leather</a:t>
            </a:r>
            <a:endParaRPr lang="en-US" sz="1700" dirty="0"/>
          </a:p>
        </p:txBody>
      </p:sp>
      <p:sp>
        <p:nvSpPr>
          <p:cNvPr id="8" name="Text 4"/>
          <p:cNvSpPr txBox="1"/>
          <p:nvPr/>
        </p:nvSpPr>
        <p:spPr>
          <a:xfrm>
            <a:off x="8229600" y="2011680"/>
            <a:ext cx="3200400" cy="640080"/>
          </a:xfrm>
          <a:prstGeom prst="rect">
            <a:avLst/>
          </a:prstGeom>
          <a:noFill/>
          <a:ln/>
        </p:spPr>
        <p:txBody>
          <a:bodyPr wrap="square" lIns="0" tIns="0" rIns="0" bIns="0" rtlCol="0" anchor="t"/>
          <a:lstStyle/>
          <a:p>
            <a:pPr algn="l" indent="0" marL="0">
              <a:lnSpc>
                <a:spcPct val="110000"/>
              </a:lnSpc>
              <a:buNone/>
            </a:pPr>
            <a:r>
              <a:rPr lang="en-US" sz="1400" dirty="0">
                <a:solidFill>
                  <a:schemeClr val="tx1"/>
                </a:solidFill>
              </a:rPr>
              <a:t>MCI 최고 (0.595) · CCI 최저 (0.200)</a:t>
            </a:r>
            <a:endParaRPr lang="en-US" sz="1400" dirty="0"/>
          </a:p>
        </p:txBody>
      </p:sp>
      <p:sp>
        <p:nvSpPr>
          <p:cNvPr id="9" name="Shape 5"/>
          <p:cNvSpPr/>
          <p:nvPr/>
        </p:nvSpPr>
        <p:spPr>
          <a:xfrm>
            <a:off x="8001000" y="2971800"/>
            <a:ext cx="3639312" cy="1371600"/>
          </a:xfrm>
          <a:prstGeom prst="roundRect">
            <a:avLst>
              <a:gd name="adj" fmla="val 5333"/>
            </a:avLst>
          </a:prstGeom>
          <a:solidFill>
            <a:schemeClr val="bg2"/>
          </a:solidFill>
          <a:ln/>
        </p:spPr>
      </p:sp>
      <p:sp>
        <p:nvSpPr>
          <p:cNvPr id="10" name="Text 6"/>
          <p:cNvSpPr txBox="1"/>
          <p:nvPr/>
        </p:nvSpPr>
        <p:spPr>
          <a:xfrm>
            <a:off x="8229600" y="3154680"/>
            <a:ext cx="3200400" cy="411480"/>
          </a:xfrm>
          <a:prstGeom prst="rect">
            <a:avLst/>
          </a:prstGeom>
          <a:noFill/>
          <a:ln/>
        </p:spPr>
        <p:txBody>
          <a:bodyPr wrap="square" lIns="0" tIns="0" rIns="0" bIns="0" rtlCol="0" anchor="t"/>
          <a:lstStyle/>
          <a:p>
            <a:pPr algn="l" indent="0" marL="0">
              <a:lnSpc>
                <a:spcPct val="110000"/>
              </a:lnSpc>
              <a:buNone/>
            </a:pPr>
            <a:r>
              <a:rPr lang="en-US" sz="1700" b="1" dirty="0">
                <a:solidFill>
                  <a:schemeClr val="accent1"/>
                </a:solidFill>
              </a:rPr>
              <a:t>AITeX</a:t>
            </a:r>
            <a:endParaRPr lang="en-US" sz="1700" dirty="0"/>
          </a:p>
        </p:txBody>
      </p:sp>
      <p:sp>
        <p:nvSpPr>
          <p:cNvPr id="11" name="Text 7"/>
          <p:cNvSpPr txBox="1"/>
          <p:nvPr/>
        </p:nvSpPr>
        <p:spPr>
          <a:xfrm>
            <a:off x="8229600" y="3611880"/>
            <a:ext cx="3200400" cy="640080"/>
          </a:xfrm>
          <a:prstGeom prst="rect">
            <a:avLst/>
          </a:prstGeom>
          <a:noFill/>
          <a:ln/>
        </p:spPr>
        <p:txBody>
          <a:bodyPr wrap="square" lIns="0" tIns="0" rIns="0" bIns="0" rtlCol="0" anchor="t"/>
          <a:lstStyle/>
          <a:p>
            <a:pPr algn="l" indent="0" marL="0">
              <a:lnSpc>
                <a:spcPct val="110000"/>
              </a:lnSpc>
              <a:buNone/>
            </a:pPr>
            <a:r>
              <a:rPr lang="en-US" sz="1400" dirty="0">
                <a:solidFill>
                  <a:schemeClr val="tx1"/>
                </a:solidFill>
              </a:rPr>
              <a:t>CCI 최고 (0.440) — 배경이 가장 이질적</a:t>
            </a:r>
            <a:endParaRPr lang="en-US" sz="1400" dirty="0"/>
          </a:p>
        </p:txBody>
      </p:sp>
      <p:sp>
        <p:nvSpPr>
          <p:cNvPr id="12" name="Shape 8"/>
          <p:cNvSpPr/>
          <p:nvPr/>
        </p:nvSpPr>
        <p:spPr>
          <a:xfrm>
            <a:off x="8001000" y="4572000"/>
            <a:ext cx="3639312" cy="1371600"/>
          </a:xfrm>
          <a:prstGeom prst="roundRect">
            <a:avLst>
              <a:gd name="adj" fmla="val 5333"/>
            </a:avLst>
          </a:prstGeom>
          <a:solidFill>
            <a:schemeClr val="accent1"/>
          </a:solidFill>
          <a:ln/>
        </p:spPr>
      </p:sp>
      <p:sp>
        <p:nvSpPr>
          <p:cNvPr id="13" name="Text 9"/>
          <p:cNvSpPr txBox="1"/>
          <p:nvPr/>
        </p:nvSpPr>
        <p:spPr>
          <a:xfrm>
            <a:off x="8229600" y="4754880"/>
            <a:ext cx="3200400" cy="411480"/>
          </a:xfrm>
          <a:prstGeom prst="rect">
            <a:avLst/>
          </a:prstGeom>
          <a:noFill/>
          <a:ln/>
        </p:spPr>
        <p:txBody>
          <a:bodyPr wrap="square" lIns="0" tIns="0" rIns="0" bIns="0" rtlCol="0" anchor="t"/>
          <a:lstStyle/>
          <a:p>
            <a:pPr algn="l" indent="0" marL="0">
              <a:lnSpc>
                <a:spcPct val="110000"/>
              </a:lnSpc>
              <a:buNone/>
            </a:pPr>
            <a:r>
              <a:rPr lang="en-US" sz="1700" b="1" dirty="0">
                <a:solidFill>
                  <a:schemeClr val="bg1"/>
                </a:solidFill>
              </a:rPr>
              <a:t>역상관 경향</a:t>
            </a:r>
            <a:endParaRPr lang="en-US" sz="1700" dirty="0"/>
          </a:p>
        </p:txBody>
      </p:sp>
      <p:sp>
        <p:nvSpPr>
          <p:cNvPr id="14" name="Text 10"/>
          <p:cNvSpPr txBox="1"/>
          <p:nvPr/>
        </p:nvSpPr>
        <p:spPr>
          <a:xfrm>
            <a:off x="8229600" y="5212080"/>
            <a:ext cx="3200400" cy="640080"/>
          </a:xfrm>
          <a:prstGeom prst="rect">
            <a:avLst/>
          </a:prstGeom>
          <a:noFill/>
          <a:ln/>
        </p:spPr>
        <p:txBody>
          <a:bodyPr wrap="square" lIns="0" tIns="0" rIns="0" bIns="0" rtlCol="0" anchor="t"/>
          <a:lstStyle/>
          <a:p>
            <a:pPr algn="l" indent="0" marL="0">
              <a:lnSpc>
                <a:spcPct val="110000"/>
              </a:lnSpc>
              <a:buNone/>
            </a:pPr>
            <a:r>
              <a:rPr lang="en-US" sz="1400" dirty="0">
                <a:solidFill>
                  <a:schemeClr val="accent4"/>
                </a:solidFill>
              </a:rPr>
              <a:t>형태 복잡도와 배경 복잡도는 서로 다른 축</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제5장 · 수식 상세 ③ 결함 특징</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결함 하위유형 — 데이터셋별 P33/P66</a:t>
            </a:r>
            <a:endParaRPr lang="en-US" sz="2400" dirty="0"/>
          </a:p>
        </p:txBody>
      </p:sp>
      <p:sp>
        <p:nvSpPr>
          <p:cNvPr id="5" name="Text 2"/>
          <p:cNvSpPr txBox="1"/>
          <p:nvPr/>
        </p:nvSpPr>
        <p:spPr>
          <a:xfrm>
            <a:off x="548640" y="1188720"/>
            <a:ext cx="5486400" cy="32004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판정 규칙 (α = 종횡비, σ = 견고도)</a:t>
            </a:r>
            <a:endParaRPr lang="en-US" sz="1500" dirty="0"/>
          </a:p>
        </p:txBody>
      </p:sp>
      <p:sp>
        <p:nvSpPr>
          <p:cNvPr id="6" name="Shape 3"/>
          <p:cNvSpPr/>
          <p:nvPr/>
        </p:nvSpPr>
        <p:spPr>
          <a:xfrm>
            <a:off x="548640" y="1600200"/>
            <a:ext cx="5486400" cy="512064"/>
          </a:xfrm>
          <a:prstGeom prst="roundRect">
            <a:avLst>
              <a:gd name="adj" fmla="val 14286"/>
            </a:avLst>
          </a:prstGeom>
          <a:solidFill>
            <a:schemeClr val="bg2"/>
          </a:solidFill>
          <a:ln/>
        </p:spPr>
      </p:sp>
      <p:sp>
        <p:nvSpPr>
          <p:cNvPr id="7" name="Text 4"/>
          <p:cNvSpPr txBox="1"/>
          <p:nvPr/>
        </p:nvSpPr>
        <p:spPr>
          <a:xfrm>
            <a:off x="777240" y="1600200"/>
            <a:ext cx="2194560" cy="512064"/>
          </a:xfrm>
          <a:prstGeom prst="rect">
            <a:avLst/>
          </a:prstGeom>
          <a:noFill/>
          <a:ln/>
        </p:spPr>
        <p:txBody>
          <a:bodyPr wrap="square" lIns="0" tIns="0" rIns="0" bIns="0" rtlCol="0" anchor="ctr"/>
          <a:lstStyle/>
          <a:p>
            <a:pPr algn="l" indent="0" marL="0">
              <a:lnSpc>
                <a:spcPct val="110000"/>
              </a:lnSpc>
              <a:buNone/>
            </a:pPr>
            <a:r>
              <a:rPr lang="en-US" sz="1400" b="1" dirty="0">
                <a:solidFill>
                  <a:schemeClr val="accent1"/>
                </a:solidFill>
              </a:rPr>
              <a:t>linear_scratch</a:t>
            </a:r>
            <a:endParaRPr lang="en-US" sz="1400" dirty="0"/>
          </a:p>
        </p:txBody>
      </p:sp>
      <p:sp>
        <p:nvSpPr>
          <p:cNvPr id="8" name="Text 5"/>
          <p:cNvSpPr txBox="1"/>
          <p:nvPr/>
        </p:nvSpPr>
        <p:spPr>
          <a:xfrm>
            <a:off x="3017520" y="1600200"/>
            <a:ext cx="2926080" cy="512064"/>
          </a:xfrm>
          <a:prstGeom prst="rect">
            <a:avLst/>
          </a:prstGeom>
          <a:noFill/>
          <a:ln/>
        </p:spPr>
        <p:txBody>
          <a:bodyPr wrap="square" lIns="0" tIns="0" rIns="0" bIns="0" rtlCol="0" anchor="ctr"/>
          <a:lstStyle/>
          <a:p>
            <a:pPr algn="l" indent="0" marL="0">
              <a:lnSpc>
                <a:spcPct val="110000"/>
              </a:lnSpc>
              <a:buNone/>
            </a:pPr>
            <a:r>
              <a:rPr lang="en-US" sz="1500" dirty="0">
                <a:solidFill>
                  <a:schemeClr val="tx1"/>
                </a:solidFill>
              </a:rPr>
              <a:t>α &gt; P66</a:t>
            </a:r>
            <a:endParaRPr lang="en-US" sz="1500" dirty="0"/>
          </a:p>
        </p:txBody>
      </p:sp>
      <p:sp>
        <p:nvSpPr>
          <p:cNvPr id="9" name="Shape 6"/>
          <p:cNvSpPr/>
          <p:nvPr/>
        </p:nvSpPr>
        <p:spPr>
          <a:xfrm>
            <a:off x="548640" y="2203704"/>
            <a:ext cx="5486400" cy="512064"/>
          </a:xfrm>
          <a:prstGeom prst="roundRect">
            <a:avLst>
              <a:gd name="adj" fmla="val 14286"/>
            </a:avLst>
          </a:prstGeom>
          <a:solidFill>
            <a:schemeClr val="bg1"/>
          </a:solidFill>
          <a:ln w="12700">
            <a:solidFill>
              <a:srgbClr val="D9DEE3"/>
            </a:solidFill>
            <a:prstDash val="solid"/>
          </a:ln>
        </p:spPr>
      </p:sp>
      <p:sp>
        <p:nvSpPr>
          <p:cNvPr id="10" name="Text 7"/>
          <p:cNvSpPr txBox="1"/>
          <p:nvPr/>
        </p:nvSpPr>
        <p:spPr>
          <a:xfrm>
            <a:off x="777240" y="2203704"/>
            <a:ext cx="2194560" cy="512064"/>
          </a:xfrm>
          <a:prstGeom prst="rect">
            <a:avLst/>
          </a:prstGeom>
          <a:noFill/>
          <a:ln/>
        </p:spPr>
        <p:txBody>
          <a:bodyPr wrap="square" lIns="0" tIns="0" rIns="0" bIns="0" rtlCol="0" anchor="ctr"/>
          <a:lstStyle/>
          <a:p>
            <a:pPr algn="l" indent="0" marL="0">
              <a:lnSpc>
                <a:spcPct val="110000"/>
              </a:lnSpc>
              <a:buNone/>
            </a:pPr>
            <a:r>
              <a:rPr lang="en-US" sz="1400" b="1" dirty="0">
                <a:solidFill>
                  <a:schemeClr val="accent1"/>
                </a:solidFill>
              </a:rPr>
              <a:t>compact_blob</a:t>
            </a:r>
            <a:endParaRPr lang="en-US" sz="1400" dirty="0"/>
          </a:p>
        </p:txBody>
      </p:sp>
      <p:sp>
        <p:nvSpPr>
          <p:cNvPr id="11" name="Text 8"/>
          <p:cNvSpPr txBox="1"/>
          <p:nvPr/>
        </p:nvSpPr>
        <p:spPr>
          <a:xfrm>
            <a:off x="3017520" y="2203704"/>
            <a:ext cx="2926080" cy="512064"/>
          </a:xfrm>
          <a:prstGeom prst="rect">
            <a:avLst/>
          </a:prstGeom>
          <a:noFill/>
          <a:ln/>
        </p:spPr>
        <p:txBody>
          <a:bodyPr wrap="square" lIns="0" tIns="0" rIns="0" bIns="0" rtlCol="0" anchor="ctr"/>
          <a:lstStyle/>
          <a:p>
            <a:pPr algn="l" indent="0" marL="0">
              <a:lnSpc>
                <a:spcPct val="110000"/>
              </a:lnSpc>
              <a:buNone/>
            </a:pPr>
            <a:r>
              <a:rPr lang="en-US" sz="1500" dirty="0">
                <a:solidFill>
                  <a:schemeClr val="tx1"/>
                </a:solidFill>
              </a:rPr>
              <a:t>α &lt; P33  ∧  σ &gt; P66</a:t>
            </a:r>
            <a:endParaRPr lang="en-US" sz="1500" dirty="0"/>
          </a:p>
        </p:txBody>
      </p:sp>
      <p:sp>
        <p:nvSpPr>
          <p:cNvPr id="12" name="Shape 9"/>
          <p:cNvSpPr/>
          <p:nvPr/>
        </p:nvSpPr>
        <p:spPr>
          <a:xfrm>
            <a:off x="548640" y="2807208"/>
            <a:ext cx="5486400" cy="512064"/>
          </a:xfrm>
          <a:prstGeom prst="roundRect">
            <a:avLst>
              <a:gd name="adj" fmla="val 14286"/>
            </a:avLst>
          </a:prstGeom>
          <a:solidFill>
            <a:schemeClr val="bg2"/>
          </a:solidFill>
          <a:ln/>
        </p:spPr>
      </p:sp>
      <p:sp>
        <p:nvSpPr>
          <p:cNvPr id="13" name="Text 10"/>
          <p:cNvSpPr txBox="1"/>
          <p:nvPr/>
        </p:nvSpPr>
        <p:spPr>
          <a:xfrm>
            <a:off x="777240" y="2807208"/>
            <a:ext cx="2194560" cy="512064"/>
          </a:xfrm>
          <a:prstGeom prst="rect">
            <a:avLst/>
          </a:prstGeom>
          <a:noFill/>
          <a:ln/>
        </p:spPr>
        <p:txBody>
          <a:bodyPr wrap="square" lIns="0" tIns="0" rIns="0" bIns="0" rtlCol="0" anchor="ctr"/>
          <a:lstStyle/>
          <a:p>
            <a:pPr algn="l" indent="0" marL="0">
              <a:lnSpc>
                <a:spcPct val="110000"/>
              </a:lnSpc>
              <a:buNone/>
            </a:pPr>
            <a:r>
              <a:rPr lang="en-US" sz="1400" b="1" dirty="0">
                <a:solidFill>
                  <a:schemeClr val="accent1"/>
                </a:solidFill>
              </a:rPr>
              <a:t>irregular</a:t>
            </a:r>
            <a:endParaRPr lang="en-US" sz="1400" dirty="0"/>
          </a:p>
        </p:txBody>
      </p:sp>
      <p:sp>
        <p:nvSpPr>
          <p:cNvPr id="14" name="Text 11"/>
          <p:cNvSpPr txBox="1"/>
          <p:nvPr/>
        </p:nvSpPr>
        <p:spPr>
          <a:xfrm>
            <a:off x="3017520" y="2807208"/>
            <a:ext cx="2926080" cy="512064"/>
          </a:xfrm>
          <a:prstGeom prst="rect">
            <a:avLst/>
          </a:prstGeom>
          <a:noFill/>
          <a:ln/>
        </p:spPr>
        <p:txBody>
          <a:bodyPr wrap="square" lIns="0" tIns="0" rIns="0" bIns="0" rtlCol="0" anchor="ctr"/>
          <a:lstStyle/>
          <a:p>
            <a:pPr algn="l" indent="0" marL="0">
              <a:lnSpc>
                <a:spcPct val="110000"/>
              </a:lnSpc>
              <a:buNone/>
            </a:pPr>
            <a:r>
              <a:rPr lang="en-US" sz="1500" dirty="0">
                <a:solidFill>
                  <a:schemeClr val="tx1"/>
                </a:solidFill>
              </a:rPr>
              <a:t>σ &lt; P33</a:t>
            </a:r>
            <a:endParaRPr lang="en-US" sz="1500" dirty="0"/>
          </a:p>
        </p:txBody>
      </p:sp>
      <p:sp>
        <p:nvSpPr>
          <p:cNvPr id="15" name="Shape 12"/>
          <p:cNvSpPr/>
          <p:nvPr/>
        </p:nvSpPr>
        <p:spPr>
          <a:xfrm>
            <a:off x="548640" y="3410712"/>
            <a:ext cx="5486400" cy="512064"/>
          </a:xfrm>
          <a:prstGeom prst="roundRect">
            <a:avLst>
              <a:gd name="adj" fmla="val 14286"/>
            </a:avLst>
          </a:prstGeom>
          <a:solidFill>
            <a:schemeClr val="bg1"/>
          </a:solidFill>
          <a:ln w="12700">
            <a:solidFill>
              <a:srgbClr val="D9DEE3"/>
            </a:solidFill>
            <a:prstDash val="solid"/>
          </a:ln>
        </p:spPr>
      </p:sp>
      <p:sp>
        <p:nvSpPr>
          <p:cNvPr id="16" name="Text 13"/>
          <p:cNvSpPr txBox="1"/>
          <p:nvPr/>
        </p:nvSpPr>
        <p:spPr>
          <a:xfrm>
            <a:off x="777240" y="3410712"/>
            <a:ext cx="2194560" cy="512064"/>
          </a:xfrm>
          <a:prstGeom prst="rect">
            <a:avLst/>
          </a:prstGeom>
          <a:noFill/>
          <a:ln/>
        </p:spPr>
        <p:txBody>
          <a:bodyPr wrap="square" lIns="0" tIns="0" rIns="0" bIns="0" rtlCol="0" anchor="ctr"/>
          <a:lstStyle/>
          <a:p>
            <a:pPr algn="l" indent="0" marL="0">
              <a:lnSpc>
                <a:spcPct val="110000"/>
              </a:lnSpc>
              <a:buNone/>
            </a:pPr>
            <a:r>
              <a:rPr lang="en-US" sz="1400" b="1" dirty="0">
                <a:solidFill>
                  <a:schemeClr val="accent1"/>
                </a:solidFill>
              </a:rPr>
              <a:t>general</a:t>
            </a:r>
            <a:endParaRPr lang="en-US" sz="1400" dirty="0"/>
          </a:p>
        </p:txBody>
      </p:sp>
      <p:sp>
        <p:nvSpPr>
          <p:cNvPr id="17" name="Text 14"/>
          <p:cNvSpPr txBox="1"/>
          <p:nvPr/>
        </p:nvSpPr>
        <p:spPr>
          <a:xfrm>
            <a:off x="3017520" y="3410712"/>
            <a:ext cx="2926080" cy="512064"/>
          </a:xfrm>
          <a:prstGeom prst="rect">
            <a:avLst/>
          </a:prstGeom>
          <a:noFill/>
          <a:ln/>
        </p:spPr>
        <p:txBody>
          <a:bodyPr wrap="square" lIns="0" tIns="0" rIns="0" bIns="0" rtlCol="0" anchor="ctr"/>
          <a:lstStyle/>
          <a:p>
            <a:pPr algn="l" indent="0" marL="0">
              <a:lnSpc>
                <a:spcPct val="110000"/>
              </a:lnSpc>
              <a:buNone/>
            </a:pPr>
            <a:r>
              <a:rPr lang="en-US" sz="1500" dirty="0">
                <a:solidFill>
                  <a:schemeClr val="tx1"/>
                </a:solidFill>
              </a:rPr>
              <a:t>그 외</a:t>
            </a:r>
            <a:endParaRPr lang="en-US" sz="1500" dirty="0"/>
          </a:p>
        </p:txBody>
      </p:sp>
      <p:sp>
        <p:nvSpPr>
          <p:cNvPr id="18" name="Shape 15"/>
          <p:cNvSpPr/>
          <p:nvPr/>
        </p:nvSpPr>
        <p:spPr>
          <a:xfrm>
            <a:off x="548640" y="4114800"/>
            <a:ext cx="5486400" cy="914400"/>
          </a:xfrm>
          <a:prstGeom prst="roundRect">
            <a:avLst>
              <a:gd name="adj" fmla="val 8000"/>
            </a:avLst>
          </a:prstGeom>
          <a:solidFill>
            <a:schemeClr val="accent5"/>
          </a:solidFill>
          <a:ln/>
        </p:spPr>
      </p:sp>
      <p:sp>
        <p:nvSpPr>
          <p:cNvPr id="19" name="Text 16"/>
          <p:cNvSpPr txBox="1"/>
          <p:nvPr/>
        </p:nvSpPr>
        <p:spPr>
          <a:xfrm>
            <a:off x="731520" y="4187952"/>
            <a:ext cx="914400" cy="274320"/>
          </a:xfrm>
          <a:prstGeom prst="rect">
            <a:avLst/>
          </a:prstGeom>
          <a:noFill/>
          <a:ln/>
        </p:spPr>
        <p:txBody>
          <a:bodyPr wrap="square" lIns="0" tIns="0" rIns="0" bIns="0" rtlCol="0" anchor="t"/>
          <a:lstStyle/>
          <a:p>
            <a:pPr algn="l" indent="0" marL="0">
              <a:lnSpc>
                <a:spcPct val="110000"/>
              </a:lnSpc>
              <a:buNone/>
            </a:pPr>
            <a:r>
              <a:rPr lang="en-US" sz="1200" b="1" dirty="0">
                <a:solidFill>
                  <a:schemeClr val="accent2"/>
                </a:solidFill>
              </a:rPr>
              <a:t>제외</a:t>
            </a:r>
            <a:endParaRPr lang="en-US" sz="1200" dirty="0"/>
          </a:p>
        </p:txBody>
      </p:sp>
      <p:pic>
        <p:nvPicPr>
          <p:cNvPr id="20" name="Image 0" descr="rel">    </p:cNvPr>
          <p:cNvPicPr>
            <a:picLocks noChangeAspect="1"/>
          </p:cNvPicPr>
          <p:nvPr/>
        </p:nvPicPr>
        <p:blipFill>
          <a:blip r:embed="rId1"/>
          <a:stretch>
            <a:fillRect/>
          </a:stretch>
        </p:blipFill>
        <p:spPr>
          <a:xfrm>
            <a:off x="731520" y="4514439"/>
            <a:ext cx="3485144" cy="352867"/>
          </a:xfrm>
          <a:prstGeom prst="rect">
            <a:avLst/>
          </a:prstGeom>
        </p:spPr>
      </p:pic>
      <p:sp>
        <p:nvSpPr>
          <p:cNvPr id="21" name="Shape 17"/>
          <p:cNvSpPr/>
          <p:nvPr/>
        </p:nvSpPr>
        <p:spPr>
          <a:xfrm>
            <a:off x="548640" y="5166360"/>
            <a:ext cx="5486400" cy="1005840"/>
          </a:xfrm>
          <a:prstGeom prst="roundRect">
            <a:avLst>
              <a:gd name="adj" fmla="val 7273"/>
            </a:avLst>
          </a:prstGeom>
          <a:solidFill>
            <a:schemeClr val="bg2"/>
          </a:solidFill>
          <a:ln/>
        </p:spPr>
      </p:sp>
      <p:sp>
        <p:nvSpPr>
          <p:cNvPr id="22" name="Text 18"/>
          <p:cNvSpPr txBox="1"/>
          <p:nvPr/>
        </p:nvSpPr>
        <p:spPr>
          <a:xfrm>
            <a:off x="731520" y="5212080"/>
            <a:ext cx="5120640" cy="914400"/>
          </a:xfrm>
          <a:prstGeom prst="rect">
            <a:avLst/>
          </a:prstGeom>
          <a:noFill/>
          <a:ln/>
        </p:spPr>
        <p:txBody>
          <a:bodyPr wrap="square" lIns="0" tIns="0" rIns="0" bIns="0" rtlCol="0" anchor="ctr"/>
          <a:lstStyle/>
          <a:p>
            <a:pPr algn="l" indent="0" marL="0">
              <a:lnSpc>
                <a:spcPct val="110000"/>
              </a:lnSpc>
              <a:buNone/>
            </a:pPr>
            <a:r>
              <a:rPr lang="en-US" sz="1300" dirty="0">
                <a:solidFill>
                  <a:schemeClr val="tx1"/>
                </a:solidFill>
              </a:rPr>
              <a:t>GMM 군집과 다른 라벨 · elastic-warping 변형 파라미터 선택에 사용 · ROI 순위(식 2·3)에는 미사용</a:t>
            </a:r>
            <a:endParaRPr lang="en-US" sz="1300" dirty="0"/>
          </a:p>
        </p:txBody>
      </p:sp>
      <p:sp>
        <p:nvSpPr>
          <p:cNvPr id="23" name="Text 19"/>
          <p:cNvSpPr txBox="1"/>
          <p:nvPr/>
        </p:nvSpPr>
        <p:spPr>
          <a:xfrm>
            <a:off x="6355080" y="1188720"/>
            <a:ext cx="5303520" cy="32004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데이터셋별 임계값</a:t>
            </a:r>
            <a:endParaRPr 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355080" y="1600200"/>
          <a:ext cx="5285232" cy="914400"/>
        </p:xfrm>
        <a:graphic>
          <a:graphicData uri="http://schemas.openxmlformats.org/drawingml/2006/table">
            <a:tbl>
              <a:tblPr/>
              <a:tblGrid>
                <a:gridCol w="1463040"/>
                <a:gridCol w="896112"/>
                <a:gridCol w="731520"/>
                <a:gridCol w="731520"/>
                <a:gridCol w="731520"/>
                <a:gridCol w="731520"/>
              </a:tblGrid>
              <a:tr h="420624">
                <a:tc>
                  <a:txBody>
                    <a:bodyPr/>
                    <a:lstStyle/>
                    <a:p>
                      <a:pPr algn="l" indent="0" marL="0">
                        <a:buNone/>
                      </a:pPr>
                      <a:r>
                        <a:rPr lang="en-US" sz="1200" b="1" dirty="0">
                          <a:solidFill>
                            <a:schemeClr val="bg1"/>
                          </a:solidFill>
                        </a:rPr>
                        <a:t>Dataset</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r" indent="0" marL="0">
                        <a:buNone/>
                      </a:pPr>
                      <a:r>
                        <a:rPr lang="en-US" sz="1200" b="1" dirty="0">
                          <a:solidFill>
                            <a:schemeClr val="bg1"/>
                          </a:solidFill>
                        </a:rPr>
                        <a:t>Defects</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r" indent="0" marL="0">
                        <a:buNone/>
                      </a:pPr>
                      <a:r>
                        <a:rPr lang="en-US" sz="1200" b="1" dirty="0">
                          <a:solidFill>
                            <a:schemeClr val="bg1"/>
                          </a:solidFill>
                        </a:rPr>
                        <a:t>AR P33</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r" indent="0" marL="0">
                        <a:buNone/>
                      </a:pPr>
                      <a:r>
                        <a:rPr lang="en-US" sz="1200" b="1" dirty="0">
                          <a:solidFill>
                            <a:schemeClr val="bg1"/>
                          </a:solidFill>
                        </a:rPr>
                        <a:t>AR P66</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r" indent="0" marL="0">
                        <a:buNone/>
                      </a:pPr>
                      <a:r>
                        <a:rPr lang="en-US" sz="1200" b="1" dirty="0">
                          <a:solidFill>
                            <a:schemeClr val="bg1"/>
                          </a:solidFill>
                        </a:rPr>
                        <a:t>Sol P33</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r" indent="0" marL="0">
                        <a:buNone/>
                      </a:pPr>
                      <a:r>
                        <a:rPr lang="en-US" sz="1200" b="1" dirty="0">
                          <a:solidFill>
                            <a:schemeClr val="bg1"/>
                          </a:solidFill>
                        </a:rPr>
                        <a:t>Sol P66</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r>
              <a:tr h="420624">
                <a:tc>
                  <a:txBody>
                    <a:bodyPr/>
                    <a:lstStyle/>
                    <a:p>
                      <a:pPr algn="l" indent="0" marL="0">
                        <a:buNone/>
                      </a:pPr>
                      <a:r>
                        <a:rPr lang="en-US" sz="1200" b="1" dirty="0">
                          <a:solidFill>
                            <a:schemeClr val="tx1"/>
                          </a:solidFill>
                        </a:rPr>
                        <a:t>AITeX</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352</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3.13</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200" b="1" dirty="0">
                          <a:solidFill>
                            <a:schemeClr val="accent2"/>
                          </a:solidFill>
                        </a:rPr>
                        <a:t>16.43</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0.648</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0.900</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r>
              <a:tr h="420624">
                <a:tc>
                  <a:txBody>
                    <a:bodyPr/>
                    <a:lstStyle/>
                    <a:p>
                      <a:pPr algn="l" indent="0" marL="0">
                        <a:buNone/>
                      </a:pPr>
                      <a:r>
                        <a:rPr lang="en-US" sz="1200" b="1" dirty="0">
                          <a:solidFill>
                            <a:schemeClr val="tx1"/>
                          </a:solidFill>
                        </a:rPr>
                        <a:t>Kolektor</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52</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4.39</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accent2"/>
                          </a:solidFill>
                        </a:rPr>
                        <a:t>5.73</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0.700</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0.900</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r>
              <a:tr h="420624">
                <a:tc>
                  <a:txBody>
                    <a:bodyPr/>
                    <a:lstStyle/>
                    <a:p>
                      <a:pPr algn="l" indent="0" marL="0">
                        <a:buNone/>
                      </a:pPr>
                      <a:r>
                        <a:rPr lang="en-US" sz="1200" b="1" dirty="0">
                          <a:solidFill>
                            <a:schemeClr val="tx1"/>
                          </a:solidFill>
                        </a:rPr>
                        <a:t>Severstal</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3620</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2.80</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200" b="1" dirty="0">
                          <a:solidFill>
                            <a:schemeClr val="accent2"/>
                          </a:solidFill>
                        </a:rPr>
                        <a:t>7.80</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0.900</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0.965</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r>
              <a:tr h="420624">
                <a:tc>
                  <a:txBody>
                    <a:bodyPr/>
                    <a:lstStyle/>
                    <a:p>
                      <a:pPr algn="l" indent="0" marL="0">
                        <a:buNone/>
                      </a:pPr>
                      <a:r>
                        <a:rPr lang="en-US" sz="1200" b="1" dirty="0">
                          <a:solidFill>
                            <a:schemeClr val="tx1"/>
                          </a:solidFill>
                        </a:rPr>
                        <a:t>MTD</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388</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1.70</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r" indent="0" marL="0">
                        <a:buNone/>
                      </a:pPr>
                      <a:r>
                        <a:rPr lang="en-US" sz="1200" b="1" dirty="0">
                          <a:solidFill>
                            <a:schemeClr val="accent2"/>
                          </a:solidFill>
                        </a:rPr>
                        <a:t>3.62</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0.846</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r" indent="0" marL="0">
                        <a:buNone/>
                      </a:pPr>
                      <a:r>
                        <a:rPr lang="en-US" sz="1200" dirty="0">
                          <a:solidFill>
                            <a:schemeClr val="tx1"/>
                          </a:solidFill>
                        </a:rPr>
                        <a:t>0.934</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r>
              <a:tr h="420624">
                <a:tc>
                  <a:txBody>
                    <a:bodyPr/>
                    <a:lstStyle/>
                    <a:p>
                      <a:pPr algn="l" indent="0" marL="0">
                        <a:buNone/>
                      </a:pPr>
                      <a:r>
                        <a:rPr lang="en-US" sz="1200" b="1" dirty="0">
                          <a:solidFill>
                            <a:schemeClr val="tx1"/>
                          </a:solidFill>
                        </a:rPr>
                        <a:t>MVTec Leather</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92</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1.58</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200" b="1" dirty="0">
                          <a:solidFill>
                            <a:schemeClr val="accent2"/>
                          </a:solidFill>
                        </a:rPr>
                        <a:t>4.03</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0.874</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r" indent="0" marL="0">
                        <a:buNone/>
                      </a:pPr>
                      <a:r>
                        <a:rPr lang="en-US" sz="1200" dirty="0">
                          <a:solidFill>
                            <a:schemeClr val="tx1"/>
                          </a:solidFill>
                        </a:rPr>
                        <a:t>0.954</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r>
            </a:tbl>
          </a:graphicData>
        </a:graphic>
      </p:graphicFrame>
      <p:sp>
        <p:nvSpPr>
          <p:cNvPr id="25" name="Shape 20"/>
          <p:cNvSpPr/>
          <p:nvPr/>
        </p:nvSpPr>
        <p:spPr>
          <a:xfrm>
            <a:off x="6355080" y="4343400"/>
            <a:ext cx="5285232" cy="1828800"/>
          </a:xfrm>
          <a:prstGeom prst="roundRect">
            <a:avLst>
              <a:gd name="adj" fmla="val 4000"/>
            </a:avLst>
          </a:prstGeom>
          <a:solidFill>
            <a:schemeClr val="accent1"/>
          </a:solidFill>
          <a:ln/>
        </p:spPr>
      </p:sp>
      <p:sp>
        <p:nvSpPr>
          <p:cNvPr id="26" name="Text 21"/>
          <p:cNvSpPr txBox="1"/>
          <p:nvPr/>
        </p:nvSpPr>
        <p:spPr>
          <a:xfrm>
            <a:off x="6583680" y="4480560"/>
            <a:ext cx="4846320" cy="457200"/>
          </a:xfrm>
          <a:prstGeom prst="rect">
            <a:avLst/>
          </a:prstGeom>
          <a:noFill/>
          <a:ln/>
        </p:spPr>
        <p:txBody>
          <a:bodyPr wrap="square" lIns="0" tIns="0" rIns="0" bIns="0" rtlCol="0" anchor="t"/>
          <a:lstStyle/>
          <a:p>
            <a:pPr algn="l" indent="0" marL="0">
              <a:lnSpc>
                <a:spcPct val="110000"/>
              </a:lnSpc>
              <a:buNone/>
            </a:pPr>
            <a:r>
              <a:rPr lang="en-US" sz="1900" b="1" dirty="0">
                <a:solidFill>
                  <a:schemeClr val="bg1"/>
                </a:solidFill>
              </a:rPr>
              <a:t>AR P66: 3.62 ~ 16.43</a:t>
            </a:r>
            <a:endParaRPr lang="en-US" sz="1900" dirty="0"/>
          </a:p>
        </p:txBody>
      </p:sp>
      <p:sp>
        <p:nvSpPr>
          <p:cNvPr id="27" name="Text 22"/>
          <p:cNvSpPr txBox="1"/>
          <p:nvPr/>
        </p:nvSpPr>
        <p:spPr>
          <a:xfrm>
            <a:off x="6583680" y="4983480"/>
            <a:ext cx="4846320" cy="1097280"/>
          </a:xfrm>
          <a:prstGeom prst="rect">
            <a:avLst/>
          </a:prstGeom>
          <a:noFill/>
          <a:ln/>
        </p:spPr>
        <p:txBody>
          <a:bodyPr wrap="square" lIns="0" tIns="0" rIns="0" bIns="0" rtlCol="0" anchor="t"/>
          <a:lstStyle/>
          <a:p>
            <a:pPr algn="l" indent="0" marL="0">
              <a:lnSpc>
                <a:spcPct val="110000"/>
              </a:lnSpc>
              <a:buNone/>
            </a:pPr>
            <a:r>
              <a:rPr lang="en-US" sz="1300" dirty="0">
                <a:solidFill>
                  <a:schemeClr val="accent4"/>
                </a:solidFill>
              </a:rPr>
              <a:t>데이터셋 간 4.5배 차이 — 고정 상수가 놓쳤을 형태 변이. P33/P66 ±5 섭동 시 라벨 3.1~14.5%만 변하고 배치는 불변</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제5장 · 수식 상세 ④ 결합·선택</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대칭 호환성 게이트 — 식 (2)</a:t>
            </a:r>
            <a:endParaRPr lang="en-US" sz="2400" dirty="0"/>
          </a:p>
        </p:txBody>
      </p:sp>
      <p:sp>
        <p:nvSpPr>
          <p:cNvPr id="5" name="Shape 2"/>
          <p:cNvSpPr/>
          <p:nvPr/>
        </p:nvSpPr>
        <p:spPr>
          <a:xfrm>
            <a:off x="548640" y="1371600"/>
            <a:ext cx="3108960" cy="1600200"/>
          </a:xfrm>
          <a:prstGeom prst="roundRect">
            <a:avLst>
              <a:gd name="adj" fmla="val 4571"/>
            </a:avLst>
          </a:prstGeom>
          <a:solidFill>
            <a:schemeClr val="bg2"/>
          </a:solidFill>
          <a:ln/>
        </p:spPr>
      </p:sp>
      <p:sp>
        <p:nvSpPr>
          <p:cNvPr id="6" name="Text 3"/>
          <p:cNvSpPr txBox="1"/>
          <p:nvPr/>
        </p:nvSpPr>
        <p:spPr>
          <a:xfrm>
            <a:off x="777240" y="1508760"/>
            <a:ext cx="2743200" cy="274320"/>
          </a:xfrm>
          <a:prstGeom prst="rect">
            <a:avLst/>
          </a:prstGeom>
          <a:noFill/>
          <a:ln/>
        </p:spPr>
        <p:txBody>
          <a:bodyPr wrap="square" lIns="0" tIns="0" rIns="0" bIns="0" rtlCol="0" anchor="t"/>
          <a:lstStyle/>
          <a:p>
            <a:pPr algn="l" indent="0" marL="0">
              <a:lnSpc>
                <a:spcPct val="110000"/>
              </a:lnSpc>
              <a:buNone/>
            </a:pPr>
            <a:r>
              <a:rPr lang="en-US" sz="1200" b="1" dirty="0">
                <a:solidFill>
                  <a:schemeClr val="accent1"/>
                </a:solidFill>
              </a:rPr>
              <a:t>결함 주변 관측</a:t>
            </a:r>
            <a:endParaRPr lang="en-US" sz="1200" dirty="0"/>
          </a:p>
        </p:txBody>
      </p:sp>
      <p:sp>
        <p:nvSpPr>
          <p:cNvPr id="7" name="Text 4"/>
          <p:cNvSpPr txBox="1"/>
          <p:nvPr/>
        </p:nvSpPr>
        <p:spPr>
          <a:xfrm>
            <a:off x="777240" y="1783080"/>
            <a:ext cx="2743200" cy="457200"/>
          </a:xfrm>
          <a:prstGeom prst="rect">
            <a:avLst/>
          </a:prstGeom>
          <a:noFill/>
          <a:ln/>
        </p:spPr>
        <p:txBody>
          <a:bodyPr wrap="square" lIns="0" tIns="0" rIns="0" bIns="0" rtlCol="0" anchor="t"/>
          <a:lstStyle/>
          <a:p>
            <a:pPr algn="l" indent="0" marL="0">
              <a:lnSpc>
                <a:spcPct val="110000"/>
              </a:lnSpc>
              <a:buNone/>
            </a:pPr>
            <a:r>
              <a:rPr lang="en-US" sz="2000" b="1" i="1" dirty="0">
                <a:solidFill>
                  <a:schemeClr val="accent1"/>
                </a:solidFill>
              </a:rPr>
              <a:t>P_def(k, c)</a:t>
            </a:r>
            <a:endParaRPr lang="en-US" sz="2000" dirty="0"/>
          </a:p>
        </p:txBody>
      </p:sp>
      <p:sp>
        <p:nvSpPr>
          <p:cNvPr id="8" name="Text 5"/>
          <p:cNvSpPr txBox="1"/>
          <p:nvPr/>
        </p:nvSpPr>
        <p:spPr>
          <a:xfrm>
            <a:off x="777240" y="2286000"/>
            <a:ext cx="2743200" cy="64008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군집 k 결함 둘레 타일 중</a:t>
            </a:r>
            <a:endParaRPr lang="en-US" sz="1300" dirty="0"/>
          </a:p>
          <a:p>
            <a:pPr algn="l" indent="0" marL="0">
              <a:lnSpc>
                <a:spcPct val="110000"/>
              </a:lnSpc>
              <a:buNone/>
            </a:pPr>
            <a:r>
              <a:rPr lang="en-US" sz="1300" dirty="0">
                <a:solidFill>
                  <a:schemeClr val="tx1"/>
                </a:solidFill>
              </a:rPr>
              <a:t>셀 c의 비율</a:t>
            </a:r>
            <a:endParaRPr lang="en-US" sz="1300" dirty="0"/>
          </a:p>
        </p:txBody>
      </p:sp>
      <p:sp>
        <p:nvSpPr>
          <p:cNvPr id="9" name="Shape 6"/>
          <p:cNvSpPr/>
          <p:nvPr/>
        </p:nvSpPr>
        <p:spPr>
          <a:xfrm>
            <a:off x="3703320" y="2176272"/>
            <a:ext cx="457200" cy="246888"/>
          </a:xfrm>
          <a:prstGeom prst="line">
            <a:avLst/>
          </a:prstGeom>
          <a:noFill/>
          <a:ln w="19050">
            <a:solidFill>
              <a:srgbClr val="5B6B7A"/>
            </a:solidFill>
            <a:prstDash val="solid"/>
            <a:tailEnd type="triangle"/>
          </a:ln>
        </p:spPr>
      </p:sp>
      <p:sp>
        <p:nvSpPr>
          <p:cNvPr id="10" name="Shape 7"/>
          <p:cNvSpPr/>
          <p:nvPr/>
        </p:nvSpPr>
        <p:spPr>
          <a:xfrm>
            <a:off x="548640" y="3200400"/>
            <a:ext cx="3108960" cy="1600200"/>
          </a:xfrm>
          <a:prstGeom prst="roundRect">
            <a:avLst>
              <a:gd name="adj" fmla="val 4571"/>
            </a:avLst>
          </a:prstGeom>
          <a:solidFill>
            <a:schemeClr val="bg2"/>
          </a:solidFill>
          <a:ln/>
        </p:spPr>
      </p:sp>
      <p:sp>
        <p:nvSpPr>
          <p:cNvPr id="11" name="Text 8"/>
          <p:cNvSpPr txBox="1"/>
          <p:nvPr/>
        </p:nvSpPr>
        <p:spPr>
          <a:xfrm>
            <a:off x="777240" y="3337560"/>
            <a:ext cx="2743200" cy="274320"/>
          </a:xfrm>
          <a:prstGeom prst="rect">
            <a:avLst/>
          </a:prstGeom>
          <a:noFill/>
          <a:ln/>
        </p:spPr>
        <p:txBody>
          <a:bodyPr wrap="square" lIns="0" tIns="0" rIns="0" bIns="0" rtlCol="0" anchor="t"/>
          <a:lstStyle/>
          <a:p>
            <a:pPr algn="l" indent="0" marL="0">
              <a:lnSpc>
                <a:spcPct val="110000"/>
              </a:lnSpc>
              <a:buNone/>
            </a:pPr>
            <a:r>
              <a:rPr lang="en-US" sz="1200" b="1" dirty="0">
                <a:solidFill>
                  <a:schemeClr val="accent2"/>
                </a:solidFill>
              </a:rPr>
              <a:t>정상 이미지 존재</a:t>
            </a:r>
            <a:endParaRPr lang="en-US" sz="1200" dirty="0"/>
          </a:p>
        </p:txBody>
      </p:sp>
      <p:sp>
        <p:nvSpPr>
          <p:cNvPr id="12" name="Text 9"/>
          <p:cNvSpPr txBox="1"/>
          <p:nvPr/>
        </p:nvSpPr>
        <p:spPr>
          <a:xfrm>
            <a:off x="777240" y="3611880"/>
            <a:ext cx="2743200" cy="457200"/>
          </a:xfrm>
          <a:prstGeom prst="rect">
            <a:avLst/>
          </a:prstGeom>
          <a:noFill/>
          <a:ln/>
        </p:spPr>
        <p:txBody>
          <a:bodyPr wrap="square" lIns="0" tIns="0" rIns="0" bIns="0" rtlCol="0" anchor="t"/>
          <a:lstStyle/>
          <a:p>
            <a:pPr algn="l" indent="0" marL="0">
              <a:lnSpc>
                <a:spcPct val="110000"/>
              </a:lnSpc>
              <a:buNone/>
            </a:pPr>
            <a:r>
              <a:rPr lang="en-US" sz="2000" b="1" i="1" dirty="0">
                <a:solidFill>
                  <a:schemeClr val="accent2"/>
                </a:solidFill>
              </a:rPr>
              <a:t>P_clean(c)</a:t>
            </a:r>
            <a:endParaRPr lang="en-US" sz="2000" dirty="0"/>
          </a:p>
        </p:txBody>
      </p:sp>
      <p:sp>
        <p:nvSpPr>
          <p:cNvPr id="13" name="Text 10"/>
          <p:cNvSpPr txBox="1"/>
          <p:nvPr/>
        </p:nvSpPr>
        <p:spPr>
          <a:xfrm>
            <a:off x="777240" y="4114800"/>
            <a:ext cx="2743200" cy="640080"/>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정상 이미지 전체 타일 중</a:t>
            </a:r>
            <a:endParaRPr lang="en-US" sz="1300" dirty="0"/>
          </a:p>
          <a:p>
            <a:pPr algn="l" indent="0" marL="0">
              <a:lnSpc>
                <a:spcPct val="110000"/>
              </a:lnSpc>
              <a:buNone/>
            </a:pPr>
            <a:r>
              <a:rPr lang="en-US" sz="1300" dirty="0">
                <a:solidFill>
                  <a:schemeClr val="tx1"/>
                </a:solidFill>
              </a:rPr>
              <a:t>셀 c의 비율</a:t>
            </a:r>
            <a:endParaRPr lang="en-US" sz="1300" dirty="0"/>
          </a:p>
        </p:txBody>
      </p:sp>
      <p:sp>
        <p:nvSpPr>
          <p:cNvPr id="14" name="Shape 11"/>
          <p:cNvSpPr/>
          <p:nvPr/>
        </p:nvSpPr>
        <p:spPr>
          <a:xfrm flipV="1">
            <a:off x="3703320" y="2880360"/>
            <a:ext cx="457200" cy="1124712"/>
          </a:xfrm>
          <a:prstGeom prst="line">
            <a:avLst/>
          </a:prstGeom>
          <a:noFill/>
          <a:ln w="19050">
            <a:solidFill>
              <a:srgbClr val="5B6B7A"/>
            </a:solidFill>
            <a:prstDash val="solid"/>
            <a:tailEnd type="triangle"/>
          </a:ln>
        </p:spPr>
      </p:sp>
      <p:sp>
        <p:nvSpPr>
          <p:cNvPr id="15" name="Shape 12"/>
          <p:cNvSpPr/>
          <p:nvPr/>
        </p:nvSpPr>
        <p:spPr>
          <a:xfrm>
            <a:off x="4206240" y="1874520"/>
            <a:ext cx="3931920" cy="1737360"/>
          </a:xfrm>
          <a:prstGeom prst="roundRect">
            <a:avLst>
              <a:gd name="adj" fmla="val 4211"/>
            </a:avLst>
          </a:prstGeom>
          <a:solidFill>
            <a:schemeClr val="accent4"/>
          </a:solidFill>
          <a:ln/>
          <a:effectLst>
            <a:outerShdw sx="100000" sy="100000" kx="0" ky="0" algn="bl" rotWithShape="0" blurRad="76200" dist="25400" dir="5400000">
              <a:srgbClr val="000000">
                <a:alpha val="12000"/>
              </a:srgbClr>
            </a:outerShdw>
          </a:effectLst>
        </p:spPr>
      </p:sp>
      <p:sp>
        <p:nvSpPr>
          <p:cNvPr id="16" name="Text 13"/>
          <p:cNvSpPr txBox="1"/>
          <p:nvPr/>
        </p:nvSpPr>
        <p:spPr>
          <a:xfrm>
            <a:off x="4389120" y="1965960"/>
            <a:ext cx="3566160" cy="320040"/>
          </a:xfrm>
          <a:prstGeom prst="rect">
            <a:avLst/>
          </a:prstGeom>
          <a:noFill/>
          <a:ln/>
        </p:spPr>
        <p:txBody>
          <a:bodyPr wrap="square" lIns="0" tIns="0" rIns="0" bIns="0" rtlCol="0" anchor="t"/>
          <a:lstStyle/>
          <a:p>
            <a:pPr algn="l" indent="0" marL="0">
              <a:lnSpc>
                <a:spcPct val="110000"/>
              </a:lnSpc>
              <a:buNone/>
            </a:pPr>
            <a:r>
              <a:rPr lang="en-US" sz="1300" b="1" dirty="0">
                <a:solidFill>
                  <a:schemeClr val="accent1"/>
                </a:solidFill>
              </a:rPr>
              <a:t>식 (2) · 기하평균 = AND 결합</a:t>
            </a:r>
            <a:endParaRPr lang="en-US" sz="1300" dirty="0"/>
          </a:p>
        </p:txBody>
      </p:sp>
      <p:pic>
        <p:nvPicPr>
          <p:cNvPr id="17" name="Image 0" descr="ctx">    </p:cNvPr>
          <p:cNvPicPr>
            <a:picLocks noChangeAspect="1"/>
          </p:cNvPicPr>
          <p:nvPr/>
        </p:nvPicPr>
        <p:blipFill>
          <a:blip r:embed="rId1"/>
          <a:stretch>
            <a:fillRect/>
          </a:stretch>
        </p:blipFill>
        <p:spPr>
          <a:xfrm>
            <a:off x="4389120" y="2588817"/>
            <a:ext cx="3566160" cy="354485"/>
          </a:xfrm>
          <a:prstGeom prst="rect">
            <a:avLst/>
          </a:prstGeom>
        </p:spPr>
      </p:pic>
      <p:sp>
        <p:nvSpPr>
          <p:cNvPr id="18" name="Text 14"/>
          <p:cNvSpPr txBox="1"/>
          <p:nvPr/>
        </p:nvSpPr>
        <p:spPr>
          <a:xfrm>
            <a:off x="4389120" y="3154680"/>
            <a:ext cx="3566160" cy="320040"/>
          </a:xfrm>
          <a:prstGeom prst="rect">
            <a:avLst/>
          </a:prstGeom>
          <a:noFill/>
          <a:ln/>
        </p:spPr>
        <p:txBody>
          <a:bodyPr wrap="square" lIns="0" tIns="0" rIns="0" bIns="0" rtlCol="0" anchor="t"/>
          <a:lstStyle/>
          <a:p>
            <a:pPr algn="ctr" indent="0" marL="0">
              <a:lnSpc>
                <a:spcPct val="110000"/>
              </a:lnSpc>
              <a:buNone/>
            </a:pPr>
            <a:r>
              <a:rPr lang="en-US" sz="1300" dirty="0">
                <a:solidFill>
                  <a:schemeClr val="accent3"/>
                </a:solidFill>
              </a:rPr>
              <a:t>한쪽만 높은 후보는 억제</a:t>
            </a:r>
            <a:endParaRPr lang="en-US" sz="1300" dirty="0"/>
          </a:p>
        </p:txBody>
      </p:sp>
      <p:sp>
        <p:nvSpPr>
          <p:cNvPr id="19" name="Shape 15"/>
          <p:cNvSpPr/>
          <p:nvPr/>
        </p:nvSpPr>
        <p:spPr>
          <a:xfrm>
            <a:off x="8183880" y="2743200"/>
            <a:ext cx="457200" cy="0"/>
          </a:xfrm>
          <a:prstGeom prst="line">
            <a:avLst/>
          </a:prstGeom>
          <a:noFill/>
          <a:ln w="19050">
            <a:solidFill>
              <a:srgbClr val="5B6B7A"/>
            </a:solidFill>
            <a:prstDash val="solid"/>
            <a:tailEnd type="triangle"/>
          </a:ln>
        </p:spPr>
      </p:sp>
      <p:sp>
        <p:nvSpPr>
          <p:cNvPr id="20" name="Shape 16"/>
          <p:cNvSpPr/>
          <p:nvPr/>
        </p:nvSpPr>
        <p:spPr>
          <a:xfrm>
            <a:off x="8686800" y="1600200"/>
            <a:ext cx="2953512" cy="2286000"/>
          </a:xfrm>
          <a:prstGeom prst="roundRect">
            <a:avLst>
              <a:gd name="adj" fmla="val 3200"/>
            </a:avLst>
          </a:prstGeom>
          <a:solidFill>
            <a:schemeClr val="tx2"/>
          </a:solidFill>
          <a:ln/>
        </p:spPr>
      </p:sp>
      <p:sp>
        <p:nvSpPr>
          <p:cNvPr id="21" name="Text 17"/>
          <p:cNvSpPr txBox="1"/>
          <p:nvPr/>
        </p:nvSpPr>
        <p:spPr>
          <a:xfrm>
            <a:off x="8869680" y="1783080"/>
            <a:ext cx="2651760" cy="365760"/>
          </a:xfrm>
          <a:prstGeom prst="rect">
            <a:avLst/>
          </a:prstGeom>
          <a:noFill/>
          <a:ln/>
        </p:spPr>
        <p:txBody>
          <a:bodyPr wrap="square" lIns="0" tIns="0" rIns="0" bIns="0" rtlCol="0" anchor="t"/>
          <a:lstStyle/>
          <a:p>
            <a:pPr algn="l" indent="0" marL="0">
              <a:lnSpc>
                <a:spcPct val="110000"/>
              </a:lnSpc>
              <a:buNone/>
            </a:pPr>
            <a:r>
              <a:rPr lang="en-US" sz="1500" b="1" dirty="0">
                <a:solidFill>
                  <a:schemeClr val="bg1"/>
                </a:solidFill>
              </a:rPr>
              <a:t>matrix_symmetric</a:t>
            </a:r>
            <a:endParaRPr lang="en-US" sz="1500" dirty="0"/>
          </a:p>
        </p:txBody>
      </p:sp>
      <p:sp>
        <p:nvSpPr>
          <p:cNvPr id="22" name="Text 18"/>
          <p:cNvSpPr txBox="1"/>
          <p:nvPr/>
        </p:nvSpPr>
        <p:spPr>
          <a:xfrm>
            <a:off x="8869680" y="2286000"/>
            <a:ext cx="2651760" cy="1463040"/>
          </a:xfrm>
          <a:prstGeom prst="rect">
            <a:avLst/>
          </a:prstGeom>
          <a:noFill/>
          <a:ln/>
        </p:spPr>
        <p:txBody>
          <a:bodyPr wrap="square" lIns="0" tIns="0" rIns="0" bIns="0" rtlCol="0" anchor="t"/>
          <a:lstStyle/>
          <a:p>
            <a:pPr marL="203200" indent="-203200">
              <a:lnSpc>
                <a:spcPct val="110000"/>
              </a:lnSpc>
              <a:spcAft>
                <a:spcPts val="600"/>
              </a:spcAft>
              <a:buSzPct val="100000"/>
              <a:buChar char="•"/>
            </a:pPr>
            <a:r>
              <a:rPr lang="en-US" sz="1300" dirty="0">
                <a:solidFill>
                  <a:schemeClr val="bg1"/>
                </a:solidFill>
              </a:rPr>
              <a:t>행 k = 결함 형태 군집</a:t>
            </a:r>
            <a:endParaRPr lang="en-US" sz="1300" dirty="0"/>
          </a:p>
          <a:p>
            <a:pPr marL="203200" indent="-203200">
              <a:lnSpc>
                <a:spcPct val="110000"/>
              </a:lnSpc>
              <a:spcAft>
                <a:spcPts val="600"/>
              </a:spcAft>
              <a:buSzPct val="100000"/>
              <a:buChar char="•"/>
            </a:pPr>
            <a:r>
              <a:rPr lang="en-US" sz="1300" dirty="0">
                <a:solidFill>
                  <a:schemeClr val="bg1"/>
                </a:solidFill>
              </a:rPr>
              <a:t>열 c = 배경 문맥 셀</a:t>
            </a:r>
            <a:endParaRPr lang="en-US" sz="1300" dirty="0"/>
          </a:p>
          <a:p>
            <a:pPr marL="203200" indent="-203200">
              <a:lnSpc>
                <a:spcPct val="110000"/>
              </a:lnSpc>
              <a:spcAft>
                <a:spcPts val="600"/>
              </a:spcAft>
              <a:buSzPct val="100000"/>
              <a:buChar char="•"/>
            </a:pPr>
            <a:r>
              <a:rPr lang="en-US" sz="1300" dirty="0">
                <a:solidFill>
                  <a:schemeClr val="accent4"/>
                </a:solidFill>
              </a:rPr>
              <a:t>행 최댓값 = 1로 저장</a:t>
            </a:r>
            <a:endParaRPr lang="en-US" sz="1300" dirty="0"/>
          </a:p>
        </p:txBody>
      </p:sp>
      <p:sp>
        <p:nvSpPr>
          <p:cNvPr id="23" name="Shape 19"/>
          <p:cNvSpPr/>
          <p:nvPr/>
        </p:nvSpPr>
        <p:spPr>
          <a:xfrm>
            <a:off x="548640" y="5166360"/>
            <a:ext cx="11091672" cy="960120"/>
          </a:xfrm>
          <a:prstGeom prst="roundRect">
            <a:avLst>
              <a:gd name="adj" fmla="val 7619"/>
            </a:avLst>
          </a:prstGeom>
          <a:solidFill>
            <a:schemeClr val="accent1"/>
          </a:solidFill>
          <a:ln/>
        </p:spPr>
      </p:sp>
      <p:sp>
        <p:nvSpPr>
          <p:cNvPr id="24" name="Text 20"/>
          <p:cNvSpPr txBox="1"/>
          <p:nvPr/>
        </p:nvSpPr>
        <p:spPr>
          <a:xfrm>
            <a:off x="868680" y="5294376"/>
            <a:ext cx="10424160" cy="528066"/>
          </a:xfrm>
          <a:prstGeom prst="rect">
            <a:avLst/>
          </a:prstGeom>
          <a:noFill/>
          <a:ln/>
        </p:spPr>
        <p:txBody>
          <a:bodyPr wrap="square" lIns="0" tIns="0" rIns="0" bIns="0" rtlCol="0" anchor="ctr"/>
          <a:lstStyle/>
          <a:p>
            <a:pPr algn="l" indent="0" marL="0">
              <a:lnSpc>
                <a:spcPct val="110000"/>
              </a:lnSpc>
              <a:buNone/>
            </a:pPr>
            <a:r>
              <a:rPr lang="en-US" sz="1800" b="1" dirty="0">
                <a:solidFill>
                  <a:schemeClr val="bg1"/>
                </a:solidFill>
              </a:rPr>
              <a:t>결함 주변에서 실제로 관측되고, 정상 이미지에도 충분히 존재하는 셀만 높은 점수</a:t>
            </a:r>
            <a:endParaRPr lang="en-US" sz="1800" dirty="0"/>
          </a:p>
        </p:txBody>
      </p:sp>
      <p:sp>
        <p:nvSpPr>
          <p:cNvPr id="25" name="Text 21"/>
          <p:cNvSpPr txBox="1"/>
          <p:nvPr/>
        </p:nvSpPr>
        <p:spPr>
          <a:xfrm>
            <a:off x="868680" y="5723230"/>
            <a:ext cx="10424160" cy="345643"/>
          </a:xfrm>
          <a:prstGeom prst="rect">
            <a:avLst/>
          </a:prstGeom>
          <a:noFill/>
          <a:ln/>
        </p:spPr>
        <p:txBody>
          <a:bodyPr wrap="square" lIns="0" tIns="0" rIns="0" bIns="0" rtlCol="0" anchor="t"/>
          <a:lstStyle/>
          <a:p>
            <a:pPr algn="l" indent="0" marL="0">
              <a:lnSpc>
                <a:spcPct val="110000"/>
              </a:lnSpc>
              <a:buNone/>
            </a:pPr>
            <a:r>
              <a:rPr lang="en-US" sz="1400" dirty="0">
                <a:solidFill>
                  <a:schemeClr val="accent4"/>
                </a:solidFill>
              </a:rPr>
              <a:t>→ 이 지도 하나로 결함·배경·자리를 모두 고른다 (식 3·5·6)</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제5장 · 수식 상세 ④ 결합·선택</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선택 3단계 — 결함 → 배경 → 자리</a:t>
            </a:r>
            <a:endParaRPr lang="en-US" sz="2400" dirty="0"/>
          </a:p>
        </p:txBody>
      </p:sp>
      <p:sp>
        <p:nvSpPr>
          <p:cNvPr id="5" name="Shape 2"/>
          <p:cNvSpPr/>
          <p:nvPr/>
        </p:nvSpPr>
        <p:spPr>
          <a:xfrm>
            <a:off x="548640" y="1280160"/>
            <a:ext cx="11091672" cy="1481328"/>
          </a:xfrm>
          <a:prstGeom prst="roundRect">
            <a:avLst>
              <a:gd name="adj" fmla="val 4938"/>
            </a:avLst>
          </a:prstGeom>
          <a:solidFill>
            <a:schemeClr val="bg2"/>
          </a:solidFill>
          <a:ln/>
        </p:spPr>
      </p:sp>
      <p:sp>
        <p:nvSpPr>
          <p:cNvPr id="6" name="Shape 3"/>
          <p:cNvSpPr/>
          <p:nvPr/>
        </p:nvSpPr>
        <p:spPr>
          <a:xfrm>
            <a:off x="731520" y="1463040"/>
            <a:ext cx="502920" cy="502920"/>
          </a:xfrm>
          <a:prstGeom prst="ellipse">
            <a:avLst/>
          </a:prstGeom>
          <a:solidFill>
            <a:schemeClr val="accent1"/>
          </a:solidFill>
          <a:ln/>
        </p:spPr>
      </p:sp>
      <p:sp>
        <p:nvSpPr>
          <p:cNvPr id="7" name="Text 4"/>
          <p:cNvSpPr txBox="1"/>
          <p:nvPr/>
        </p:nvSpPr>
        <p:spPr>
          <a:xfrm>
            <a:off x="731520" y="1463040"/>
            <a:ext cx="502920" cy="502920"/>
          </a:xfrm>
          <a:prstGeom prst="rect">
            <a:avLst/>
          </a:prstGeom>
          <a:noFill/>
          <a:ln/>
        </p:spPr>
        <p:txBody>
          <a:bodyPr wrap="square" lIns="0" tIns="0" rIns="0" bIns="0" rtlCol="0" anchor="ctr"/>
          <a:lstStyle/>
          <a:p>
            <a:pPr algn="ctr" indent="0" marL="0">
              <a:lnSpc>
                <a:spcPct val="110000"/>
              </a:lnSpc>
              <a:buNone/>
            </a:pPr>
            <a:r>
              <a:rPr lang="en-US" sz="1600" b="1" dirty="0">
                <a:solidFill>
                  <a:schemeClr val="bg1"/>
                </a:solidFill>
              </a:rPr>
              <a:t>①</a:t>
            </a:r>
            <a:endParaRPr lang="en-US" sz="1600" dirty="0"/>
          </a:p>
        </p:txBody>
      </p:sp>
      <p:sp>
        <p:nvSpPr>
          <p:cNvPr id="8" name="Text 5"/>
          <p:cNvSpPr txBox="1"/>
          <p:nvPr/>
        </p:nvSpPr>
        <p:spPr>
          <a:xfrm>
            <a:off x="731520" y="2057400"/>
            <a:ext cx="2194560" cy="36576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어떤 결함을 쓸까</a:t>
            </a:r>
            <a:endParaRPr lang="en-US" sz="1500" dirty="0"/>
          </a:p>
        </p:txBody>
      </p:sp>
      <p:sp>
        <p:nvSpPr>
          <p:cNvPr id="9" name="Text 6"/>
          <p:cNvSpPr txBox="1"/>
          <p:nvPr/>
        </p:nvSpPr>
        <p:spPr>
          <a:xfrm>
            <a:off x="731520" y="2377440"/>
            <a:ext cx="2194560" cy="274320"/>
          </a:xfrm>
          <a:prstGeom prst="rect">
            <a:avLst/>
          </a:prstGeom>
          <a:noFill/>
          <a:ln/>
        </p:spPr>
        <p:txBody>
          <a:bodyPr wrap="square" lIns="0" tIns="0" rIns="0" bIns="0" rtlCol="0" anchor="t"/>
          <a:lstStyle/>
          <a:p>
            <a:pPr algn="l" indent="0" marL="0">
              <a:lnSpc>
                <a:spcPct val="110000"/>
              </a:lnSpc>
              <a:buNone/>
            </a:pPr>
            <a:r>
              <a:rPr lang="en-US" sz="1200" dirty="0">
                <a:solidFill>
                  <a:schemeClr val="accent3"/>
                </a:solidFill>
              </a:rPr>
              <a:t>식 (3)</a:t>
            </a:r>
            <a:endParaRPr lang="en-US" sz="1200" dirty="0"/>
          </a:p>
        </p:txBody>
      </p:sp>
      <p:pic>
        <p:nvPicPr>
          <p:cNvPr id="10" name="Image 0" descr="roi">    </p:cNvPr>
          <p:cNvPicPr>
            <a:picLocks noChangeAspect="1"/>
          </p:cNvPicPr>
          <p:nvPr/>
        </p:nvPicPr>
        <p:blipFill>
          <a:blip r:embed="rId1"/>
          <a:stretch>
            <a:fillRect/>
          </a:stretch>
        </p:blipFill>
        <p:spPr>
          <a:xfrm>
            <a:off x="3017520" y="1902729"/>
            <a:ext cx="3504438" cy="236190"/>
          </a:xfrm>
          <a:prstGeom prst="rect">
            <a:avLst/>
          </a:prstGeom>
        </p:spPr>
      </p:pic>
      <p:sp>
        <p:nvSpPr>
          <p:cNvPr id="11" name="Text 7"/>
          <p:cNvSpPr txBox="1"/>
          <p:nvPr/>
        </p:nvSpPr>
        <p:spPr>
          <a:xfrm>
            <a:off x="7498080" y="1444752"/>
            <a:ext cx="4023360" cy="1234440"/>
          </a:xfrm>
          <a:prstGeom prst="rect">
            <a:avLst/>
          </a:prstGeom>
          <a:noFill/>
          <a:ln/>
        </p:spPr>
        <p:txBody>
          <a:bodyPr wrap="square" lIns="0" tIns="0" rIns="0" bIns="0" rtlCol="0" anchor="ctr"/>
          <a:lstStyle/>
          <a:p>
            <a:pPr marL="203200" indent="-203200">
              <a:lnSpc>
                <a:spcPct val="110000"/>
              </a:lnSpc>
              <a:spcAft>
                <a:spcPts val="500"/>
              </a:spcAft>
              <a:buSzPct val="100000"/>
              <a:buChar char="•"/>
            </a:pPr>
            <a:r>
              <a:rPr lang="en-US" sz="1300" dirty="0">
                <a:solidFill>
                  <a:schemeClr val="tx1"/>
                </a:solidFill>
              </a:rPr>
              <a:t>ctx_prior: 결함 자신의 소스 문맥 셀 점수</a:t>
            </a:r>
            <a:endParaRPr lang="en-US" sz="1300" dirty="0"/>
          </a:p>
          <a:p>
            <a:pPr marL="203200" indent="-203200">
              <a:lnSpc>
                <a:spcPct val="110000"/>
              </a:lnSpc>
              <a:spcAft>
                <a:spcPts val="500"/>
              </a:spcAft>
              <a:buSzPct val="100000"/>
              <a:buChar char="•"/>
            </a:pPr>
            <a:r>
              <a:rPr lang="en-US" sz="1300" dirty="0">
                <a:solidFill>
                  <a:schemeClr val="tx1"/>
                </a:solidFill>
              </a:rPr>
              <a:t>morph_prior = P(k) = n_k / N</a:t>
            </a:r>
            <a:endParaRPr lang="en-US" sz="1300" dirty="0"/>
          </a:p>
          <a:p>
            <a:pPr marL="203200" indent="-203200">
              <a:lnSpc>
                <a:spcPct val="110000"/>
              </a:lnSpc>
              <a:spcAft>
                <a:spcPts val="500"/>
              </a:spcAft>
              <a:buSzPct val="100000"/>
              <a:buChar char="•"/>
            </a:pPr>
            <a:r>
              <a:rPr lang="en-US" sz="1300" dirty="0">
                <a:solidFill>
                  <a:schemeClr val="tx1"/>
                </a:solidFill>
              </a:rPr>
              <a:t>pair quota + 클래스 floor → top_k</a:t>
            </a:r>
            <a:endParaRPr lang="en-US" sz="1300" dirty="0"/>
          </a:p>
        </p:txBody>
      </p:sp>
      <p:sp>
        <p:nvSpPr>
          <p:cNvPr id="12" name="Shape 8"/>
          <p:cNvSpPr/>
          <p:nvPr/>
        </p:nvSpPr>
        <p:spPr>
          <a:xfrm>
            <a:off x="982980" y="2761488"/>
            <a:ext cx="0" cy="164592"/>
          </a:xfrm>
          <a:prstGeom prst="line">
            <a:avLst/>
          </a:prstGeom>
          <a:noFill/>
          <a:ln w="19050">
            <a:solidFill>
              <a:srgbClr val="0E7C7B"/>
            </a:solidFill>
            <a:prstDash val="solid"/>
            <a:tailEnd type="triangle"/>
          </a:ln>
        </p:spPr>
      </p:sp>
      <p:sp>
        <p:nvSpPr>
          <p:cNvPr id="13" name="Shape 9"/>
          <p:cNvSpPr/>
          <p:nvPr/>
        </p:nvSpPr>
        <p:spPr>
          <a:xfrm>
            <a:off x="548640" y="2926080"/>
            <a:ext cx="11091672" cy="1481328"/>
          </a:xfrm>
          <a:prstGeom prst="roundRect">
            <a:avLst>
              <a:gd name="adj" fmla="val 4938"/>
            </a:avLst>
          </a:prstGeom>
          <a:solidFill>
            <a:schemeClr val="bg1"/>
          </a:solidFill>
          <a:ln w="12700">
            <a:solidFill>
              <a:srgbClr val="D9DEE3"/>
            </a:solidFill>
            <a:prstDash val="solid"/>
          </a:ln>
        </p:spPr>
      </p:sp>
      <p:sp>
        <p:nvSpPr>
          <p:cNvPr id="14" name="Shape 10"/>
          <p:cNvSpPr/>
          <p:nvPr/>
        </p:nvSpPr>
        <p:spPr>
          <a:xfrm>
            <a:off x="731520" y="3108960"/>
            <a:ext cx="502920" cy="502920"/>
          </a:xfrm>
          <a:prstGeom prst="ellipse">
            <a:avLst/>
          </a:prstGeom>
          <a:solidFill>
            <a:schemeClr val="accent1"/>
          </a:solidFill>
          <a:ln/>
        </p:spPr>
      </p:sp>
      <p:sp>
        <p:nvSpPr>
          <p:cNvPr id="15" name="Text 11"/>
          <p:cNvSpPr txBox="1"/>
          <p:nvPr/>
        </p:nvSpPr>
        <p:spPr>
          <a:xfrm>
            <a:off x="731520" y="3108960"/>
            <a:ext cx="502920" cy="502920"/>
          </a:xfrm>
          <a:prstGeom prst="rect">
            <a:avLst/>
          </a:prstGeom>
          <a:noFill/>
          <a:ln/>
        </p:spPr>
        <p:txBody>
          <a:bodyPr wrap="square" lIns="0" tIns="0" rIns="0" bIns="0" rtlCol="0" anchor="ctr"/>
          <a:lstStyle/>
          <a:p>
            <a:pPr algn="ctr" indent="0" marL="0">
              <a:lnSpc>
                <a:spcPct val="110000"/>
              </a:lnSpc>
              <a:buNone/>
            </a:pPr>
            <a:r>
              <a:rPr lang="en-US" sz="1600" b="1" dirty="0">
                <a:solidFill>
                  <a:schemeClr val="bg1"/>
                </a:solidFill>
              </a:rPr>
              <a:t>②</a:t>
            </a:r>
            <a:endParaRPr lang="en-US" sz="1600" dirty="0"/>
          </a:p>
        </p:txBody>
      </p:sp>
      <p:sp>
        <p:nvSpPr>
          <p:cNvPr id="16" name="Text 12"/>
          <p:cNvSpPr txBox="1"/>
          <p:nvPr/>
        </p:nvSpPr>
        <p:spPr>
          <a:xfrm>
            <a:off x="731520" y="3703320"/>
            <a:ext cx="2194560" cy="36576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어느 배경 이미지에</a:t>
            </a:r>
            <a:endParaRPr lang="en-US" sz="1500" dirty="0"/>
          </a:p>
        </p:txBody>
      </p:sp>
      <p:sp>
        <p:nvSpPr>
          <p:cNvPr id="17" name="Text 13"/>
          <p:cNvSpPr txBox="1"/>
          <p:nvPr/>
        </p:nvSpPr>
        <p:spPr>
          <a:xfrm>
            <a:off x="731520" y="4023360"/>
            <a:ext cx="2194560" cy="274320"/>
          </a:xfrm>
          <a:prstGeom prst="rect">
            <a:avLst/>
          </a:prstGeom>
          <a:noFill/>
          <a:ln/>
        </p:spPr>
        <p:txBody>
          <a:bodyPr wrap="square" lIns="0" tIns="0" rIns="0" bIns="0" rtlCol="0" anchor="t"/>
          <a:lstStyle/>
          <a:p>
            <a:pPr algn="l" indent="0" marL="0">
              <a:lnSpc>
                <a:spcPct val="110000"/>
              </a:lnSpc>
              <a:buNone/>
            </a:pPr>
            <a:r>
              <a:rPr lang="en-US" sz="1200" dirty="0">
                <a:solidFill>
                  <a:schemeClr val="accent3"/>
                </a:solidFill>
              </a:rPr>
              <a:t>식 (4)·(5)</a:t>
            </a:r>
            <a:endParaRPr lang="en-US" sz="1200" dirty="0"/>
          </a:p>
        </p:txBody>
      </p:sp>
      <p:pic>
        <p:nvPicPr>
          <p:cNvPr id="18" name="Image 1" descr="inter">    </p:cNvPr>
          <p:cNvPicPr>
            <a:picLocks noChangeAspect="1"/>
          </p:cNvPicPr>
          <p:nvPr/>
        </p:nvPicPr>
        <p:blipFill>
          <a:blip r:embed="rId2"/>
          <a:stretch>
            <a:fillRect/>
          </a:stretch>
        </p:blipFill>
        <p:spPr>
          <a:xfrm>
            <a:off x="3017520" y="3126334"/>
            <a:ext cx="2395728" cy="422453"/>
          </a:xfrm>
          <a:prstGeom prst="rect">
            <a:avLst/>
          </a:prstGeom>
        </p:spPr>
      </p:pic>
      <p:pic>
        <p:nvPicPr>
          <p:cNvPr id="19" name="Image 2" descr="bg">    </p:cNvPr>
          <p:cNvPicPr>
            <a:picLocks noChangeAspect="1"/>
          </p:cNvPicPr>
          <p:nvPr/>
        </p:nvPicPr>
        <p:blipFill>
          <a:blip r:embed="rId3"/>
          <a:stretch>
            <a:fillRect/>
          </a:stretch>
        </p:blipFill>
        <p:spPr>
          <a:xfrm>
            <a:off x="3017520" y="3910889"/>
            <a:ext cx="3357677" cy="224942"/>
          </a:xfrm>
          <a:prstGeom prst="rect">
            <a:avLst/>
          </a:prstGeom>
        </p:spPr>
      </p:pic>
      <p:sp>
        <p:nvSpPr>
          <p:cNvPr id="20" name="Text 14"/>
          <p:cNvSpPr txBox="1"/>
          <p:nvPr/>
        </p:nvSpPr>
        <p:spPr>
          <a:xfrm>
            <a:off x="7498080" y="3090672"/>
            <a:ext cx="4023360" cy="1234440"/>
          </a:xfrm>
          <a:prstGeom prst="rect">
            <a:avLst/>
          </a:prstGeom>
          <a:noFill/>
          <a:ln/>
        </p:spPr>
        <p:txBody>
          <a:bodyPr wrap="square" lIns="0" tIns="0" rIns="0" bIns="0" rtlCol="0" anchor="ctr"/>
          <a:lstStyle/>
          <a:p>
            <a:pPr marL="203200" indent="-203200">
              <a:lnSpc>
                <a:spcPct val="110000"/>
              </a:lnSpc>
              <a:spcAft>
                <a:spcPts val="500"/>
              </a:spcAft>
              <a:buSzPct val="100000"/>
              <a:buChar char="•"/>
            </a:pPr>
            <a:r>
              <a:rPr lang="en-US" sz="1300" dirty="0">
                <a:solidFill>
                  <a:schemeClr val="tx1"/>
                </a:solidFill>
              </a:rPr>
              <a:t>src_fit · class_fit: 히스토그램 교집합</a:t>
            </a:r>
            <a:endParaRPr lang="en-US" sz="1300" dirty="0"/>
          </a:p>
          <a:p>
            <a:pPr marL="203200" indent="-203200">
              <a:lnSpc>
                <a:spcPct val="110000"/>
              </a:lnSpc>
              <a:spcAft>
                <a:spcPts val="500"/>
              </a:spcAft>
              <a:buSzPct val="100000"/>
              <a:buChar char="•"/>
            </a:pPr>
            <a:r>
              <a:rPr lang="en-US" sz="1300" dirty="0">
                <a:solidFill>
                  <a:schemeClr val="tx1"/>
                </a:solidFill>
              </a:rPr>
              <a:t>size_fit: 왜곡 없이 들어가나</a:t>
            </a:r>
            <a:endParaRPr lang="en-US" sz="1300" dirty="0"/>
          </a:p>
          <a:p>
            <a:pPr marL="203200" indent="-203200">
              <a:lnSpc>
                <a:spcPct val="110000"/>
              </a:lnSpc>
              <a:spcAft>
                <a:spcPts val="500"/>
              </a:spcAft>
              <a:buSzPct val="100000"/>
              <a:buChar char="•"/>
            </a:pPr>
            <a:r>
              <a:rPr lang="en-US" sz="1300" dirty="0">
                <a:solidFill>
                  <a:schemeClr val="tx1"/>
                </a:solidFill>
              </a:rPr>
              <a:t>void 게이트 후 랭킹 · 이미지 선택은 전역</a:t>
            </a:r>
            <a:endParaRPr lang="en-US" sz="1300" dirty="0"/>
          </a:p>
        </p:txBody>
      </p:sp>
      <p:sp>
        <p:nvSpPr>
          <p:cNvPr id="21" name="Shape 15"/>
          <p:cNvSpPr/>
          <p:nvPr/>
        </p:nvSpPr>
        <p:spPr>
          <a:xfrm>
            <a:off x="982980" y="4407408"/>
            <a:ext cx="0" cy="164592"/>
          </a:xfrm>
          <a:prstGeom prst="line">
            <a:avLst/>
          </a:prstGeom>
          <a:noFill/>
          <a:ln w="19050">
            <a:solidFill>
              <a:srgbClr val="0E7C7B"/>
            </a:solidFill>
            <a:prstDash val="solid"/>
            <a:tailEnd type="triangle"/>
          </a:ln>
        </p:spPr>
      </p:sp>
      <p:sp>
        <p:nvSpPr>
          <p:cNvPr id="22" name="Shape 16"/>
          <p:cNvSpPr/>
          <p:nvPr/>
        </p:nvSpPr>
        <p:spPr>
          <a:xfrm>
            <a:off x="548640" y="4572000"/>
            <a:ext cx="11091672" cy="1481328"/>
          </a:xfrm>
          <a:prstGeom prst="roundRect">
            <a:avLst>
              <a:gd name="adj" fmla="val 4938"/>
            </a:avLst>
          </a:prstGeom>
          <a:solidFill>
            <a:schemeClr val="bg2"/>
          </a:solidFill>
          <a:ln/>
        </p:spPr>
      </p:sp>
      <p:sp>
        <p:nvSpPr>
          <p:cNvPr id="23" name="Shape 17"/>
          <p:cNvSpPr/>
          <p:nvPr/>
        </p:nvSpPr>
        <p:spPr>
          <a:xfrm>
            <a:off x="731520" y="4754880"/>
            <a:ext cx="502920" cy="502920"/>
          </a:xfrm>
          <a:prstGeom prst="ellipse">
            <a:avLst/>
          </a:prstGeom>
          <a:solidFill>
            <a:schemeClr val="accent1"/>
          </a:solidFill>
          <a:ln/>
        </p:spPr>
      </p:sp>
      <p:sp>
        <p:nvSpPr>
          <p:cNvPr id="24" name="Text 18"/>
          <p:cNvSpPr txBox="1"/>
          <p:nvPr/>
        </p:nvSpPr>
        <p:spPr>
          <a:xfrm>
            <a:off x="731520" y="4754880"/>
            <a:ext cx="502920" cy="502920"/>
          </a:xfrm>
          <a:prstGeom prst="rect">
            <a:avLst/>
          </a:prstGeom>
          <a:noFill/>
          <a:ln/>
        </p:spPr>
        <p:txBody>
          <a:bodyPr wrap="square" lIns="0" tIns="0" rIns="0" bIns="0" rtlCol="0" anchor="ctr"/>
          <a:lstStyle/>
          <a:p>
            <a:pPr algn="ctr" indent="0" marL="0">
              <a:lnSpc>
                <a:spcPct val="110000"/>
              </a:lnSpc>
              <a:buNone/>
            </a:pPr>
            <a:r>
              <a:rPr lang="en-US" sz="1600" b="1" dirty="0">
                <a:solidFill>
                  <a:schemeClr val="bg1"/>
                </a:solidFill>
              </a:rPr>
              <a:t>③</a:t>
            </a:r>
            <a:endParaRPr lang="en-US" sz="1600" dirty="0"/>
          </a:p>
        </p:txBody>
      </p:sp>
      <p:sp>
        <p:nvSpPr>
          <p:cNvPr id="25" name="Text 19"/>
          <p:cNvSpPr txBox="1"/>
          <p:nvPr/>
        </p:nvSpPr>
        <p:spPr>
          <a:xfrm>
            <a:off x="731520" y="5349240"/>
            <a:ext cx="2194560" cy="36576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그 배경의 어느 자리에</a:t>
            </a:r>
            <a:endParaRPr lang="en-US" sz="1500" dirty="0"/>
          </a:p>
        </p:txBody>
      </p:sp>
      <p:sp>
        <p:nvSpPr>
          <p:cNvPr id="26" name="Text 20"/>
          <p:cNvSpPr txBox="1"/>
          <p:nvPr/>
        </p:nvSpPr>
        <p:spPr>
          <a:xfrm>
            <a:off x="731520" y="5669280"/>
            <a:ext cx="2194560" cy="274320"/>
          </a:xfrm>
          <a:prstGeom prst="rect">
            <a:avLst/>
          </a:prstGeom>
          <a:noFill/>
          <a:ln/>
        </p:spPr>
        <p:txBody>
          <a:bodyPr wrap="square" lIns="0" tIns="0" rIns="0" bIns="0" rtlCol="0" anchor="t"/>
          <a:lstStyle/>
          <a:p>
            <a:pPr algn="l" indent="0" marL="0">
              <a:lnSpc>
                <a:spcPct val="110000"/>
              </a:lnSpc>
              <a:buNone/>
            </a:pPr>
            <a:r>
              <a:rPr lang="en-US" sz="1200" dirty="0">
                <a:solidFill>
                  <a:schemeClr val="accent3"/>
                </a:solidFill>
              </a:rPr>
              <a:t>식 (6)</a:t>
            </a:r>
            <a:endParaRPr lang="en-US" sz="1200" dirty="0"/>
          </a:p>
        </p:txBody>
      </p:sp>
      <p:pic>
        <p:nvPicPr>
          <p:cNvPr id="27" name="Image 3" descr="site">    </p:cNvPr>
          <p:cNvPicPr>
            <a:picLocks noChangeAspect="1"/>
          </p:cNvPicPr>
          <p:nvPr/>
        </p:nvPicPr>
        <p:blipFill>
          <a:blip r:embed="rId4"/>
          <a:stretch>
            <a:fillRect/>
          </a:stretch>
        </p:blipFill>
        <p:spPr>
          <a:xfrm>
            <a:off x="3017520" y="4863694"/>
            <a:ext cx="2212848" cy="239573"/>
          </a:xfrm>
          <a:prstGeom prst="rect">
            <a:avLst/>
          </a:prstGeom>
        </p:spPr>
      </p:pic>
      <p:pic>
        <p:nvPicPr>
          <p:cNvPr id="28" name="Image 4" descr="sstar">    </p:cNvPr>
          <p:cNvPicPr>
            <a:picLocks noChangeAspect="1"/>
          </p:cNvPicPr>
          <p:nvPr/>
        </p:nvPicPr>
        <p:blipFill>
          <a:blip r:embed="rId5"/>
          <a:stretch>
            <a:fillRect/>
          </a:stretch>
        </p:blipFill>
        <p:spPr>
          <a:xfrm>
            <a:off x="3017520" y="5522062"/>
            <a:ext cx="2331720" cy="294437"/>
          </a:xfrm>
          <a:prstGeom prst="rect">
            <a:avLst/>
          </a:prstGeom>
        </p:spPr>
      </p:pic>
      <p:sp>
        <p:nvSpPr>
          <p:cNvPr id="29" name="Text 21"/>
          <p:cNvSpPr txBox="1"/>
          <p:nvPr/>
        </p:nvSpPr>
        <p:spPr>
          <a:xfrm>
            <a:off x="7498080" y="4736592"/>
            <a:ext cx="4023360" cy="1234440"/>
          </a:xfrm>
          <a:prstGeom prst="rect">
            <a:avLst/>
          </a:prstGeom>
          <a:noFill/>
          <a:ln/>
        </p:spPr>
        <p:txBody>
          <a:bodyPr wrap="square" lIns="0" tIns="0" rIns="0" bIns="0" rtlCol="0" anchor="ctr"/>
          <a:lstStyle/>
          <a:p>
            <a:pPr marL="203200" indent="-203200">
              <a:lnSpc>
                <a:spcPct val="110000"/>
              </a:lnSpc>
              <a:spcAft>
                <a:spcPts val="500"/>
              </a:spcAft>
              <a:buSzPct val="100000"/>
              <a:buChar char="•"/>
            </a:pPr>
            <a:r>
              <a:rPr lang="en-US" sz="1300" dirty="0">
                <a:solidFill>
                  <a:schemeClr val="tx1"/>
                </a:solidFill>
              </a:rPr>
              <a:t>h_s: 자리 둘레 ring 타일의 셀 분포</a:t>
            </a:r>
            <a:endParaRPr lang="en-US" sz="1300" dirty="0"/>
          </a:p>
          <a:p>
            <a:pPr marL="203200" indent="-203200">
              <a:lnSpc>
                <a:spcPct val="110000"/>
              </a:lnSpc>
              <a:spcAft>
                <a:spcPts val="500"/>
              </a:spcAft>
              <a:buSzPct val="100000"/>
              <a:buChar char="•"/>
            </a:pPr>
            <a:r>
              <a:rPr lang="en-US" sz="1300" dirty="0">
                <a:solidFill>
                  <a:schemeClr val="tx1"/>
                </a:solidFill>
              </a:rPr>
              <a:t>tgt[k]: 군집 k의 목표 문맥 분포</a:t>
            </a:r>
            <a:endParaRPr lang="en-US" sz="1300" dirty="0"/>
          </a:p>
          <a:p>
            <a:pPr marL="203200" indent="-203200">
              <a:lnSpc>
                <a:spcPct val="110000"/>
              </a:lnSpc>
              <a:spcAft>
                <a:spcPts val="500"/>
              </a:spcAft>
              <a:buSzPct val="100000"/>
              <a:buChar char="•"/>
            </a:pPr>
            <a:r>
              <a:rPr lang="en-US" sz="1300" dirty="0">
                <a:solidFill>
                  <a:schemeClr val="tx1"/>
                </a:solidFill>
              </a:rPr>
              <a:t>footprint 전 타일이 유효한 자리만 후보</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제5장 · 수식 상세 ④ 결합·선택</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자리 선택의 근거 — 왜 ring, 왜 분포 매칭인가</a:t>
            </a:r>
            <a:endParaRPr lang="en-US" sz="2400" dirty="0"/>
          </a:p>
        </p:txBody>
      </p:sp>
      <p:sp>
        <p:nvSpPr>
          <p:cNvPr id="5" name="Shape 2"/>
          <p:cNvSpPr/>
          <p:nvPr/>
        </p:nvSpPr>
        <p:spPr>
          <a:xfrm>
            <a:off x="548640" y="1280160"/>
            <a:ext cx="3511296" cy="3566160"/>
          </a:xfrm>
          <a:prstGeom prst="roundRect">
            <a:avLst>
              <a:gd name="adj" fmla="val 2083"/>
            </a:avLst>
          </a:prstGeom>
          <a:solidFill>
            <a:schemeClr val="bg2"/>
          </a:solidFill>
          <a:ln/>
        </p:spPr>
      </p:sp>
      <p:sp>
        <p:nvSpPr>
          <p:cNvPr id="6" name="Text 3"/>
          <p:cNvSpPr txBox="1"/>
          <p:nvPr/>
        </p:nvSpPr>
        <p:spPr>
          <a:xfrm>
            <a:off x="777240" y="1463040"/>
            <a:ext cx="3054096" cy="411480"/>
          </a:xfrm>
          <a:prstGeom prst="rect">
            <a:avLst/>
          </a:prstGeom>
          <a:noFill/>
          <a:ln/>
        </p:spPr>
        <p:txBody>
          <a:bodyPr wrap="square" lIns="0" tIns="0" rIns="0" bIns="0" rtlCol="0" anchor="t"/>
          <a:lstStyle/>
          <a:p>
            <a:pPr algn="l" indent="0" marL="0">
              <a:lnSpc>
                <a:spcPct val="110000"/>
              </a:lnSpc>
              <a:buNone/>
            </a:pPr>
            <a:r>
              <a:rPr lang="en-US" sz="1800" b="1" dirty="0">
                <a:solidFill>
                  <a:schemeClr val="accent1"/>
                </a:solidFill>
              </a:rPr>
              <a:t>왜 ring인가</a:t>
            </a:r>
            <a:endParaRPr lang="en-US" sz="1800" dirty="0"/>
          </a:p>
        </p:txBody>
      </p:sp>
      <p:sp>
        <p:nvSpPr>
          <p:cNvPr id="7" name="Text 4"/>
          <p:cNvSpPr txBox="1"/>
          <p:nvPr/>
        </p:nvSpPr>
        <p:spPr>
          <a:xfrm>
            <a:off x="777240" y="2057400"/>
            <a:ext cx="3054096" cy="2560320"/>
          </a:xfrm>
          <a:prstGeom prst="rect">
            <a:avLst/>
          </a:prstGeom>
          <a:noFill/>
          <a:ln/>
        </p:spPr>
        <p:txBody>
          <a:bodyPr wrap="square" lIns="0" tIns="0" rIns="0" bIns="0" rtlCol="0" anchor="t"/>
          <a:lstStyle/>
          <a:p>
            <a:pPr marL="203200" indent="-203200">
              <a:lnSpc>
                <a:spcPct val="110000"/>
              </a:lnSpc>
              <a:spcAft>
                <a:spcPts val="1200"/>
              </a:spcAft>
              <a:buSzPct val="100000"/>
              <a:buChar char="•"/>
            </a:pPr>
            <a:r>
              <a:rPr lang="en-US" sz="1500" dirty="0">
                <a:solidFill>
                  <a:schemeClr val="tx1"/>
                </a:solidFill>
              </a:rPr>
              <a:t>footprint는 결함이 덮어 사라진다</a:t>
            </a:r>
            <a:endParaRPr lang="en-US" sz="1500" dirty="0"/>
          </a:p>
          <a:p>
            <a:pPr marL="203200" indent="-203200">
              <a:lnSpc>
                <a:spcPct val="110000"/>
              </a:lnSpc>
              <a:spcAft>
                <a:spcPts val="1200"/>
              </a:spcAft>
              <a:buSzPct val="100000"/>
              <a:buChar char="•"/>
            </a:pPr>
            <a:r>
              <a:rPr lang="en-US" sz="1500" dirty="0">
                <a:solidFill>
                  <a:schemeClr val="tx1"/>
                </a:solidFill>
              </a:rPr>
              <a:t>합성 후 경계 연속성을 결정하는 것은 둘레</a:t>
            </a:r>
            <a:endParaRPr lang="en-US" sz="1500" dirty="0"/>
          </a:p>
        </p:txBody>
      </p:sp>
      <p:sp>
        <p:nvSpPr>
          <p:cNvPr id="8" name="Shape 5"/>
          <p:cNvSpPr/>
          <p:nvPr/>
        </p:nvSpPr>
        <p:spPr>
          <a:xfrm>
            <a:off x="4338828" y="1280160"/>
            <a:ext cx="3511296" cy="3566160"/>
          </a:xfrm>
          <a:prstGeom prst="roundRect">
            <a:avLst>
              <a:gd name="adj" fmla="val 2083"/>
            </a:avLst>
          </a:prstGeom>
          <a:solidFill>
            <a:schemeClr val="bg2"/>
          </a:solidFill>
          <a:ln/>
        </p:spPr>
      </p:sp>
      <p:sp>
        <p:nvSpPr>
          <p:cNvPr id="9" name="Text 6"/>
          <p:cNvSpPr txBox="1"/>
          <p:nvPr/>
        </p:nvSpPr>
        <p:spPr>
          <a:xfrm>
            <a:off x="4567428" y="1463040"/>
            <a:ext cx="3054096" cy="411480"/>
          </a:xfrm>
          <a:prstGeom prst="rect">
            <a:avLst/>
          </a:prstGeom>
          <a:noFill/>
          <a:ln/>
        </p:spPr>
        <p:txBody>
          <a:bodyPr wrap="square" lIns="0" tIns="0" rIns="0" bIns="0" rtlCol="0" anchor="t"/>
          <a:lstStyle/>
          <a:p>
            <a:pPr algn="l" indent="0" marL="0">
              <a:lnSpc>
                <a:spcPct val="110000"/>
              </a:lnSpc>
              <a:buNone/>
            </a:pPr>
            <a:r>
              <a:rPr lang="en-US" sz="1800" b="1" dirty="0">
                <a:solidFill>
                  <a:schemeClr val="accent1"/>
                </a:solidFill>
              </a:rPr>
              <a:t>왜 분포 매칭인가</a:t>
            </a:r>
            <a:endParaRPr lang="en-US" sz="1800" dirty="0"/>
          </a:p>
        </p:txBody>
      </p:sp>
      <p:sp>
        <p:nvSpPr>
          <p:cNvPr id="10" name="Text 7"/>
          <p:cNvSpPr txBox="1"/>
          <p:nvPr/>
        </p:nvSpPr>
        <p:spPr>
          <a:xfrm>
            <a:off x="4567428" y="2011680"/>
            <a:ext cx="3054096" cy="118872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en-US" sz="1400" dirty="0">
                <a:solidFill>
                  <a:schemeClr val="tx1"/>
                </a:solidFill>
              </a:rPr>
              <a:t>평균은 흔한 셀이 많은 자리로 수렴</a:t>
            </a:r>
            <a:endParaRPr lang="en-US" sz="1400" dirty="0"/>
          </a:p>
          <a:p>
            <a:pPr marL="203200" indent="-203200">
              <a:lnSpc>
                <a:spcPct val="110000"/>
              </a:lnSpc>
              <a:spcAft>
                <a:spcPts val="800"/>
              </a:spcAft>
              <a:buSzPct val="100000"/>
              <a:buChar char="•"/>
            </a:pPr>
            <a:r>
              <a:rPr lang="en-US" sz="1400" dirty="0">
                <a:solidFill>
                  <a:schemeClr val="tx1"/>
                </a:solidFill>
              </a:rPr>
              <a:t>min-겹침은 초과분을 잘라 몰빵 차단</a:t>
            </a:r>
            <a:endParaRPr lang="en-US" sz="1400" dirty="0"/>
          </a:p>
        </p:txBody>
      </p:sp>
      <p:sp>
        <p:nvSpPr>
          <p:cNvPr id="11" name="Text 8"/>
          <p:cNvSpPr txBox="1"/>
          <p:nvPr/>
        </p:nvSpPr>
        <p:spPr>
          <a:xfrm>
            <a:off x="4567428" y="3246120"/>
            <a:ext cx="1371600" cy="640080"/>
          </a:xfrm>
          <a:prstGeom prst="rect">
            <a:avLst/>
          </a:prstGeom>
          <a:noFill/>
          <a:ln/>
        </p:spPr>
        <p:txBody>
          <a:bodyPr wrap="square" lIns="0" tIns="0" rIns="0" bIns="0" rtlCol="0" anchor="ctr"/>
          <a:lstStyle/>
          <a:p>
            <a:pPr algn="l" indent="0" marL="0">
              <a:lnSpc>
                <a:spcPct val="110000"/>
              </a:lnSpc>
              <a:buNone/>
            </a:pPr>
            <a:r>
              <a:rPr lang="en-US" sz="3000" b="1" dirty="0">
                <a:solidFill>
                  <a:schemeClr val="accent2"/>
                </a:solidFill>
              </a:rPr>
              <a:t>4/5</a:t>
            </a:r>
            <a:endParaRPr lang="en-US" sz="3000" dirty="0"/>
          </a:p>
        </p:txBody>
      </p:sp>
      <p:sp>
        <p:nvSpPr>
          <p:cNvPr id="12" name="Text 9"/>
          <p:cNvSpPr txBox="1"/>
          <p:nvPr/>
        </p:nvSpPr>
        <p:spPr>
          <a:xfrm>
            <a:off x="4567428" y="3886200"/>
            <a:ext cx="1463040" cy="82296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footprint→ring</a:t>
            </a:r>
            <a:endParaRPr lang="en-US" sz="1100" dirty="0"/>
          </a:p>
          <a:p>
            <a:pPr algn="l" indent="0" marL="0">
              <a:lnSpc>
                <a:spcPct val="110000"/>
              </a:lnSpc>
              <a:buNone/>
            </a:pPr>
            <a:r>
              <a:rPr lang="en-US" sz="1100" dirty="0">
                <a:solidFill>
                  <a:schemeClr val="accent3"/>
                </a:solidFill>
              </a:rPr>
              <a:t>(평균 유지) 악화</a:t>
            </a:r>
            <a:endParaRPr lang="en-US" sz="1100" dirty="0"/>
          </a:p>
        </p:txBody>
      </p:sp>
      <p:sp>
        <p:nvSpPr>
          <p:cNvPr id="13" name="Text 10"/>
          <p:cNvSpPr txBox="1"/>
          <p:nvPr/>
        </p:nvSpPr>
        <p:spPr>
          <a:xfrm>
            <a:off x="6121908" y="3246120"/>
            <a:ext cx="1371600" cy="640080"/>
          </a:xfrm>
          <a:prstGeom prst="rect">
            <a:avLst/>
          </a:prstGeom>
          <a:noFill/>
          <a:ln/>
        </p:spPr>
        <p:txBody>
          <a:bodyPr wrap="square" lIns="0" tIns="0" rIns="0" bIns="0" rtlCol="0" anchor="ctr"/>
          <a:lstStyle/>
          <a:p>
            <a:pPr algn="l" indent="0" marL="0">
              <a:lnSpc>
                <a:spcPct val="110000"/>
              </a:lnSpc>
              <a:buNone/>
            </a:pPr>
            <a:r>
              <a:rPr lang="en-US" sz="3000" b="1" dirty="0">
                <a:solidFill>
                  <a:schemeClr val="accent1"/>
                </a:solidFill>
              </a:rPr>
              <a:t>5/5</a:t>
            </a:r>
            <a:endParaRPr lang="en-US" sz="3000" dirty="0"/>
          </a:p>
        </p:txBody>
      </p:sp>
      <p:sp>
        <p:nvSpPr>
          <p:cNvPr id="14" name="Text 11"/>
          <p:cNvSpPr txBox="1"/>
          <p:nvPr/>
        </p:nvSpPr>
        <p:spPr>
          <a:xfrm>
            <a:off x="6121908" y="3886200"/>
            <a:ext cx="1554480" cy="82296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평균→분포 매칭</a:t>
            </a:r>
            <a:endParaRPr lang="en-US" sz="1100" dirty="0"/>
          </a:p>
          <a:p>
            <a:pPr algn="l" indent="0" marL="0">
              <a:lnSpc>
                <a:spcPct val="110000"/>
              </a:lnSpc>
              <a:buNone/>
            </a:pPr>
            <a:r>
              <a:rPr lang="en-US" sz="1100" dirty="0">
                <a:solidFill>
                  <a:schemeClr val="accent3"/>
                </a:solidFill>
              </a:rPr>
              <a:t>개선</a:t>
            </a:r>
            <a:endParaRPr lang="en-US" sz="1100" dirty="0"/>
          </a:p>
        </p:txBody>
      </p:sp>
      <p:sp>
        <p:nvSpPr>
          <p:cNvPr id="15" name="Shape 12"/>
          <p:cNvSpPr/>
          <p:nvPr/>
        </p:nvSpPr>
        <p:spPr>
          <a:xfrm>
            <a:off x="8129016" y="1280160"/>
            <a:ext cx="3511296" cy="3566160"/>
          </a:xfrm>
          <a:prstGeom prst="roundRect">
            <a:avLst>
              <a:gd name="adj" fmla="val 2083"/>
            </a:avLst>
          </a:prstGeom>
          <a:solidFill>
            <a:schemeClr val="bg2"/>
          </a:solidFill>
          <a:ln/>
        </p:spPr>
      </p:sp>
      <p:sp>
        <p:nvSpPr>
          <p:cNvPr id="16" name="Text 13"/>
          <p:cNvSpPr txBox="1"/>
          <p:nvPr/>
        </p:nvSpPr>
        <p:spPr>
          <a:xfrm>
            <a:off x="8357616" y="1463040"/>
            <a:ext cx="3054096" cy="411480"/>
          </a:xfrm>
          <a:prstGeom prst="rect">
            <a:avLst/>
          </a:prstGeom>
          <a:noFill/>
          <a:ln/>
        </p:spPr>
        <p:txBody>
          <a:bodyPr wrap="square" lIns="0" tIns="0" rIns="0" bIns="0" rtlCol="0" anchor="t"/>
          <a:lstStyle/>
          <a:p>
            <a:pPr algn="l" indent="0" marL="0">
              <a:lnSpc>
                <a:spcPct val="110000"/>
              </a:lnSpc>
              <a:buNone/>
            </a:pPr>
            <a:r>
              <a:rPr lang="en-US" sz="1800" b="1" dirty="0">
                <a:solidFill>
                  <a:schemeClr val="accent1"/>
                </a:solidFill>
              </a:rPr>
              <a:t>교집합의 성질</a:t>
            </a:r>
            <a:endParaRPr lang="en-US" sz="1800" dirty="0"/>
          </a:p>
        </p:txBody>
      </p:sp>
      <p:pic>
        <p:nvPicPr>
          <p:cNvPr id="17" name="Image 0" descr="tv">    </p:cNvPr>
          <p:cNvPicPr>
            <a:picLocks noChangeAspect="1"/>
          </p:cNvPicPr>
          <p:nvPr/>
        </p:nvPicPr>
        <p:blipFill>
          <a:blip r:embed="rId1"/>
          <a:stretch>
            <a:fillRect/>
          </a:stretch>
        </p:blipFill>
        <p:spPr>
          <a:xfrm>
            <a:off x="8818931" y="2196960"/>
            <a:ext cx="2131466" cy="269519"/>
          </a:xfrm>
          <a:prstGeom prst="rect">
            <a:avLst/>
          </a:prstGeom>
        </p:spPr>
      </p:pic>
      <p:sp>
        <p:nvSpPr>
          <p:cNvPr id="18" name="Text 14"/>
          <p:cNvSpPr txBox="1"/>
          <p:nvPr/>
        </p:nvSpPr>
        <p:spPr>
          <a:xfrm>
            <a:off x="8357616" y="2788920"/>
            <a:ext cx="3054096" cy="822960"/>
          </a:xfrm>
          <a:prstGeom prst="rect">
            <a:avLst/>
          </a:prstGeom>
          <a:noFill/>
          <a:ln/>
        </p:spPr>
        <p:txBody>
          <a:bodyPr wrap="square" lIns="0" tIns="0" rIns="0" bIns="0" rtlCol="0" anchor="t"/>
          <a:lstStyle/>
          <a:p>
            <a:pPr algn="l" indent="0" marL="0">
              <a:lnSpc>
                <a:spcPct val="110000"/>
              </a:lnSpc>
              <a:buNone/>
            </a:pPr>
            <a:r>
              <a:rPr lang="en-US" sz="1500" dirty="0">
                <a:solidFill>
                  <a:schemeClr val="tx1"/>
                </a:solidFill>
              </a:rPr>
              <a:t>교집합 최대화 ≡ total variation 거리 최소화</a:t>
            </a:r>
            <a:endParaRPr lang="en-US" sz="1500" dirty="0"/>
          </a:p>
        </p:txBody>
      </p:sp>
      <p:sp>
        <p:nvSpPr>
          <p:cNvPr id="19" name="Text 15"/>
          <p:cNvSpPr txBox="1"/>
          <p:nvPr/>
        </p:nvSpPr>
        <p:spPr>
          <a:xfrm>
            <a:off x="8357616" y="3840480"/>
            <a:ext cx="3054096" cy="548640"/>
          </a:xfrm>
          <a:prstGeom prst="rect">
            <a:avLst/>
          </a:prstGeom>
          <a:noFill/>
          <a:ln/>
        </p:spPr>
        <p:txBody>
          <a:bodyPr wrap="square" lIns="0" tIns="0" rIns="0" bIns="0" rtlCol="0" anchor="t"/>
          <a:lstStyle/>
          <a:p>
            <a:pPr algn="l" indent="0" marL="0">
              <a:lnSpc>
                <a:spcPct val="110000"/>
              </a:lnSpc>
              <a:buNone/>
            </a:pPr>
            <a:r>
              <a:rPr lang="en-US" sz="1400" b="1" dirty="0">
                <a:solidFill>
                  <a:schemeClr val="accent2"/>
                </a:solidFill>
              </a:rPr>
              <a:t>→ 개선의 원천은 score 정의</a:t>
            </a:r>
            <a:endParaRPr lang="en-US" sz="1400" dirty="0"/>
          </a:p>
        </p:txBody>
      </p:sp>
      <p:sp>
        <p:nvSpPr>
          <p:cNvPr id="20" name="Shape 16"/>
          <p:cNvSpPr/>
          <p:nvPr/>
        </p:nvSpPr>
        <p:spPr>
          <a:xfrm>
            <a:off x="548640" y="5120640"/>
            <a:ext cx="11091672" cy="1005840"/>
          </a:xfrm>
          <a:prstGeom prst="roundRect">
            <a:avLst>
              <a:gd name="adj" fmla="val 7273"/>
            </a:avLst>
          </a:prstGeom>
          <a:solidFill>
            <a:schemeClr val="accent1"/>
          </a:solidFill>
          <a:ln/>
        </p:spPr>
      </p:sp>
      <p:sp>
        <p:nvSpPr>
          <p:cNvPr id="21" name="Text 17"/>
          <p:cNvSpPr txBox="1"/>
          <p:nvPr/>
        </p:nvSpPr>
        <p:spPr>
          <a:xfrm>
            <a:off x="868680" y="5248656"/>
            <a:ext cx="10424160" cy="553212"/>
          </a:xfrm>
          <a:prstGeom prst="rect">
            <a:avLst/>
          </a:prstGeom>
          <a:noFill/>
          <a:ln/>
        </p:spPr>
        <p:txBody>
          <a:bodyPr wrap="square" lIns="0" tIns="0" rIns="0" bIns="0" rtlCol="0" anchor="ctr"/>
          <a:lstStyle/>
          <a:p>
            <a:pPr algn="l" indent="0" marL="0">
              <a:lnSpc>
                <a:spcPct val="110000"/>
              </a:lnSpc>
              <a:buNone/>
            </a:pPr>
            <a:r>
              <a:rPr lang="en-US" sz="1800" b="1" dirty="0">
                <a:solidFill>
                  <a:schemeClr val="bg1"/>
                </a:solidFill>
              </a:rPr>
              <a:t>지도 1개(matrix_symmetric)를 이미지는 h_g로, 자리는 h_s로 질의</a:t>
            </a:r>
            <a:endParaRPr lang="en-US" sz="1800" dirty="0"/>
          </a:p>
        </p:txBody>
      </p:sp>
      <p:sp>
        <p:nvSpPr>
          <p:cNvPr id="22" name="Text 18"/>
          <p:cNvSpPr txBox="1"/>
          <p:nvPr/>
        </p:nvSpPr>
        <p:spPr>
          <a:xfrm>
            <a:off x="868680" y="5704027"/>
            <a:ext cx="10424160" cy="362102"/>
          </a:xfrm>
          <a:prstGeom prst="rect">
            <a:avLst/>
          </a:prstGeom>
          <a:noFill/>
          <a:ln/>
        </p:spPr>
        <p:txBody>
          <a:bodyPr wrap="square" lIns="0" tIns="0" rIns="0" bIns="0" rtlCol="0" anchor="t"/>
          <a:lstStyle/>
          <a:p>
            <a:pPr algn="l" indent="0" marL="0">
              <a:lnSpc>
                <a:spcPct val="110000"/>
              </a:lnSpc>
              <a:buNone/>
            </a:pPr>
            <a:r>
              <a:rPr lang="en-US" sz="1400" dirty="0">
                <a:solidFill>
                  <a:schemeClr val="accent4"/>
                </a:solidFill>
              </a:rPr>
              <a:t>결함 (①) → 배경 (②, 전역) → 자리 (③, 국소)</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제5장 · 처리 흐름</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AROMA 처리 흐름</a:t>
            </a:r>
            <a:endParaRPr lang="en-US" sz="2400" dirty="0"/>
          </a:p>
        </p:txBody>
      </p:sp>
      <p:sp>
        <p:nvSpPr>
          <p:cNvPr id="5" name="Shape 2"/>
          <p:cNvSpPr/>
          <p:nvPr/>
        </p:nvSpPr>
        <p:spPr>
          <a:xfrm>
            <a:off x="3840480" y="1234440"/>
            <a:ext cx="4507992" cy="502920"/>
          </a:xfrm>
          <a:prstGeom prst="roundRect">
            <a:avLst>
              <a:gd name="adj" fmla="val 14545"/>
            </a:avLst>
          </a:prstGeom>
          <a:solidFill>
            <a:schemeClr val="accent4"/>
          </a:solidFill>
          <a:ln/>
        </p:spPr>
      </p:sp>
      <p:sp>
        <p:nvSpPr>
          <p:cNvPr id="6" name="Text 3"/>
          <p:cNvSpPr txBox="1"/>
          <p:nvPr/>
        </p:nvSpPr>
        <p:spPr>
          <a:xfrm>
            <a:off x="4023360" y="1307592"/>
            <a:ext cx="4142232" cy="347472"/>
          </a:xfrm>
          <a:prstGeom prst="rect">
            <a:avLst/>
          </a:prstGeom>
          <a:noFill/>
          <a:ln/>
        </p:spPr>
        <p:txBody>
          <a:bodyPr wrap="square" lIns="0" tIns="0" rIns="0" bIns="0" rtlCol="0" anchor="t"/>
          <a:lstStyle/>
          <a:p>
            <a:pPr algn="l" indent="0" marL="0">
              <a:lnSpc>
                <a:spcPct val="110000"/>
              </a:lnSpc>
              <a:buNone/>
            </a:pPr>
            <a:r>
              <a:rPr lang="en-US" sz="1400" b="1" dirty="0">
                <a:solidFill>
                  <a:schemeClr val="accent1"/>
                </a:solidFill>
              </a:rPr>
              <a:t>데이터셋 프로파일링 → MCI / CCI (식 1)</a:t>
            </a:r>
            <a:endParaRPr lang="en-US" sz="1400" dirty="0"/>
          </a:p>
        </p:txBody>
      </p:sp>
      <p:sp>
        <p:nvSpPr>
          <p:cNvPr id="7" name="Shape 4"/>
          <p:cNvSpPr/>
          <p:nvPr/>
        </p:nvSpPr>
        <p:spPr>
          <a:xfrm>
            <a:off x="548640" y="2057400"/>
            <a:ext cx="5394960" cy="868680"/>
          </a:xfrm>
          <a:prstGeom prst="roundRect">
            <a:avLst>
              <a:gd name="adj" fmla="val 8421"/>
            </a:avLst>
          </a:prstGeom>
          <a:solidFill>
            <a:schemeClr val="bg2"/>
          </a:solidFill>
          <a:ln/>
        </p:spPr>
      </p:sp>
      <p:sp>
        <p:nvSpPr>
          <p:cNvPr id="8" name="Text 5"/>
          <p:cNvSpPr txBox="1"/>
          <p:nvPr/>
        </p:nvSpPr>
        <p:spPr>
          <a:xfrm>
            <a:off x="731520" y="2130552"/>
            <a:ext cx="5029200" cy="347472"/>
          </a:xfrm>
          <a:prstGeom prst="rect">
            <a:avLst/>
          </a:prstGeom>
          <a:noFill/>
          <a:ln/>
        </p:spPr>
        <p:txBody>
          <a:bodyPr wrap="square" lIns="0" tIns="0" rIns="0" bIns="0" rtlCol="0" anchor="t"/>
          <a:lstStyle/>
          <a:p>
            <a:pPr algn="l" indent="0" marL="0">
              <a:lnSpc>
                <a:spcPct val="110000"/>
              </a:lnSpc>
              <a:buNone/>
            </a:pPr>
            <a:r>
              <a:rPr lang="en-US" sz="1400" b="1" dirty="0">
                <a:solidFill>
                  <a:schemeClr val="accent1"/>
                </a:solidFill>
              </a:rPr>
              <a:t>결함 형태</a:t>
            </a:r>
            <a:endParaRPr lang="en-US" sz="1400" dirty="0"/>
          </a:p>
        </p:txBody>
      </p:sp>
      <p:sp>
        <p:nvSpPr>
          <p:cNvPr id="9" name="Text 6"/>
          <p:cNvSpPr txBox="1"/>
          <p:nvPr/>
        </p:nvSpPr>
        <p:spPr>
          <a:xfrm>
            <a:off x="731520" y="2468880"/>
            <a:ext cx="5029200" cy="41148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최대 blob 6특징 → GMM 군집, K* = argmin BIC</a:t>
            </a:r>
            <a:endParaRPr lang="en-US" sz="1200" dirty="0"/>
          </a:p>
        </p:txBody>
      </p:sp>
      <p:sp>
        <p:nvSpPr>
          <p:cNvPr id="10" name="Shape 7"/>
          <p:cNvSpPr/>
          <p:nvPr/>
        </p:nvSpPr>
        <p:spPr>
          <a:xfrm>
            <a:off x="6245352" y="2057400"/>
            <a:ext cx="5394960" cy="868680"/>
          </a:xfrm>
          <a:prstGeom prst="roundRect">
            <a:avLst>
              <a:gd name="adj" fmla="val 8421"/>
            </a:avLst>
          </a:prstGeom>
          <a:solidFill>
            <a:schemeClr val="bg2"/>
          </a:solidFill>
          <a:ln/>
        </p:spPr>
      </p:sp>
      <p:sp>
        <p:nvSpPr>
          <p:cNvPr id="11" name="Text 8"/>
          <p:cNvSpPr txBox="1"/>
          <p:nvPr/>
        </p:nvSpPr>
        <p:spPr>
          <a:xfrm>
            <a:off x="6428232" y="2130552"/>
            <a:ext cx="5029200" cy="347472"/>
          </a:xfrm>
          <a:prstGeom prst="rect">
            <a:avLst/>
          </a:prstGeom>
          <a:noFill/>
          <a:ln/>
        </p:spPr>
        <p:txBody>
          <a:bodyPr wrap="square" lIns="0" tIns="0" rIns="0" bIns="0" rtlCol="0" anchor="t"/>
          <a:lstStyle/>
          <a:p>
            <a:pPr algn="l" indent="0" marL="0">
              <a:lnSpc>
                <a:spcPct val="110000"/>
              </a:lnSpc>
              <a:buNone/>
            </a:pPr>
            <a:r>
              <a:rPr lang="en-US" sz="1400" b="1" dirty="0">
                <a:solidFill>
                  <a:schemeClr val="accent1"/>
                </a:solidFill>
              </a:rPr>
              <a:t>배경 문맥</a:t>
            </a:r>
            <a:endParaRPr lang="en-US" sz="1400" dirty="0"/>
          </a:p>
        </p:txBody>
      </p:sp>
      <p:sp>
        <p:nvSpPr>
          <p:cNvPr id="12" name="Text 9"/>
          <p:cNvSpPr txBox="1"/>
          <p:nvPr/>
        </p:nvSpPr>
        <p:spPr>
          <a:xfrm>
            <a:off x="6428232" y="2468880"/>
            <a:ext cx="5029200" cy="41148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64px 패치 5특징 → P33/P66 셀 이산화 (≤ 243 셀)</a:t>
            </a:r>
            <a:endParaRPr lang="en-US" sz="1200" dirty="0"/>
          </a:p>
        </p:txBody>
      </p:sp>
      <p:sp>
        <p:nvSpPr>
          <p:cNvPr id="13" name="Shape 10"/>
          <p:cNvSpPr/>
          <p:nvPr/>
        </p:nvSpPr>
        <p:spPr>
          <a:xfrm flipH="1">
            <a:off x="3246120" y="1737360"/>
            <a:ext cx="1783080" cy="320040"/>
          </a:xfrm>
          <a:prstGeom prst="line">
            <a:avLst/>
          </a:prstGeom>
          <a:noFill/>
          <a:ln w="19050">
            <a:solidFill>
              <a:srgbClr val="5B6B7A"/>
            </a:solidFill>
            <a:prstDash val="solid"/>
            <a:tailEnd type="triangle"/>
          </a:ln>
        </p:spPr>
      </p:sp>
      <p:sp>
        <p:nvSpPr>
          <p:cNvPr id="14" name="Shape 11"/>
          <p:cNvSpPr/>
          <p:nvPr/>
        </p:nvSpPr>
        <p:spPr>
          <a:xfrm>
            <a:off x="7132320" y="1737360"/>
            <a:ext cx="1810512" cy="320040"/>
          </a:xfrm>
          <a:prstGeom prst="line">
            <a:avLst/>
          </a:prstGeom>
          <a:noFill/>
          <a:ln w="19050">
            <a:solidFill>
              <a:srgbClr val="5B6B7A"/>
            </a:solidFill>
            <a:prstDash val="solid"/>
            <a:tailEnd type="triangle"/>
          </a:ln>
        </p:spPr>
      </p:sp>
      <p:sp>
        <p:nvSpPr>
          <p:cNvPr id="15" name="Shape 12"/>
          <p:cNvSpPr/>
          <p:nvPr/>
        </p:nvSpPr>
        <p:spPr>
          <a:xfrm>
            <a:off x="3566160" y="3246120"/>
            <a:ext cx="5056632" cy="548640"/>
          </a:xfrm>
          <a:prstGeom prst="roundRect">
            <a:avLst>
              <a:gd name="adj" fmla="val 13333"/>
            </a:avLst>
          </a:prstGeom>
          <a:solidFill>
            <a:schemeClr val="accent4"/>
          </a:solidFill>
          <a:ln/>
        </p:spPr>
      </p:sp>
      <p:sp>
        <p:nvSpPr>
          <p:cNvPr id="16" name="Text 13"/>
          <p:cNvSpPr txBox="1"/>
          <p:nvPr/>
        </p:nvSpPr>
        <p:spPr>
          <a:xfrm>
            <a:off x="3749040" y="3319272"/>
            <a:ext cx="4690872" cy="347472"/>
          </a:xfrm>
          <a:prstGeom prst="rect">
            <a:avLst/>
          </a:prstGeom>
          <a:noFill/>
          <a:ln/>
        </p:spPr>
        <p:txBody>
          <a:bodyPr wrap="square" lIns="0" tIns="0" rIns="0" bIns="0" rtlCol="0" anchor="t"/>
          <a:lstStyle/>
          <a:p>
            <a:pPr algn="l" indent="0" marL="0">
              <a:lnSpc>
                <a:spcPct val="110000"/>
              </a:lnSpc>
              <a:buNone/>
            </a:pPr>
            <a:r>
              <a:rPr lang="en-US" sz="1400" b="1" dirty="0">
                <a:solidFill>
                  <a:schemeClr val="accent1"/>
                </a:solidFill>
              </a:rPr>
              <a:t>대칭 호환성 게이트 ctx_prior (식 2) ← 패치 공동출현</a:t>
            </a:r>
            <a:endParaRPr lang="en-US" sz="1400" dirty="0"/>
          </a:p>
        </p:txBody>
      </p:sp>
      <p:sp>
        <p:nvSpPr>
          <p:cNvPr id="17" name="Shape 14"/>
          <p:cNvSpPr/>
          <p:nvPr/>
        </p:nvSpPr>
        <p:spPr>
          <a:xfrm>
            <a:off x="3246120" y="2926080"/>
            <a:ext cx="1325880" cy="320040"/>
          </a:xfrm>
          <a:prstGeom prst="line">
            <a:avLst/>
          </a:prstGeom>
          <a:noFill/>
          <a:ln w="19050">
            <a:solidFill>
              <a:srgbClr val="5B6B7A"/>
            </a:solidFill>
            <a:prstDash val="solid"/>
            <a:tailEnd type="triangle"/>
          </a:ln>
        </p:spPr>
      </p:sp>
      <p:sp>
        <p:nvSpPr>
          <p:cNvPr id="18" name="Shape 15"/>
          <p:cNvSpPr/>
          <p:nvPr/>
        </p:nvSpPr>
        <p:spPr>
          <a:xfrm flipH="1">
            <a:off x="7589520" y="2926080"/>
            <a:ext cx="1353312" cy="320040"/>
          </a:xfrm>
          <a:prstGeom prst="line">
            <a:avLst/>
          </a:prstGeom>
          <a:noFill/>
          <a:ln w="19050">
            <a:solidFill>
              <a:srgbClr val="5B6B7A"/>
            </a:solidFill>
            <a:prstDash val="solid"/>
            <a:tailEnd type="triangle"/>
          </a:ln>
        </p:spPr>
      </p:sp>
      <p:sp>
        <p:nvSpPr>
          <p:cNvPr id="19" name="Shape 16"/>
          <p:cNvSpPr/>
          <p:nvPr/>
        </p:nvSpPr>
        <p:spPr>
          <a:xfrm>
            <a:off x="548640" y="4114800"/>
            <a:ext cx="3291840" cy="777240"/>
          </a:xfrm>
          <a:prstGeom prst="roundRect">
            <a:avLst>
              <a:gd name="adj" fmla="val 9412"/>
            </a:avLst>
          </a:prstGeom>
          <a:solidFill>
            <a:schemeClr val="bg2"/>
          </a:solidFill>
          <a:ln/>
        </p:spPr>
      </p:sp>
      <p:sp>
        <p:nvSpPr>
          <p:cNvPr id="20" name="Text 17"/>
          <p:cNvSpPr txBox="1"/>
          <p:nvPr/>
        </p:nvSpPr>
        <p:spPr>
          <a:xfrm>
            <a:off x="731520" y="4187952"/>
            <a:ext cx="2926080" cy="347472"/>
          </a:xfrm>
          <a:prstGeom prst="rect">
            <a:avLst/>
          </a:prstGeom>
          <a:noFill/>
          <a:ln/>
        </p:spPr>
        <p:txBody>
          <a:bodyPr wrap="square" lIns="0" tIns="0" rIns="0" bIns="0" rtlCol="0" anchor="t"/>
          <a:lstStyle/>
          <a:p>
            <a:pPr algn="l" indent="0" marL="0">
              <a:lnSpc>
                <a:spcPct val="110000"/>
              </a:lnSpc>
              <a:buNone/>
            </a:pPr>
            <a:r>
              <a:rPr lang="en-US" sz="1400" b="1" dirty="0">
                <a:solidFill>
                  <a:schemeClr val="accent1"/>
                </a:solidFill>
              </a:rPr>
              <a:t>① ROI 선택</a:t>
            </a:r>
            <a:endParaRPr lang="en-US" sz="1400" dirty="0"/>
          </a:p>
        </p:txBody>
      </p:sp>
      <p:sp>
        <p:nvSpPr>
          <p:cNvPr id="21" name="Text 18"/>
          <p:cNvSpPr txBox="1"/>
          <p:nvPr/>
        </p:nvSpPr>
        <p:spPr>
          <a:xfrm>
            <a:off x="731520" y="4526280"/>
            <a:ext cx="2926080" cy="32004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ROI_score (식 3)</a:t>
            </a:r>
            <a:endParaRPr lang="en-US" sz="1200" dirty="0"/>
          </a:p>
        </p:txBody>
      </p:sp>
      <p:sp>
        <p:nvSpPr>
          <p:cNvPr id="22" name="Shape 19"/>
          <p:cNvSpPr/>
          <p:nvPr/>
        </p:nvSpPr>
        <p:spPr>
          <a:xfrm>
            <a:off x="3886200" y="4498848"/>
            <a:ext cx="516636" cy="0"/>
          </a:xfrm>
          <a:prstGeom prst="line">
            <a:avLst/>
          </a:prstGeom>
          <a:noFill/>
          <a:ln w="19050">
            <a:solidFill>
              <a:srgbClr val="5B6B7A"/>
            </a:solidFill>
            <a:prstDash val="solid"/>
            <a:tailEnd type="triangle"/>
          </a:ln>
        </p:spPr>
      </p:sp>
      <p:sp>
        <p:nvSpPr>
          <p:cNvPr id="23" name="Shape 20"/>
          <p:cNvSpPr/>
          <p:nvPr/>
        </p:nvSpPr>
        <p:spPr>
          <a:xfrm>
            <a:off x="4448556" y="4114800"/>
            <a:ext cx="3291840" cy="777240"/>
          </a:xfrm>
          <a:prstGeom prst="roundRect">
            <a:avLst>
              <a:gd name="adj" fmla="val 9412"/>
            </a:avLst>
          </a:prstGeom>
          <a:solidFill>
            <a:schemeClr val="bg2"/>
          </a:solidFill>
          <a:ln/>
        </p:spPr>
      </p:sp>
      <p:sp>
        <p:nvSpPr>
          <p:cNvPr id="24" name="Text 21"/>
          <p:cNvSpPr txBox="1"/>
          <p:nvPr/>
        </p:nvSpPr>
        <p:spPr>
          <a:xfrm>
            <a:off x="4631436" y="4187952"/>
            <a:ext cx="2926080" cy="347472"/>
          </a:xfrm>
          <a:prstGeom prst="rect">
            <a:avLst/>
          </a:prstGeom>
          <a:noFill/>
          <a:ln/>
        </p:spPr>
        <p:txBody>
          <a:bodyPr wrap="square" lIns="0" tIns="0" rIns="0" bIns="0" rtlCol="0" anchor="t"/>
          <a:lstStyle/>
          <a:p>
            <a:pPr algn="l" indent="0" marL="0">
              <a:lnSpc>
                <a:spcPct val="110000"/>
              </a:lnSpc>
              <a:buNone/>
            </a:pPr>
            <a:r>
              <a:rPr lang="en-US" sz="1400" b="1" dirty="0">
                <a:solidFill>
                  <a:schemeClr val="accent1"/>
                </a:solidFill>
              </a:rPr>
              <a:t>② 배경 배정</a:t>
            </a:r>
            <a:endParaRPr lang="en-US" sz="1400" dirty="0"/>
          </a:p>
        </p:txBody>
      </p:sp>
      <p:sp>
        <p:nvSpPr>
          <p:cNvPr id="25" name="Text 22"/>
          <p:cNvSpPr txBox="1"/>
          <p:nvPr/>
        </p:nvSpPr>
        <p:spPr>
          <a:xfrm>
            <a:off x="4631436" y="4526280"/>
            <a:ext cx="2926080" cy="32004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bg_score (식 5)</a:t>
            </a:r>
            <a:endParaRPr lang="en-US" sz="1200" dirty="0"/>
          </a:p>
        </p:txBody>
      </p:sp>
      <p:sp>
        <p:nvSpPr>
          <p:cNvPr id="26" name="Shape 23"/>
          <p:cNvSpPr/>
          <p:nvPr/>
        </p:nvSpPr>
        <p:spPr>
          <a:xfrm>
            <a:off x="7786116" y="4498848"/>
            <a:ext cx="516636" cy="0"/>
          </a:xfrm>
          <a:prstGeom prst="line">
            <a:avLst/>
          </a:prstGeom>
          <a:noFill/>
          <a:ln w="19050">
            <a:solidFill>
              <a:srgbClr val="5B6B7A"/>
            </a:solidFill>
            <a:prstDash val="solid"/>
            <a:tailEnd type="triangle"/>
          </a:ln>
        </p:spPr>
      </p:sp>
      <p:sp>
        <p:nvSpPr>
          <p:cNvPr id="27" name="Shape 24"/>
          <p:cNvSpPr/>
          <p:nvPr/>
        </p:nvSpPr>
        <p:spPr>
          <a:xfrm>
            <a:off x="8348472" y="4114800"/>
            <a:ext cx="3291840" cy="777240"/>
          </a:xfrm>
          <a:prstGeom prst="roundRect">
            <a:avLst>
              <a:gd name="adj" fmla="val 9412"/>
            </a:avLst>
          </a:prstGeom>
          <a:solidFill>
            <a:schemeClr val="bg2"/>
          </a:solidFill>
          <a:ln/>
        </p:spPr>
      </p:sp>
      <p:sp>
        <p:nvSpPr>
          <p:cNvPr id="28" name="Text 25"/>
          <p:cNvSpPr txBox="1"/>
          <p:nvPr/>
        </p:nvSpPr>
        <p:spPr>
          <a:xfrm>
            <a:off x="8531352" y="4187952"/>
            <a:ext cx="2926080" cy="347472"/>
          </a:xfrm>
          <a:prstGeom prst="rect">
            <a:avLst/>
          </a:prstGeom>
          <a:noFill/>
          <a:ln/>
        </p:spPr>
        <p:txBody>
          <a:bodyPr wrap="square" lIns="0" tIns="0" rIns="0" bIns="0" rtlCol="0" anchor="t"/>
          <a:lstStyle/>
          <a:p>
            <a:pPr algn="l" indent="0" marL="0">
              <a:lnSpc>
                <a:spcPct val="110000"/>
              </a:lnSpc>
              <a:buNone/>
            </a:pPr>
            <a:r>
              <a:rPr lang="en-US" sz="1400" b="1" dirty="0">
                <a:solidFill>
                  <a:schemeClr val="accent1"/>
                </a:solidFill>
              </a:rPr>
              <a:t>③ 위치 확정</a:t>
            </a:r>
            <a:endParaRPr lang="en-US" sz="1400" dirty="0"/>
          </a:p>
        </p:txBody>
      </p:sp>
      <p:sp>
        <p:nvSpPr>
          <p:cNvPr id="29" name="Text 26"/>
          <p:cNvSpPr txBox="1"/>
          <p:nvPr/>
        </p:nvSpPr>
        <p:spPr>
          <a:xfrm>
            <a:off x="8531352" y="4526280"/>
            <a:ext cx="2926080" cy="32004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site_score (식 6)</a:t>
            </a:r>
            <a:endParaRPr lang="en-US" sz="1200" dirty="0"/>
          </a:p>
        </p:txBody>
      </p:sp>
      <p:sp>
        <p:nvSpPr>
          <p:cNvPr id="30" name="Shape 27"/>
          <p:cNvSpPr/>
          <p:nvPr/>
        </p:nvSpPr>
        <p:spPr>
          <a:xfrm>
            <a:off x="6089904" y="3794760"/>
            <a:ext cx="0" cy="320040"/>
          </a:xfrm>
          <a:prstGeom prst="line">
            <a:avLst/>
          </a:prstGeom>
          <a:noFill/>
          <a:ln w="19050">
            <a:solidFill>
              <a:srgbClr val="5B6B7A"/>
            </a:solidFill>
            <a:prstDash val="solid"/>
            <a:tailEnd type="triangle"/>
          </a:ln>
        </p:spPr>
      </p:sp>
      <p:sp>
        <p:nvSpPr>
          <p:cNvPr id="31" name="Shape 28"/>
          <p:cNvSpPr/>
          <p:nvPr/>
        </p:nvSpPr>
        <p:spPr>
          <a:xfrm>
            <a:off x="548640" y="5257800"/>
            <a:ext cx="5394960" cy="868680"/>
          </a:xfrm>
          <a:prstGeom prst="roundRect">
            <a:avLst>
              <a:gd name="adj" fmla="val 8421"/>
            </a:avLst>
          </a:prstGeom>
          <a:solidFill>
            <a:schemeClr val="bg2"/>
          </a:solidFill>
          <a:ln/>
        </p:spPr>
      </p:sp>
      <p:sp>
        <p:nvSpPr>
          <p:cNvPr id="32" name="Text 29"/>
          <p:cNvSpPr txBox="1"/>
          <p:nvPr/>
        </p:nvSpPr>
        <p:spPr>
          <a:xfrm>
            <a:off x="731520" y="5330952"/>
            <a:ext cx="5029200" cy="347472"/>
          </a:xfrm>
          <a:prstGeom prst="rect">
            <a:avLst/>
          </a:prstGeom>
          <a:noFill/>
          <a:ln/>
        </p:spPr>
        <p:txBody>
          <a:bodyPr wrap="square" lIns="0" tIns="0" rIns="0" bIns="0" rtlCol="0" anchor="t"/>
          <a:lstStyle/>
          <a:p>
            <a:pPr algn="l" indent="0" marL="0">
              <a:lnSpc>
                <a:spcPct val="110000"/>
              </a:lnSpc>
              <a:buNone/>
            </a:pPr>
            <a:r>
              <a:rPr lang="en-US" sz="1400" b="1" dirty="0">
                <a:solidFill>
                  <a:schemeClr val="accent1"/>
                </a:solidFill>
              </a:rPr>
              <a:t>copy-paste 합성</a:t>
            </a:r>
            <a:endParaRPr lang="en-US" sz="1400" dirty="0"/>
          </a:p>
        </p:txBody>
      </p:sp>
      <p:sp>
        <p:nvSpPr>
          <p:cNvPr id="33" name="Text 30"/>
          <p:cNvSpPr txBox="1"/>
          <p:nvPr/>
        </p:nvSpPr>
        <p:spPr>
          <a:xfrm>
            <a:off x="731520" y="5669280"/>
            <a:ext cx="5029200" cy="41148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gradient-domain / alpha blending</a:t>
            </a:r>
            <a:endParaRPr lang="en-US" sz="1200" dirty="0"/>
          </a:p>
        </p:txBody>
      </p:sp>
      <p:sp>
        <p:nvSpPr>
          <p:cNvPr id="34" name="Shape 31"/>
          <p:cNvSpPr/>
          <p:nvPr/>
        </p:nvSpPr>
        <p:spPr>
          <a:xfrm>
            <a:off x="6245352" y="5257800"/>
            <a:ext cx="5394960" cy="868680"/>
          </a:xfrm>
          <a:prstGeom prst="roundRect">
            <a:avLst>
              <a:gd name="adj" fmla="val 8421"/>
            </a:avLst>
          </a:prstGeom>
          <a:solidFill>
            <a:schemeClr val="tx2"/>
          </a:solidFill>
          <a:ln/>
        </p:spPr>
      </p:sp>
      <p:sp>
        <p:nvSpPr>
          <p:cNvPr id="35" name="Text 32"/>
          <p:cNvSpPr txBox="1"/>
          <p:nvPr/>
        </p:nvSpPr>
        <p:spPr>
          <a:xfrm>
            <a:off x="6428232" y="5330952"/>
            <a:ext cx="5029200" cy="347472"/>
          </a:xfrm>
          <a:prstGeom prst="rect">
            <a:avLst/>
          </a:prstGeom>
          <a:noFill/>
          <a:ln/>
        </p:spPr>
        <p:txBody>
          <a:bodyPr wrap="square" lIns="0" tIns="0" rIns="0" bIns="0" rtlCol="0" anchor="t"/>
          <a:lstStyle/>
          <a:p>
            <a:pPr algn="l" indent="0" marL="0">
              <a:lnSpc>
                <a:spcPct val="110000"/>
              </a:lnSpc>
              <a:buNone/>
            </a:pPr>
            <a:r>
              <a:rPr lang="en-US" sz="1400" b="1" dirty="0">
                <a:solidFill>
                  <a:schemeClr val="bg1"/>
                </a:solidFill>
              </a:rPr>
              <a:t>YOLOv8n 다운스트림 평가</a:t>
            </a:r>
            <a:endParaRPr lang="en-US" sz="1400" dirty="0"/>
          </a:p>
        </p:txBody>
      </p:sp>
      <p:sp>
        <p:nvSpPr>
          <p:cNvPr id="36" name="Text 33"/>
          <p:cNvSpPr txBox="1"/>
          <p:nvPr/>
        </p:nvSpPr>
        <p:spPr>
          <a:xfrm>
            <a:off x="6428232" y="5669280"/>
            <a:ext cx="5029200" cy="411480"/>
          </a:xfrm>
          <a:prstGeom prst="rect">
            <a:avLst/>
          </a:prstGeom>
          <a:noFill/>
          <a:ln/>
        </p:spPr>
        <p:txBody>
          <a:bodyPr wrap="square" lIns="0" tIns="0" rIns="0" bIns="0" rtlCol="0" anchor="t"/>
          <a:lstStyle/>
          <a:p>
            <a:pPr algn="l" indent="0" marL="0">
              <a:lnSpc>
                <a:spcPct val="110000"/>
              </a:lnSpc>
              <a:buNone/>
            </a:pPr>
            <a:r>
              <a:rPr lang="en-US" sz="1200" dirty="0">
                <a:solidFill>
                  <a:schemeClr val="accent4"/>
                </a:solidFill>
              </a:rPr>
              <a:t>Baseline vs Random-ROI vs AROMA · seed 1·2·42</a:t>
            </a:r>
            <a:endParaRPr lang="en-US" sz="1200" dirty="0"/>
          </a:p>
        </p:txBody>
      </p:sp>
      <p:sp>
        <p:nvSpPr>
          <p:cNvPr id="37" name="Shape 34"/>
          <p:cNvSpPr/>
          <p:nvPr/>
        </p:nvSpPr>
        <p:spPr>
          <a:xfrm flipH="1">
            <a:off x="3246120" y="4892040"/>
            <a:ext cx="6382512" cy="365760"/>
          </a:xfrm>
          <a:prstGeom prst="line">
            <a:avLst/>
          </a:prstGeom>
          <a:noFill/>
          <a:ln w="19050">
            <a:solidFill>
              <a:srgbClr val="5B6B7A"/>
            </a:solidFill>
            <a:prstDash val="solid"/>
            <a:tailEnd type="triangle"/>
          </a:ln>
        </p:spPr>
      </p:sp>
      <p:sp>
        <p:nvSpPr>
          <p:cNvPr id="38" name="Shape 35"/>
          <p:cNvSpPr/>
          <p:nvPr/>
        </p:nvSpPr>
        <p:spPr>
          <a:xfrm>
            <a:off x="5989320" y="5687568"/>
            <a:ext cx="228600" cy="0"/>
          </a:xfrm>
          <a:prstGeom prst="line">
            <a:avLst/>
          </a:prstGeom>
          <a:noFill/>
          <a:ln w="19050">
            <a:solidFill>
              <a:srgbClr val="5B6B7A"/>
            </a:solidFill>
            <a:prstDash val="solid"/>
            <a:tailEnd type="triangle"/>
          </a:ln>
        </p:spPr>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제5장 · 핵심 메시지</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제5장 핵심 메시지</a:t>
            </a:r>
            <a:endParaRPr lang="en-US" sz="2400" dirty="0"/>
          </a:p>
        </p:txBody>
      </p:sp>
      <p:sp>
        <p:nvSpPr>
          <p:cNvPr id="5" name="Shape 2"/>
          <p:cNvSpPr/>
          <p:nvPr/>
        </p:nvSpPr>
        <p:spPr>
          <a:xfrm>
            <a:off x="548640" y="1325880"/>
            <a:ext cx="11091672" cy="1234440"/>
          </a:xfrm>
          <a:prstGeom prst="roundRect">
            <a:avLst>
              <a:gd name="adj" fmla="val 5926"/>
            </a:avLst>
          </a:prstGeom>
          <a:solidFill>
            <a:schemeClr val="accent1"/>
          </a:solidFill>
          <a:ln/>
        </p:spPr>
      </p:sp>
      <p:sp>
        <p:nvSpPr>
          <p:cNvPr id="6" name="Text 3"/>
          <p:cNvSpPr txBox="1"/>
          <p:nvPr/>
        </p:nvSpPr>
        <p:spPr>
          <a:xfrm>
            <a:off x="868680" y="1453896"/>
            <a:ext cx="10424160" cy="678942"/>
          </a:xfrm>
          <a:prstGeom prst="rect">
            <a:avLst/>
          </a:prstGeom>
          <a:noFill/>
          <a:ln/>
        </p:spPr>
        <p:txBody>
          <a:bodyPr wrap="square" lIns="0" tIns="0" rIns="0" bIns="0" rtlCol="0" anchor="ctr"/>
          <a:lstStyle/>
          <a:p>
            <a:pPr algn="l" indent="0" marL="0">
              <a:lnSpc>
                <a:spcPct val="110000"/>
              </a:lnSpc>
              <a:buNone/>
            </a:pPr>
            <a:r>
              <a:rPr lang="en-US" sz="1800" b="1" dirty="0">
                <a:solidFill>
                  <a:schemeClr val="bg1"/>
                </a:solidFill>
              </a:rPr>
              <a:t>효과는 성능 개선 여지(headroom)와 배경 문맥 복잡도(CCI)가 함께 있을 때 두드러진다</a:t>
            </a:r>
            <a:endParaRPr lang="en-US" sz="1800" dirty="0"/>
          </a:p>
        </p:txBody>
      </p:sp>
      <p:sp>
        <p:nvSpPr>
          <p:cNvPr id="7" name="Text 4"/>
          <p:cNvSpPr txBox="1"/>
          <p:nvPr/>
        </p:nvSpPr>
        <p:spPr>
          <a:xfrm>
            <a:off x="868680" y="2041855"/>
            <a:ext cx="10424160" cy="444398"/>
          </a:xfrm>
          <a:prstGeom prst="rect">
            <a:avLst/>
          </a:prstGeom>
          <a:noFill/>
          <a:ln/>
        </p:spPr>
        <p:txBody>
          <a:bodyPr wrap="square" lIns="0" tIns="0" rIns="0" bIns="0" rtlCol="0" anchor="t"/>
          <a:lstStyle/>
          <a:p>
            <a:pPr algn="l" indent="0" marL="0">
              <a:lnSpc>
                <a:spcPct val="110000"/>
              </a:lnSpc>
              <a:buNone/>
            </a:pPr>
            <a:r>
              <a:rPr lang="en-US" sz="1400" dirty="0">
                <a:solidFill>
                  <a:schemeClr val="accent4"/>
                </a:solidFill>
              </a:rPr>
              <a:t>조건이 부족하면 Random-ROI와 유사하며, 증강으로 인한 성능 저하는 없었다</a:t>
            </a:r>
            <a:endParaRPr lang="en-US" sz="1400" dirty="0"/>
          </a:p>
        </p:txBody>
      </p:sp>
      <p:sp>
        <p:nvSpPr>
          <p:cNvPr id="8" name="Shape 5"/>
          <p:cNvSpPr/>
          <p:nvPr/>
        </p:nvSpPr>
        <p:spPr>
          <a:xfrm>
            <a:off x="548640" y="2834640"/>
            <a:ext cx="5394960" cy="1737360"/>
          </a:xfrm>
          <a:prstGeom prst="roundRect">
            <a:avLst>
              <a:gd name="adj" fmla="val 4211"/>
            </a:avLst>
          </a:prstGeom>
          <a:solidFill>
            <a:schemeClr val="bg2"/>
          </a:solidFill>
          <a:ln/>
        </p:spPr>
      </p:sp>
      <p:sp>
        <p:nvSpPr>
          <p:cNvPr id="9" name="Text 6"/>
          <p:cNvSpPr txBox="1"/>
          <p:nvPr/>
        </p:nvSpPr>
        <p:spPr>
          <a:xfrm>
            <a:off x="731520" y="2971800"/>
            <a:ext cx="5029200" cy="955548"/>
          </a:xfrm>
          <a:prstGeom prst="rect">
            <a:avLst/>
          </a:prstGeom>
          <a:noFill/>
          <a:ln/>
        </p:spPr>
        <p:txBody>
          <a:bodyPr wrap="square" lIns="0" tIns="0" rIns="0" bIns="0" rtlCol="0" anchor="ctr"/>
          <a:lstStyle/>
          <a:p>
            <a:pPr algn="l" indent="0" marL="0">
              <a:lnSpc>
                <a:spcPct val="110000"/>
              </a:lnSpc>
              <a:buNone/>
            </a:pPr>
            <a:r>
              <a:rPr lang="en-US" sz="3600" b="1" dirty="0">
                <a:solidFill>
                  <a:schemeClr val="accent1"/>
                </a:solidFill>
              </a:rPr>
              <a:t>+1.48 pp</a:t>
            </a:r>
            <a:endParaRPr lang="en-US" sz="3600" dirty="0"/>
          </a:p>
        </p:txBody>
      </p:sp>
      <p:sp>
        <p:nvSpPr>
          <p:cNvPr id="10" name="Text 7"/>
          <p:cNvSpPr txBox="1"/>
          <p:nvPr/>
        </p:nvSpPr>
        <p:spPr>
          <a:xfrm>
            <a:off x="731520" y="3911803"/>
            <a:ext cx="5029200" cy="590702"/>
          </a:xfrm>
          <a:prstGeom prst="rect">
            <a:avLst/>
          </a:prstGeom>
          <a:noFill/>
          <a:ln/>
        </p:spPr>
        <p:txBody>
          <a:bodyPr wrap="square" lIns="0" tIns="0" rIns="0" bIns="0" rtlCol="0" anchor="t"/>
          <a:lstStyle/>
          <a:p>
            <a:pPr algn="l" indent="0" marL="0">
              <a:lnSpc>
                <a:spcPct val="110000"/>
              </a:lnSpc>
              <a:buNone/>
            </a:pPr>
            <a:r>
              <a:rPr lang="en-US" sz="1300" dirty="0">
                <a:solidFill>
                  <a:schemeClr val="accent3"/>
                </a:solidFill>
              </a:rPr>
              <a:t>검출기 교체 재현 (YOLOv11n) · Severstal AROMA − Random, 3/3 seed</a:t>
            </a:r>
            <a:endParaRPr lang="en-US" sz="1300" dirty="0"/>
          </a:p>
        </p:txBody>
      </p:sp>
      <p:sp>
        <p:nvSpPr>
          <p:cNvPr id="11" name="Shape 8"/>
          <p:cNvSpPr/>
          <p:nvPr/>
        </p:nvSpPr>
        <p:spPr>
          <a:xfrm>
            <a:off x="6245352" y="2834640"/>
            <a:ext cx="5394960" cy="1737360"/>
          </a:xfrm>
          <a:prstGeom prst="roundRect">
            <a:avLst>
              <a:gd name="adj" fmla="val 4211"/>
            </a:avLst>
          </a:prstGeom>
          <a:solidFill>
            <a:schemeClr val="bg2"/>
          </a:solidFill>
          <a:ln/>
        </p:spPr>
      </p:sp>
      <p:sp>
        <p:nvSpPr>
          <p:cNvPr id="12" name="Text 9"/>
          <p:cNvSpPr txBox="1"/>
          <p:nvPr/>
        </p:nvSpPr>
        <p:spPr>
          <a:xfrm>
            <a:off x="6428232" y="2971800"/>
            <a:ext cx="5029200" cy="955548"/>
          </a:xfrm>
          <a:prstGeom prst="rect">
            <a:avLst/>
          </a:prstGeom>
          <a:noFill/>
          <a:ln/>
        </p:spPr>
        <p:txBody>
          <a:bodyPr wrap="square" lIns="0" tIns="0" rIns="0" bIns="0" rtlCol="0" anchor="ctr"/>
          <a:lstStyle/>
          <a:p>
            <a:pPr algn="l" indent="0" marL="0">
              <a:lnSpc>
                <a:spcPct val="110000"/>
              </a:lnSpc>
              <a:buNone/>
            </a:pPr>
            <a:r>
              <a:rPr lang="en-US" sz="3600" b="1" dirty="0">
                <a:solidFill>
                  <a:schemeClr val="accent2"/>
                </a:solidFill>
              </a:rPr>
              <a:t>4 / 5</a:t>
            </a:r>
            <a:endParaRPr lang="en-US" sz="3600" dirty="0"/>
          </a:p>
        </p:txBody>
      </p:sp>
      <p:sp>
        <p:nvSpPr>
          <p:cNvPr id="13" name="Text 10"/>
          <p:cNvSpPr txBox="1"/>
          <p:nvPr/>
        </p:nvSpPr>
        <p:spPr>
          <a:xfrm>
            <a:off x="6428232" y="3911803"/>
            <a:ext cx="5029200" cy="590702"/>
          </a:xfrm>
          <a:prstGeom prst="rect">
            <a:avLst/>
          </a:prstGeom>
          <a:noFill/>
          <a:ln/>
        </p:spPr>
        <p:txBody>
          <a:bodyPr wrap="square" lIns="0" tIns="0" rIns="0" bIns="0" rtlCol="0" anchor="t"/>
          <a:lstStyle/>
          <a:p>
            <a:pPr algn="l" indent="0" marL="0">
              <a:lnSpc>
                <a:spcPct val="110000"/>
              </a:lnSpc>
              <a:buNone/>
            </a:pPr>
            <a:r>
              <a:rPr lang="en-US" sz="1300" dirty="0">
                <a:solidFill>
                  <a:schemeClr val="accent3"/>
                </a:solidFill>
              </a:rPr>
              <a:t>선택 분포 균등도 · AROMA ≥ Random (AITeX는 호환성을 우선)</a:t>
            </a:r>
            <a:endParaRPr lang="en-US" sz="1300" dirty="0"/>
          </a:p>
        </p:txBody>
      </p:sp>
      <p:sp>
        <p:nvSpPr>
          <p:cNvPr id="14" name="Shape 11"/>
          <p:cNvSpPr/>
          <p:nvPr/>
        </p:nvSpPr>
        <p:spPr>
          <a:xfrm>
            <a:off x="548640" y="4892040"/>
            <a:ext cx="11091672" cy="1188720"/>
          </a:xfrm>
          <a:prstGeom prst="roundRect">
            <a:avLst>
              <a:gd name="adj" fmla="val 6154"/>
            </a:avLst>
          </a:prstGeom>
          <a:solidFill>
            <a:schemeClr val="accent5"/>
          </a:solidFill>
          <a:ln/>
        </p:spPr>
      </p:sp>
      <p:sp>
        <p:nvSpPr>
          <p:cNvPr id="15" name="Text 12"/>
          <p:cNvSpPr txBox="1"/>
          <p:nvPr/>
        </p:nvSpPr>
        <p:spPr>
          <a:xfrm>
            <a:off x="822960" y="5029200"/>
            <a:ext cx="1097280" cy="320040"/>
          </a:xfrm>
          <a:prstGeom prst="rect">
            <a:avLst/>
          </a:prstGeom>
          <a:noFill/>
          <a:ln/>
        </p:spPr>
        <p:txBody>
          <a:bodyPr wrap="square" lIns="0" tIns="0" rIns="0" bIns="0" rtlCol="0" anchor="t"/>
          <a:lstStyle/>
          <a:p>
            <a:pPr algn="l" indent="0" marL="0">
              <a:lnSpc>
                <a:spcPct val="110000"/>
              </a:lnSpc>
              <a:buNone/>
            </a:pPr>
            <a:r>
              <a:rPr lang="en-US" sz="1400" b="1" dirty="0">
                <a:solidFill>
                  <a:schemeClr val="accent2"/>
                </a:solidFill>
              </a:rPr>
              <a:t>다음 장</a:t>
            </a:r>
            <a:endParaRPr lang="en-US" sz="1400" dirty="0"/>
          </a:p>
        </p:txBody>
      </p:sp>
      <p:sp>
        <p:nvSpPr>
          <p:cNvPr id="16" name="Text 13"/>
          <p:cNvSpPr txBox="1"/>
          <p:nvPr/>
        </p:nvSpPr>
        <p:spPr>
          <a:xfrm>
            <a:off x="1920240" y="4983480"/>
            <a:ext cx="9509760" cy="1005840"/>
          </a:xfrm>
          <a:prstGeom prst="rect">
            <a:avLst/>
          </a:prstGeom>
          <a:noFill/>
          <a:ln/>
        </p:spPr>
        <p:txBody>
          <a:bodyPr wrap="square" lIns="0" tIns="0" rIns="0" bIns="0" rtlCol="0" anchor="ctr"/>
          <a:lstStyle/>
          <a:p>
            <a:pPr algn="l" indent="0" marL="0">
              <a:lnSpc>
                <a:spcPct val="110000"/>
              </a:lnSpc>
              <a:buNone/>
            </a:pPr>
            <a:r>
              <a:rPr lang="en-US" sz="1500" b="1" dirty="0">
                <a:solidFill>
                  <a:schemeClr val="accent1"/>
                </a:solidFill>
              </a:rPr>
              <a:t>배치 단계의 문맥 자동화를 확립한 뒤, 제6장에서는 철강 도메인 특화 규칙을 적용하고 문맥 정보를 결함 생성 조건까지 확장한다</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731520" y="1920240"/>
            <a:ext cx="5486400" cy="548640"/>
          </a:xfrm>
          <a:prstGeom prst="rect">
            <a:avLst/>
          </a:prstGeom>
          <a:noFill/>
          <a:ln/>
        </p:spPr>
        <p:txBody>
          <a:bodyPr wrap="square" lIns="0" tIns="0" rIns="0" bIns="0" rtlCol="0"/>
          <a:lstStyle/>
          <a:p>
            <a:pPr indent="0" marL="0">
              <a:buNone/>
            </a:pPr>
            <a:r>
              <a:rPr lang="en-US" sz="2200" b="1" dirty="0">
                <a:solidFill>
                  <a:schemeClr val="accent2"/>
                </a:solidFill>
              </a:rPr>
              <a:t>제6장</a:t>
            </a:r>
            <a:endParaRPr lang="en-US" sz="2200" dirty="0"/>
          </a:p>
        </p:txBody>
      </p:sp>
      <p:sp>
        <p:nvSpPr>
          <p:cNvPr id="3" name="Text 0"/>
          <p:cNvSpPr/>
          <p:nvPr>
            <p:ph idx="101" type="title" hasCustomPrompt="1"/>
          </p:nvPr>
        </p:nvSpPr>
        <p:spPr>
          <a:xfrm>
            <a:off x="731520" y="2560320"/>
            <a:ext cx="10698480" cy="1188720"/>
          </a:xfrm>
          <a:prstGeom prst="rect">
            <a:avLst/>
          </a:prstGeom>
          <a:noFill/>
          <a:ln/>
        </p:spPr>
        <p:txBody>
          <a:bodyPr wrap="square" lIns="0" tIns="0" rIns="0" bIns="0" rtlCol="0" anchor="t"/>
          <a:lstStyle/>
          <a:p>
            <a:pPr algn="l" indent="0" marL="0">
              <a:buNone/>
            </a:pPr>
            <a:r>
              <a:rPr lang="en-US" sz="3600" b="1" dirty="0">
                <a:solidFill>
                  <a:schemeClr val="bg1"/>
                </a:solidFill>
              </a:rPr>
              <a:t>CASDA: 문맥 인지 강철 결함 증강</a:t>
            </a:r>
            <a:endParaRPr lang="en-US" sz="3600" dirty="0"/>
          </a:p>
        </p:txBody>
      </p:sp>
      <p:sp>
        <p:nvSpPr>
          <p:cNvPr id="4" name="Text 0"/>
          <p:cNvSpPr/>
          <p:nvPr>
            <p:ph idx="102" type="body" hasCustomPrompt="1"/>
          </p:nvPr>
        </p:nvSpPr>
        <p:spPr>
          <a:xfrm>
            <a:off x="731520" y="3931920"/>
            <a:ext cx="10698480" cy="731520"/>
          </a:xfrm>
          <a:prstGeom prst="rect">
            <a:avLst/>
          </a:prstGeom>
          <a:noFill/>
          <a:ln/>
        </p:spPr>
        <p:txBody>
          <a:bodyPr wrap="square" lIns="0" tIns="0" rIns="0" bIns="0" rtlCol="0"/>
          <a:lstStyle/>
          <a:p>
            <a:pPr indent="0" marL="0">
              <a:buNone/>
            </a:pPr>
            <a:r>
              <a:rPr lang="en-US" sz="1800" dirty="0">
                <a:solidFill>
                  <a:schemeClr val="accent4"/>
                </a:solidFill>
              </a:rPr>
              <a:t>문맥을 결함 생성 조건까지 확장</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제6장 · 요약</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CASDA 개요: 생성 단계까지 문맥 반영</a:t>
            </a:r>
            <a:endParaRPr lang="en-US" sz="2400" dirty="0"/>
          </a:p>
        </p:txBody>
      </p:sp>
      <p:sp>
        <p:nvSpPr>
          <p:cNvPr id="5" name="Text 2"/>
          <p:cNvSpPr txBox="1"/>
          <p:nvPr/>
        </p:nvSpPr>
        <p:spPr>
          <a:xfrm>
            <a:off x="548640" y="1417320"/>
            <a:ext cx="6309360" cy="4206240"/>
          </a:xfrm>
          <a:prstGeom prst="rect">
            <a:avLst/>
          </a:prstGeom>
          <a:noFill/>
          <a:ln/>
        </p:spPr>
        <p:txBody>
          <a:bodyPr wrap="square" lIns="0" tIns="0" rIns="0" bIns="0" rtlCol="0" anchor="t"/>
          <a:lstStyle/>
          <a:p>
            <a:pPr marL="203200" indent="-203200">
              <a:lnSpc>
                <a:spcPct val="110000"/>
              </a:lnSpc>
              <a:spcAft>
                <a:spcPts val="1400"/>
              </a:spcAft>
              <a:buSzPct val="100000"/>
              <a:buChar char="•"/>
            </a:pPr>
            <a:r>
              <a:rPr lang="en-US" sz="1600" dirty="0">
                <a:solidFill>
                  <a:schemeClr val="tx1"/>
                </a:solidFill>
              </a:rPr>
              <a:t>제5장의 형태·문맥 호환성 개념을 철강(Severstal)에 특화</a:t>
            </a:r>
            <a:endParaRPr lang="en-US" sz="1600" dirty="0"/>
          </a:p>
          <a:p>
            <a:pPr marL="203200" indent="-203200">
              <a:lnSpc>
                <a:spcPct val="110000"/>
              </a:lnSpc>
              <a:spcAft>
                <a:spcPts val="1400"/>
              </a:spcAft>
              <a:buSzPct val="100000"/>
              <a:buChar char="•"/>
            </a:pPr>
            <a:r>
              <a:rPr lang="en-US" sz="1600" dirty="0">
                <a:solidFill>
                  <a:schemeClr val="tx1"/>
                </a:solidFill>
              </a:rPr>
              <a:t>결함 기하 특성으로 형태 분류, Canny·Sobel로 배경 유형 구분</a:t>
            </a:r>
            <a:endParaRPr lang="en-US" sz="1600" dirty="0"/>
          </a:p>
          <a:p>
            <a:pPr marL="203200" indent="-203200">
              <a:lnSpc>
                <a:spcPct val="110000"/>
              </a:lnSpc>
              <a:spcAft>
                <a:spcPts val="1400"/>
              </a:spcAft>
              <a:buSzPct val="100000"/>
              <a:buChar char="•"/>
            </a:pPr>
            <a:r>
              <a:rPr lang="en-US" sz="1600" dirty="0">
                <a:solidFill>
                  <a:schemeClr val="tx1"/>
                </a:solidFill>
              </a:rPr>
              <a:t>호환성 행렬로 적합한 배경 선택</a:t>
            </a:r>
            <a:endParaRPr lang="en-US" sz="1600" dirty="0"/>
          </a:p>
          <a:p>
            <a:pPr marL="203200" indent="-203200">
              <a:lnSpc>
                <a:spcPct val="110000"/>
              </a:lnSpc>
              <a:spcAft>
                <a:spcPts val="1400"/>
              </a:spcAft>
              <a:buSzPct val="100000"/>
              <a:buChar char="•"/>
            </a:pPr>
            <a:r>
              <a:rPr lang="en-US" sz="1600" dirty="0">
                <a:solidFill>
                  <a:schemeClr val="tx1"/>
                </a:solidFill>
              </a:rPr>
              <a:t>3채널 힌트 + 4필드 문맥 프롬프트 → ControlNet 조건</a:t>
            </a:r>
            <a:endParaRPr lang="en-US" sz="1600" dirty="0"/>
          </a:p>
          <a:p>
            <a:pPr marL="203200" indent="-203200">
              <a:lnSpc>
                <a:spcPct val="110000"/>
              </a:lnSpc>
              <a:spcAft>
                <a:spcPts val="1400"/>
              </a:spcAft>
              <a:buSzPct val="100000"/>
              <a:buChar char="•"/>
            </a:pPr>
            <a:r>
              <a:rPr lang="en-US" sz="1600" dirty="0">
                <a:solidFill>
                  <a:schemeClr val="tx1"/>
                </a:solidFill>
              </a:rPr>
              <a:t>Poisson blending 합성 + 품질 게이트 (Q ≥ 0.7)</a:t>
            </a:r>
            <a:endParaRPr lang="en-US" sz="1600" dirty="0"/>
          </a:p>
        </p:txBody>
      </p:sp>
      <p:sp>
        <p:nvSpPr>
          <p:cNvPr id="6" name="Text 3"/>
          <p:cNvSpPr txBox="1"/>
          <p:nvPr/>
        </p:nvSpPr>
        <p:spPr>
          <a:xfrm>
            <a:off x="7223760" y="1325880"/>
            <a:ext cx="4389120" cy="320040"/>
          </a:xfrm>
          <a:prstGeom prst="rect">
            <a:avLst/>
          </a:prstGeom>
          <a:noFill/>
          <a:ln/>
        </p:spPr>
        <p:txBody>
          <a:bodyPr wrap="square" lIns="0" tIns="0" rIns="0" bIns="0" rtlCol="0" anchor="t"/>
          <a:lstStyle/>
          <a:p>
            <a:pPr algn="l" indent="0" marL="0">
              <a:lnSpc>
                <a:spcPct val="110000"/>
              </a:lnSpc>
              <a:buNone/>
            </a:pPr>
            <a:r>
              <a:rPr lang="en-US" sz="1300" b="1" dirty="0">
                <a:solidFill>
                  <a:schemeClr val="accent3"/>
                </a:solidFill>
              </a:rPr>
              <a:t>EB-YOLOv8 · Copy-Paste 대비</a:t>
            </a:r>
            <a:endParaRPr lang="en-US" sz="1300" dirty="0"/>
          </a:p>
        </p:txBody>
      </p:sp>
      <p:sp>
        <p:nvSpPr>
          <p:cNvPr id="7" name="Shape 4"/>
          <p:cNvSpPr/>
          <p:nvPr/>
        </p:nvSpPr>
        <p:spPr>
          <a:xfrm>
            <a:off x="7223760" y="1691640"/>
            <a:ext cx="4416552" cy="1371600"/>
          </a:xfrm>
          <a:prstGeom prst="roundRect">
            <a:avLst>
              <a:gd name="adj" fmla="val 5333"/>
            </a:avLst>
          </a:prstGeom>
          <a:solidFill>
            <a:schemeClr val="bg2"/>
          </a:solidFill>
          <a:ln/>
        </p:spPr>
      </p:sp>
      <p:sp>
        <p:nvSpPr>
          <p:cNvPr id="8" name="Text 5"/>
          <p:cNvSpPr txBox="1"/>
          <p:nvPr/>
        </p:nvSpPr>
        <p:spPr>
          <a:xfrm>
            <a:off x="7406640" y="1828800"/>
            <a:ext cx="4050792" cy="754380"/>
          </a:xfrm>
          <a:prstGeom prst="rect">
            <a:avLst/>
          </a:prstGeom>
          <a:noFill/>
          <a:ln/>
        </p:spPr>
        <p:txBody>
          <a:bodyPr wrap="square" lIns="0" tIns="0" rIns="0" bIns="0" rtlCol="0" anchor="ctr"/>
          <a:lstStyle/>
          <a:p>
            <a:pPr algn="l" indent="0" marL="0">
              <a:lnSpc>
                <a:spcPct val="110000"/>
              </a:lnSpc>
              <a:buNone/>
            </a:pPr>
            <a:r>
              <a:rPr lang="en-US" sz="3400" b="1" dirty="0">
                <a:solidFill>
                  <a:schemeClr val="accent1"/>
                </a:solidFill>
              </a:rPr>
              <a:t>+2.60 pp</a:t>
            </a:r>
            <a:endParaRPr lang="en-US" sz="3400" dirty="0"/>
          </a:p>
        </p:txBody>
      </p:sp>
      <p:sp>
        <p:nvSpPr>
          <p:cNvPr id="9" name="Text 6"/>
          <p:cNvSpPr txBox="1"/>
          <p:nvPr/>
        </p:nvSpPr>
        <p:spPr>
          <a:xfrm>
            <a:off x="7406640" y="2542032"/>
            <a:ext cx="4050792" cy="466344"/>
          </a:xfrm>
          <a:prstGeom prst="rect">
            <a:avLst/>
          </a:prstGeom>
          <a:noFill/>
          <a:ln/>
        </p:spPr>
        <p:txBody>
          <a:bodyPr wrap="square" lIns="0" tIns="0" rIns="0" bIns="0" rtlCol="0" anchor="t"/>
          <a:lstStyle/>
          <a:p>
            <a:pPr algn="l" indent="0" marL="0">
              <a:lnSpc>
                <a:spcPct val="110000"/>
              </a:lnSpc>
              <a:buNone/>
            </a:pPr>
            <a:r>
              <a:rPr lang="en-US" sz="1300" dirty="0">
                <a:solidFill>
                  <a:schemeClr val="accent3"/>
                </a:solidFill>
              </a:rPr>
              <a:t>mAP@0.5</a:t>
            </a:r>
            <a:endParaRPr lang="en-US" sz="1300" dirty="0"/>
          </a:p>
        </p:txBody>
      </p:sp>
      <p:sp>
        <p:nvSpPr>
          <p:cNvPr id="10" name="Shape 7"/>
          <p:cNvSpPr/>
          <p:nvPr/>
        </p:nvSpPr>
        <p:spPr>
          <a:xfrm>
            <a:off x="7223760" y="3200400"/>
            <a:ext cx="4416552" cy="1371600"/>
          </a:xfrm>
          <a:prstGeom prst="roundRect">
            <a:avLst>
              <a:gd name="adj" fmla="val 5333"/>
            </a:avLst>
          </a:prstGeom>
          <a:solidFill>
            <a:schemeClr val="bg2"/>
          </a:solidFill>
          <a:ln/>
        </p:spPr>
      </p:sp>
      <p:sp>
        <p:nvSpPr>
          <p:cNvPr id="11" name="Text 8"/>
          <p:cNvSpPr txBox="1"/>
          <p:nvPr/>
        </p:nvSpPr>
        <p:spPr>
          <a:xfrm>
            <a:off x="7406640" y="3337560"/>
            <a:ext cx="4050792" cy="754380"/>
          </a:xfrm>
          <a:prstGeom prst="rect">
            <a:avLst/>
          </a:prstGeom>
          <a:noFill/>
          <a:ln/>
        </p:spPr>
        <p:txBody>
          <a:bodyPr wrap="square" lIns="0" tIns="0" rIns="0" bIns="0" rtlCol="0" anchor="ctr"/>
          <a:lstStyle/>
          <a:p>
            <a:pPr algn="l" indent="0" marL="0">
              <a:lnSpc>
                <a:spcPct val="110000"/>
              </a:lnSpc>
              <a:buNone/>
            </a:pPr>
            <a:r>
              <a:rPr lang="en-US" sz="3400" b="1" dirty="0">
                <a:solidFill>
                  <a:schemeClr val="accent2"/>
                </a:solidFill>
              </a:rPr>
              <a:t>+22.09 pp</a:t>
            </a:r>
            <a:endParaRPr lang="en-US" sz="3400" dirty="0"/>
          </a:p>
        </p:txBody>
      </p:sp>
      <p:sp>
        <p:nvSpPr>
          <p:cNvPr id="12" name="Text 9"/>
          <p:cNvSpPr txBox="1"/>
          <p:nvPr/>
        </p:nvSpPr>
        <p:spPr>
          <a:xfrm>
            <a:off x="7406640" y="4050792"/>
            <a:ext cx="4050792" cy="466344"/>
          </a:xfrm>
          <a:prstGeom prst="rect">
            <a:avLst/>
          </a:prstGeom>
          <a:noFill/>
          <a:ln/>
        </p:spPr>
        <p:txBody>
          <a:bodyPr wrap="square" lIns="0" tIns="0" rIns="0" bIns="0" rtlCol="0" anchor="t"/>
          <a:lstStyle/>
          <a:p>
            <a:pPr algn="l" indent="0" marL="0">
              <a:lnSpc>
                <a:spcPct val="110000"/>
              </a:lnSpc>
              <a:buNone/>
            </a:pPr>
            <a:r>
              <a:rPr lang="en-US" sz="1300" dirty="0">
                <a:solidFill>
                  <a:schemeClr val="accent3"/>
                </a:solidFill>
              </a:rPr>
              <a:t>Class 2 AP (희소 클래스)</a:t>
            </a:r>
            <a:endParaRPr lang="en-US" sz="1300" dirty="0"/>
          </a:p>
        </p:txBody>
      </p:sp>
      <p:sp>
        <p:nvSpPr>
          <p:cNvPr id="13" name="Shape 10"/>
          <p:cNvSpPr/>
          <p:nvPr/>
        </p:nvSpPr>
        <p:spPr>
          <a:xfrm>
            <a:off x="7223760" y="4754880"/>
            <a:ext cx="4416552" cy="914400"/>
          </a:xfrm>
          <a:prstGeom prst="roundRect">
            <a:avLst>
              <a:gd name="adj" fmla="val 8000"/>
            </a:avLst>
          </a:prstGeom>
          <a:solidFill>
            <a:schemeClr val="accent5"/>
          </a:solidFill>
          <a:ln/>
        </p:spPr>
      </p:sp>
      <p:sp>
        <p:nvSpPr>
          <p:cNvPr id="14" name="Text 11"/>
          <p:cNvSpPr txBox="1"/>
          <p:nvPr/>
        </p:nvSpPr>
        <p:spPr>
          <a:xfrm>
            <a:off x="7406640" y="4754880"/>
            <a:ext cx="4069080" cy="914400"/>
          </a:xfrm>
          <a:prstGeom prst="rect">
            <a:avLst/>
          </a:prstGeom>
          <a:noFill/>
          <a:ln/>
        </p:spPr>
        <p:txBody>
          <a:bodyPr wrap="square" lIns="0" tIns="0" rIns="0" bIns="0" rtlCol="0" anchor="ctr"/>
          <a:lstStyle/>
          <a:p>
            <a:pPr algn="l" indent="0" marL="0">
              <a:lnSpc>
                <a:spcPct val="110000"/>
              </a:lnSpc>
              <a:buNone/>
            </a:pPr>
            <a:r>
              <a:rPr lang="en-US" sz="1300" dirty="0">
                <a:solidFill>
                  <a:schemeClr val="tx1"/>
                </a:solidFill>
              </a:rPr>
              <a:t>YOLO-MFD에서는 개선 없음 → 효과는 검출 아키텍처에 따라 달라짐</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제6장 · 수식</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제6장 수식 한눈에 보기</a:t>
            </a:r>
            <a:endParaRPr lang="en-US" sz="2400" dirty="0"/>
          </a:p>
        </p:txBody>
      </p:sp>
      <p:sp>
        <p:nvSpPr>
          <p:cNvPr id="5" name="Shape 2"/>
          <p:cNvSpPr/>
          <p:nvPr/>
        </p:nvSpPr>
        <p:spPr>
          <a:xfrm>
            <a:off x="548640" y="1280160"/>
            <a:ext cx="3511296" cy="1463040"/>
          </a:xfrm>
          <a:prstGeom prst="roundRect">
            <a:avLst>
              <a:gd name="adj" fmla="val 5000"/>
            </a:avLst>
          </a:prstGeom>
          <a:solidFill>
            <a:schemeClr val="bg2"/>
          </a:solidFill>
          <a:ln/>
        </p:spPr>
      </p:sp>
      <p:sp>
        <p:nvSpPr>
          <p:cNvPr id="6" name="Text 3"/>
          <p:cNvSpPr txBox="1"/>
          <p:nvPr/>
        </p:nvSpPr>
        <p:spPr>
          <a:xfrm>
            <a:off x="731520" y="1389888"/>
            <a:ext cx="3145536" cy="292608"/>
          </a:xfrm>
          <a:prstGeom prst="rect">
            <a:avLst/>
          </a:prstGeom>
          <a:noFill/>
          <a:ln/>
        </p:spPr>
        <p:txBody>
          <a:bodyPr wrap="square" lIns="0" tIns="0" rIns="0" bIns="0" rtlCol="0" anchor="t"/>
          <a:lstStyle/>
          <a:p>
            <a:pPr algn="l" indent="0" marL="0">
              <a:lnSpc>
                <a:spcPct val="110000"/>
              </a:lnSpc>
              <a:buNone/>
            </a:pPr>
            <a:r>
              <a:rPr lang="en-US" sz="1300" b="1" dirty="0">
                <a:solidFill>
                  <a:schemeClr val="accent1"/>
                </a:solidFill>
              </a:rPr>
              <a:t>(1) 선형성</a:t>
            </a:r>
            <a:endParaRPr lang="en-US" sz="1300" dirty="0"/>
          </a:p>
        </p:txBody>
      </p:sp>
      <p:pic>
        <p:nvPicPr>
          <p:cNvPr id="7" name="Image 0" descr="e1">    </p:cNvPr>
          <p:cNvPicPr>
            <a:picLocks noChangeAspect="1"/>
          </p:cNvPicPr>
          <p:nvPr/>
        </p:nvPicPr>
        <p:blipFill>
          <a:blip r:embed="rId1"/>
          <a:stretch>
            <a:fillRect/>
          </a:stretch>
        </p:blipFill>
        <p:spPr>
          <a:xfrm>
            <a:off x="731520" y="1810146"/>
            <a:ext cx="1179027" cy="476220"/>
          </a:xfrm>
          <a:prstGeom prst="rect">
            <a:avLst/>
          </a:prstGeom>
        </p:spPr>
      </p:pic>
      <p:sp>
        <p:nvSpPr>
          <p:cNvPr id="8" name="Text 4"/>
          <p:cNvSpPr txBox="1"/>
          <p:nvPr/>
        </p:nvSpPr>
        <p:spPr>
          <a:xfrm>
            <a:off x="731520" y="2377440"/>
            <a:ext cx="3145536" cy="292608"/>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1에 가까울수록 선형(스크래치)</a:t>
            </a:r>
            <a:endParaRPr lang="en-US" sz="1100" dirty="0"/>
          </a:p>
        </p:txBody>
      </p:sp>
      <p:sp>
        <p:nvSpPr>
          <p:cNvPr id="9" name="Shape 5"/>
          <p:cNvSpPr/>
          <p:nvPr/>
        </p:nvSpPr>
        <p:spPr>
          <a:xfrm>
            <a:off x="4334256" y="1280160"/>
            <a:ext cx="3511296" cy="1463040"/>
          </a:xfrm>
          <a:prstGeom prst="roundRect">
            <a:avLst>
              <a:gd name="adj" fmla="val 5000"/>
            </a:avLst>
          </a:prstGeom>
          <a:solidFill>
            <a:schemeClr val="bg2"/>
          </a:solidFill>
          <a:ln/>
        </p:spPr>
      </p:sp>
      <p:sp>
        <p:nvSpPr>
          <p:cNvPr id="10" name="Text 6"/>
          <p:cNvSpPr txBox="1"/>
          <p:nvPr/>
        </p:nvSpPr>
        <p:spPr>
          <a:xfrm>
            <a:off x="4517136" y="1389888"/>
            <a:ext cx="3145536" cy="292608"/>
          </a:xfrm>
          <a:prstGeom prst="rect">
            <a:avLst/>
          </a:prstGeom>
          <a:noFill/>
          <a:ln/>
        </p:spPr>
        <p:txBody>
          <a:bodyPr wrap="square" lIns="0" tIns="0" rIns="0" bIns="0" rtlCol="0" anchor="t"/>
          <a:lstStyle/>
          <a:p>
            <a:pPr algn="l" indent="0" marL="0">
              <a:lnSpc>
                <a:spcPct val="110000"/>
              </a:lnSpc>
              <a:buNone/>
            </a:pPr>
            <a:r>
              <a:rPr lang="en-US" sz="1300" b="1" dirty="0">
                <a:solidFill>
                  <a:schemeClr val="accent1"/>
                </a:solidFill>
              </a:rPr>
              <a:t>(2) 견고도</a:t>
            </a:r>
            <a:endParaRPr lang="en-US" sz="1300" dirty="0"/>
          </a:p>
        </p:txBody>
      </p:sp>
      <p:pic>
        <p:nvPicPr>
          <p:cNvPr id="11" name="Image 1" descr="e2">    </p:cNvPr>
          <p:cNvPicPr>
            <a:picLocks noChangeAspect="1"/>
          </p:cNvPicPr>
          <p:nvPr/>
        </p:nvPicPr>
        <p:blipFill>
          <a:blip r:embed="rId2"/>
          <a:stretch>
            <a:fillRect/>
          </a:stretch>
        </p:blipFill>
        <p:spPr>
          <a:xfrm>
            <a:off x="4517136" y="1785183"/>
            <a:ext cx="1361450" cy="526146"/>
          </a:xfrm>
          <a:prstGeom prst="rect">
            <a:avLst/>
          </a:prstGeom>
        </p:spPr>
      </p:pic>
      <p:sp>
        <p:nvSpPr>
          <p:cNvPr id="12" name="Text 7"/>
          <p:cNvSpPr txBox="1"/>
          <p:nvPr/>
        </p:nvSpPr>
        <p:spPr>
          <a:xfrm>
            <a:off x="4517136" y="2377440"/>
            <a:ext cx="3145536" cy="292608"/>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낮으면 경계 불규칙</a:t>
            </a:r>
            <a:endParaRPr lang="en-US" sz="1100" dirty="0"/>
          </a:p>
        </p:txBody>
      </p:sp>
      <p:sp>
        <p:nvSpPr>
          <p:cNvPr id="13" name="Shape 8"/>
          <p:cNvSpPr/>
          <p:nvPr/>
        </p:nvSpPr>
        <p:spPr>
          <a:xfrm>
            <a:off x="8119872" y="1280160"/>
            <a:ext cx="3511296" cy="1463040"/>
          </a:xfrm>
          <a:prstGeom prst="roundRect">
            <a:avLst>
              <a:gd name="adj" fmla="val 5000"/>
            </a:avLst>
          </a:prstGeom>
          <a:solidFill>
            <a:schemeClr val="bg2"/>
          </a:solidFill>
          <a:ln/>
        </p:spPr>
      </p:sp>
      <p:sp>
        <p:nvSpPr>
          <p:cNvPr id="14" name="Text 9"/>
          <p:cNvSpPr txBox="1"/>
          <p:nvPr/>
        </p:nvSpPr>
        <p:spPr>
          <a:xfrm>
            <a:off x="8302752" y="1389888"/>
            <a:ext cx="3145536" cy="292608"/>
          </a:xfrm>
          <a:prstGeom prst="rect">
            <a:avLst/>
          </a:prstGeom>
          <a:noFill/>
          <a:ln/>
        </p:spPr>
        <p:txBody>
          <a:bodyPr wrap="square" lIns="0" tIns="0" rIns="0" bIns="0" rtlCol="0" anchor="t"/>
          <a:lstStyle/>
          <a:p>
            <a:pPr algn="l" indent="0" marL="0">
              <a:lnSpc>
                <a:spcPct val="110000"/>
              </a:lnSpc>
              <a:buNone/>
            </a:pPr>
            <a:r>
              <a:rPr lang="en-US" sz="1300" b="1" dirty="0">
                <a:solidFill>
                  <a:schemeClr val="accent1"/>
                </a:solidFill>
              </a:rPr>
              <a:t>(3) 면적비</a:t>
            </a:r>
            <a:endParaRPr lang="en-US" sz="1300" dirty="0"/>
          </a:p>
        </p:txBody>
      </p:sp>
      <p:pic>
        <p:nvPicPr>
          <p:cNvPr id="15" name="Image 2" descr="e3">    </p:cNvPr>
          <p:cNvPicPr>
            <a:picLocks noChangeAspect="1"/>
          </p:cNvPicPr>
          <p:nvPr/>
        </p:nvPicPr>
        <p:blipFill>
          <a:blip r:embed="rId3"/>
          <a:stretch>
            <a:fillRect/>
          </a:stretch>
        </p:blipFill>
        <p:spPr>
          <a:xfrm>
            <a:off x="8302752" y="1775582"/>
            <a:ext cx="1447861" cy="545348"/>
          </a:xfrm>
          <a:prstGeom prst="rect">
            <a:avLst/>
          </a:prstGeom>
        </p:spPr>
      </p:pic>
      <p:sp>
        <p:nvSpPr>
          <p:cNvPr id="16" name="Text 10"/>
          <p:cNvSpPr txBox="1"/>
          <p:nvPr/>
        </p:nvSpPr>
        <p:spPr>
          <a:xfrm>
            <a:off x="8302752" y="2377440"/>
            <a:ext cx="3145536" cy="292608"/>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직사각형성</a:t>
            </a:r>
            <a:endParaRPr lang="en-US" sz="1100" dirty="0"/>
          </a:p>
        </p:txBody>
      </p:sp>
      <p:sp>
        <p:nvSpPr>
          <p:cNvPr id="17" name="Shape 11"/>
          <p:cNvSpPr/>
          <p:nvPr/>
        </p:nvSpPr>
        <p:spPr>
          <a:xfrm>
            <a:off x="548640" y="2907792"/>
            <a:ext cx="2743200" cy="1463040"/>
          </a:xfrm>
          <a:prstGeom prst="roundRect">
            <a:avLst>
              <a:gd name="adj" fmla="val 5000"/>
            </a:avLst>
          </a:prstGeom>
          <a:solidFill>
            <a:schemeClr val="bg2"/>
          </a:solidFill>
          <a:ln/>
        </p:spPr>
      </p:sp>
      <p:sp>
        <p:nvSpPr>
          <p:cNvPr id="18" name="Text 12"/>
          <p:cNvSpPr txBox="1"/>
          <p:nvPr/>
        </p:nvSpPr>
        <p:spPr>
          <a:xfrm>
            <a:off x="731520" y="3017520"/>
            <a:ext cx="2377440" cy="292608"/>
          </a:xfrm>
          <a:prstGeom prst="rect">
            <a:avLst/>
          </a:prstGeom>
          <a:noFill/>
          <a:ln/>
        </p:spPr>
        <p:txBody>
          <a:bodyPr wrap="square" lIns="0" tIns="0" rIns="0" bIns="0" rtlCol="0" anchor="t"/>
          <a:lstStyle/>
          <a:p>
            <a:pPr algn="l" indent="0" marL="0">
              <a:lnSpc>
                <a:spcPct val="110000"/>
              </a:lnSpc>
              <a:buNone/>
            </a:pPr>
            <a:r>
              <a:rPr lang="en-US" sz="1300" b="1" dirty="0">
                <a:solidFill>
                  <a:schemeClr val="accent1"/>
                </a:solidFill>
              </a:rPr>
              <a:t>(4) 종횡비</a:t>
            </a:r>
            <a:endParaRPr lang="en-US" sz="1300" dirty="0"/>
          </a:p>
        </p:txBody>
      </p:sp>
      <p:pic>
        <p:nvPicPr>
          <p:cNvPr id="19" name="Image 3" descr="e4">    </p:cNvPr>
          <p:cNvPicPr>
            <a:picLocks noChangeAspect="1"/>
          </p:cNvPicPr>
          <p:nvPr/>
        </p:nvPicPr>
        <p:blipFill>
          <a:blip r:embed="rId4"/>
          <a:stretch>
            <a:fillRect/>
          </a:stretch>
        </p:blipFill>
        <p:spPr>
          <a:xfrm>
            <a:off x="731520" y="3456981"/>
            <a:ext cx="1380653" cy="437815"/>
          </a:xfrm>
          <a:prstGeom prst="rect">
            <a:avLst/>
          </a:prstGeom>
        </p:spPr>
      </p:pic>
      <p:sp>
        <p:nvSpPr>
          <p:cNvPr id="20" name="Text 13"/>
          <p:cNvSpPr txBox="1"/>
          <p:nvPr/>
        </p:nvSpPr>
        <p:spPr>
          <a:xfrm>
            <a:off x="731520" y="4005072"/>
            <a:ext cx="2377440" cy="292608"/>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최소자승 타원 적합</a:t>
            </a:r>
            <a:endParaRPr lang="en-US" sz="1100" dirty="0"/>
          </a:p>
        </p:txBody>
      </p:sp>
      <p:sp>
        <p:nvSpPr>
          <p:cNvPr id="21" name="Shape 14"/>
          <p:cNvSpPr/>
          <p:nvPr/>
        </p:nvSpPr>
        <p:spPr>
          <a:xfrm>
            <a:off x="3566160" y="2907792"/>
            <a:ext cx="4297680" cy="1463040"/>
          </a:xfrm>
          <a:prstGeom prst="roundRect">
            <a:avLst>
              <a:gd name="adj" fmla="val 5000"/>
            </a:avLst>
          </a:prstGeom>
          <a:solidFill>
            <a:schemeClr val="bg2"/>
          </a:solidFill>
          <a:ln/>
        </p:spPr>
      </p:sp>
      <p:sp>
        <p:nvSpPr>
          <p:cNvPr id="22" name="Text 15"/>
          <p:cNvSpPr txBox="1"/>
          <p:nvPr/>
        </p:nvSpPr>
        <p:spPr>
          <a:xfrm>
            <a:off x="3749040" y="3017520"/>
            <a:ext cx="3931920" cy="292608"/>
          </a:xfrm>
          <a:prstGeom prst="rect">
            <a:avLst/>
          </a:prstGeom>
          <a:noFill/>
          <a:ln/>
        </p:spPr>
        <p:txBody>
          <a:bodyPr wrap="square" lIns="0" tIns="0" rIns="0" bIns="0" rtlCol="0" anchor="t"/>
          <a:lstStyle/>
          <a:p>
            <a:pPr algn="l" indent="0" marL="0">
              <a:lnSpc>
                <a:spcPct val="110000"/>
              </a:lnSpc>
              <a:buNone/>
            </a:pPr>
            <a:r>
              <a:rPr lang="en-US" sz="1300" b="1" dirty="0">
                <a:solidFill>
                  <a:schemeClr val="accent1"/>
                </a:solidFill>
              </a:rPr>
              <a:t>(5) ROI 적합도</a:t>
            </a:r>
            <a:endParaRPr lang="en-US" sz="1300" dirty="0"/>
          </a:p>
        </p:txBody>
      </p:sp>
      <p:pic>
        <p:nvPicPr>
          <p:cNvPr id="23" name="Image 4" descr="e5">    </p:cNvPr>
          <p:cNvPicPr>
            <a:picLocks noChangeAspect="1"/>
          </p:cNvPicPr>
          <p:nvPr/>
        </p:nvPicPr>
        <p:blipFill>
          <a:blip r:embed="rId5"/>
          <a:stretch>
            <a:fillRect/>
          </a:stretch>
        </p:blipFill>
        <p:spPr>
          <a:xfrm>
            <a:off x="3749040" y="3557793"/>
            <a:ext cx="3450671" cy="236190"/>
          </a:xfrm>
          <a:prstGeom prst="rect">
            <a:avLst/>
          </a:prstGeom>
        </p:spPr>
      </p:pic>
      <p:sp>
        <p:nvSpPr>
          <p:cNvPr id="24" name="Text 16"/>
          <p:cNvSpPr txBox="1"/>
          <p:nvPr/>
        </p:nvSpPr>
        <p:spPr>
          <a:xfrm>
            <a:off x="3749040" y="4005072"/>
            <a:ext cx="3931920" cy="292608"/>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매칭 0.5 · 연속성 0.3 · 안정성 0.2</a:t>
            </a:r>
            <a:endParaRPr lang="en-US" sz="1100" dirty="0"/>
          </a:p>
        </p:txBody>
      </p:sp>
      <p:sp>
        <p:nvSpPr>
          <p:cNvPr id="25" name="Shape 17"/>
          <p:cNvSpPr/>
          <p:nvPr/>
        </p:nvSpPr>
        <p:spPr>
          <a:xfrm>
            <a:off x="8138160" y="2907792"/>
            <a:ext cx="3502152" cy="1463040"/>
          </a:xfrm>
          <a:prstGeom prst="roundRect">
            <a:avLst>
              <a:gd name="adj" fmla="val 5000"/>
            </a:avLst>
          </a:prstGeom>
          <a:solidFill>
            <a:schemeClr val="bg2"/>
          </a:solidFill>
          <a:ln/>
        </p:spPr>
      </p:sp>
      <p:sp>
        <p:nvSpPr>
          <p:cNvPr id="26" name="Text 18"/>
          <p:cNvSpPr txBox="1"/>
          <p:nvPr/>
        </p:nvSpPr>
        <p:spPr>
          <a:xfrm>
            <a:off x="8321040" y="3017520"/>
            <a:ext cx="3136392" cy="292608"/>
          </a:xfrm>
          <a:prstGeom prst="rect">
            <a:avLst/>
          </a:prstGeom>
          <a:noFill/>
          <a:ln/>
        </p:spPr>
        <p:txBody>
          <a:bodyPr wrap="square" lIns="0" tIns="0" rIns="0" bIns="0" rtlCol="0" anchor="t"/>
          <a:lstStyle/>
          <a:p>
            <a:pPr algn="l" indent="0" marL="0">
              <a:lnSpc>
                <a:spcPct val="110000"/>
              </a:lnSpc>
              <a:buNone/>
            </a:pPr>
            <a:r>
              <a:rPr lang="en-US" sz="1300" b="1" dirty="0">
                <a:solidFill>
                  <a:schemeClr val="accent1"/>
                </a:solidFill>
              </a:rPr>
              <a:t>(6) 문맥 프롬프트</a:t>
            </a:r>
            <a:endParaRPr lang="en-US" sz="1300" dirty="0"/>
          </a:p>
        </p:txBody>
      </p:sp>
      <p:sp>
        <p:nvSpPr>
          <p:cNvPr id="27" name="Shape 19"/>
          <p:cNvSpPr/>
          <p:nvPr/>
        </p:nvSpPr>
        <p:spPr>
          <a:xfrm>
            <a:off x="8321040" y="3456432"/>
            <a:ext cx="3136392" cy="438912"/>
          </a:xfrm>
          <a:prstGeom prst="roundRect">
            <a:avLst>
              <a:gd name="adj" fmla="val 16667"/>
            </a:avLst>
          </a:prstGeom>
          <a:solidFill>
            <a:schemeClr val="bg1"/>
          </a:solidFill>
          <a:ln w="12700">
            <a:solidFill>
              <a:srgbClr val="D9DEE3"/>
            </a:solidFill>
            <a:prstDash val="solid"/>
          </a:ln>
        </p:spPr>
      </p:sp>
      <p:sp>
        <p:nvSpPr>
          <p:cNvPr id="28" name="Text 20"/>
          <p:cNvSpPr txBox="1"/>
          <p:nvPr/>
        </p:nvSpPr>
        <p:spPr>
          <a:xfrm>
            <a:off x="8321040" y="3456432"/>
            <a:ext cx="3136392" cy="438912"/>
          </a:xfrm>
          <a:prstGeom prst="rect">
            <a:avLst/>
          </a:prstGeom>
          <a:noFill/>
          <a:ln/>
        </p:spPr>
        <p:txBody>
          <a:bodyPr wrap="square" lIns="0" tIns="0" rIns="0" bIns="0" rtlCol="0" anchor="ctr"/>
          <a:lstStyle/>
          <a:p>
            <a:pPr algn="ctr" indent="0" marL="0">
              <a:lnSpc>
                <a:spcPct val="110000"/>
              </a:lnSpc>
              <a:buNone/>
            </a:pPr>
            <a:r>
              <a:rPr lang="en-US" sz="1200" b="1" dirty="0">
                <a:solidFill>
                  <a:schemeClr val="tx1"/>
                </a:solidFill>
              </a:rPr>
              <a:t>F1 on F2 with F3 (F4), Class N</a:t>
            </a:r>
            <a:endParaRPr lang="en-US" sz="1200" dirty="0"/>
          </a:p>
        </p:txBody>
      </p:sp>
      <p:sp>
        <p:nvSpPr>
          <p:cNvPr id="29" name="Text 21"/>
          <p:cNvSpPr txBox="1"/>
          <p:nvPr/>
        </p:nvSpPr>
        <p:spPr>
          <a:xfrm>
            <a:off x="8321040" y="4005072"/>
            <a:ext cx="3136392" cy="292608"/>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F1 결함 · F2 배경 · F3 방향 · F4 상태</a:t>
            </a:r>
            <a:endParaRPr lang="en-US" sz="1100" dirty="0"/>
          </a:p>
        </p:txBody>
      </p:sp>
      <p:sp>
        <p:nvSpPr>
          <p:cNvPr id="30" name="Shape 22"/>
          <p:cNvSpPr/>
          <p:nvPr/>
        </p:nvSpPr>
        <p:spPr>
          <a:xfrm>
            <a:off x="548640" y="4535424"/>
            <a:ext cx="2743200" cy="1463040"/>
          </a:xfrm>
          <a:prstGeom prst="roundRect">
            <a:avLst>
              <a:gd name="adj" fmla="val 5000"/>
            </a:avLst>
          </a:prstGeom>
          <a:solidFill>
            <a:schemeClr val="accent4"/>
          </a:solidFill>
          <a:ln/>
        </p:spPr>
      </p:sp>
      <p:sp>
        <p:nvSpPr>
          <p:cNvPr id="31" name="Text 23"/>
          <p:cNvSpPr txBox="1"/>
          <p:nvPr/>
        </p:nvSpPr>
        <p:spPr>
          <a:xfrm>
            <a:off x="731520" y="4645152"/>
            <a:ext cx="2377440" cy="292608"/>
          </a:xfrm>
          <a:prstGeom prst="rect">
            <a:avLst/>
          </a:prstGeom>
          <a:noFill/>
          <a:ln/>
        </p:spPr>
        <p:txBody>
          <a:bodyPr wrap="square" lIns="0" tIns="0" rIns="0" bIns="0" rtlCol="0" anchor="t"/>
          <a:lstStyle/>
          <a:p>
            <a:pPr algn="l" indent="0" marL="0">
              <a:lnSpc>
                <a:spcPct val="110000"/>
              </a:lnSpc>
              <a:buNone/>
            </a:pPr>
            <a:r>
              <a:rPr lang="en-US" sz="1300" b="1" dirty="0">
                <a:solidFill>
                  <a:schemeClr val="accent1"/>
                </a:solidFill>
              </a:rPr>
              <a:t>표 2 · 3채널 힌트</a:t>
            </a:r>
            <a:endParaRPr lang="en-US" sz="1300" dirty="0"/>
          </a:p>
        </p:txBody>
      </p:sp>
      <p:pic>
        <p:nvPicPr>
          <p:cNvPr id="32" name="Image 5" descr="hint">    </p:cNvPr>
          <p:cNvPicPr>
            <a:picLocks noChangeAspect="1"/>
          </p:cNvPicPr>
          <p:nvPr/>
        </p:nvPicPr>
        <p:blipFill>
          <a:blip r:embed="rId6"/>
          <a:stretch>
            <a:fillRect/>
          </a:stretch>
        </p:blipFill>
        <p:spPr>
          <a:xfrm>
            <a:off x="731520" y="5188573"/>
            <a:ext cx="2377440" cy="229894"/>
          </a:xfrm>
          <a:prstGeom prst="rect">
            <a:avLst/>
          </a:prstGeom>
        </p:spPr>
      </p:pic>
      <p:sp>
        <p:nvSpPr>
          <p:cNvPr id="33" name="Text 24"/>
          <p:cNvSpPr txBox="1"/>
          <p:nvPr/>
        </p:nvSpPr>
        <p:spPr>
          <a:xfrm>
            <a:off x="731520" y="5632704"/>
            <a:ext cx="2377440" cy="292608"/>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R 결함 기하 · G 표면 방향 · B 거칠기</a:t>
            </a:r>
            <a:endParaRPr lang="en-US" sz="1100" dirty="0"/>
          </a:p>
        </p:txBody>
      </p:sp>
      <p:sp>
        <p:nvSpPr>
          <p:cNvPr id="34" name="Shape 25"/>
          <p:cNvSpPr/>
          <p:nvPr/>
        </p:nvSpPr>
        <p:spPr>
          <a:xfrm>
            <a:off x="3566160" y="4535424"/>
            <a:ext cx="4297680" cy="1463040"/>
          </a:xfrm>
          <a:prstGeom prst="roundRect">
            <a:avLst>
              <a:gd name="adj" fmla="val 5000"/>
            </a:avLst>
          </a:prstGeom>
          <a:solidFill>
            <a:schemeClr val="accent4"/>
          </a:solidFill>
          <a:ln/>
        </p:spPr>
      </p:sp>
      <p:sp>
        <p:nvSpPr>
          <p:cNvPr id="35" name="Text 26"/>
          <p:cNvSpPr txBox="1"/>
          <p:nvPr/>
        </p:nvSpPr>
        <p:spPr>
          <a:xfrm>
            <a:off x="3749040" y="4645152"/>
            <a:ext cx="3931920" cy="292608"/>
          </a:xfrm>
          <a:prstGeom prst="rect">
            <a:avLst/>
          </a:prstGeom>
          <a:noFill/>
          <a:ln/>
        </p:spPr>
        <p:txBody>
          <a:bodyPr wrap="square" lIns="0" tIns="0" rIns="0" bIns="0" rtlCol="0" anchor="t"/>
          <a:lstStyle/>
          <a:p>
            <a:pPr algn="l" indent="0" marL="0">
              <a:lnSpc>
                <a:spcPct val="110000"/>
              </a:lnSpc>
              <a:buNone/>
            </a:pPr>
            <a:r>
              <a:rPr lang="en-US" sz="1300" b="1" dirty="0">
                <a:solidFill>
                  <a:schemeClr val="accent1"/>
                </a:solidFill>
              </a:rPr>
              <a:t>표 7 · 품질 점수</a:t>
            </a:r>
            <a:endParaRPr lang="en-US" sz="1300" dirty="0"/>
          </a:p>
        </p:txBody>
      </p:sp>
      <p:pic>
        <p:nvPicPr>
          <p:cNvPr id="36" name="Image 6" descr="Q">    </p:cNvPr>
          <p:cNvPicPr>
            <a:picLocks noChangeAspect="1"/>
          </p:cNvPicPr>
          <p:nvPr/>
        </p:nvPicPr>
        <p:blipFill>
          <a:blip r:embed="rId7"/>
          <a:stretch>
            <a:fillRect/>
          </a:stretch>
        </p:blipFill>
        <p:spPr>
          <a:xfrm>
            <a:off x="3749040" y="5197057"/>
            <a:ext cx="3931920" cy="212926"/>
          </a:xfrm>
          <a:prstGeom prst="rect">
            <a:avLst/>
          </a:prstGeom>
        </p:spPr>
      </p:pic>
      <p:sp>
        <p:nvSpPr>
          <p:cNvPr id="37" name="Text 27"/>
          <p:cNvSpPr txBox="1"/>
          <p:nvPr/>
        </p:nvSpPr>
        <p:spPr>
          <a:xfrm>
            <a:off x="3749040" y="5632704"/>
            <a:ext cx="3931920" cy="292608"/>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Q ≥ 0.7만 채택</a:t>
            </a:r>
            <a:endParaRPr lang="en-US" sz="1100" dirty="0"/>
          </a:p>
        </p:txBody>
      </p:sp>
      <p:sp>
        <p:nvSpPr>
          <p:cNvPr id="38" name="Shape 28"/>
          <p:cNvSpPr/>
          <p:nvPr/>
        </p:nvSpPr>
        <p:spPr>
          <a:xfrm>
            <a:off x="8138160" y="4535424"/>
            <a:ext cx="3502152" cy="1463040"/>
          </a:xfrm>
          <a:prstGeom prst="roundRect">
            <a:avLst>
              <a:gd name="adj" fmla="val 5000"/>
            </a:avLst>
          </a:prstGeom>
          <a:solidFill>
            <a:schemeClr val="accent4"/>
          </a:solidFill>
          <a:ln/>
        </p:spPr>
      </p:sp>
      <p:sp>
        <p:nvSpPr>
          <p:cNvPr id="39" name="Text 29"/>
          <p:cNvSpPr txBox="1"/>
          <p:nvPr/>
        </p:nvSpPr>
        <p:spPr>
          <a:xfrm>
            <a:off x="8321040" y="4645152"/>
            <a:ext cx="3136392" cy="292608"/>
          </a:xfrm>
          <a:prstGeom prst="rect">
            <a:avLst/>
          </a:prstGeom>
          <a:noFill/>
          <a:ln/>
        </p:spPr>
        <p:txBody>
          <a:bodyPr wrap="square" lIns="0" tIns="0" rIns="0" bIns="0" rtlCol="0" anchor="t"/>
          <a:lstStyle/>
          <a:p>
            <a:pPr algn="l" indent="0" marL="0">
              <a:lnSpc>
                <a:spcPct val="110000"/>
              </a:lnSpc>
              <a:buNone/>
            </a:pPr>
            <a:r>
              <a:rPr lang="en-US" sz="1300" b="1" dirty="0">
                <a:solidFill>
                  <a:schemeClr val="accent1"/>
                </a:solidFill>
              </a:rPr>
              <a:t>§4.3 · BGD (평가)</a:t>
            </a:r>
            <a:endParaRPr lang="en-US" sz="1300" dirty="0"/>
          </a:p>
        </p:txBody>
      </p:sp>
      <p:pic>
        <p:nvPicPr>
          <p:cNvPr id="40" name="Image 7" descr="bgd">    </p:cNvPr>
          <p:cNvPicPr>
            <a:picLocks noChangeAspect="1"/>
          </p:cNvPicPr>
          <p:nvPr/>
        </p:nvPicPr>
        <p:blipFill>
          <a:blip r:embed="rId8"/>
          <a:stretch>
            <a:fillRect/>
          </a:stretch>
        </p:blipFill>
        <p:spPr>
          <a:xfrm>
            <a:off x="8321040" y="5170063"/>
            <a:ext cx="2012412" cy="266913"/>
          </a:xfrm>
          <a:prstGeom prst="rect">
            <a:avLst/>
          </a:prstGeom>
        </p:spPr>
      </p:pic>
      <p:sp>
        <p:nvSpPr>
          <p:cNvPr id="41" name="Text 30"/>
          <p:cNvSpPr txBox="1"/>
          <p:nvPr/>
        </p:nvSpPr>
        <p:spPr>
          <a:xfrm>
            <a:off x="8321040" y="5632704"/>
            <a:ext cx="3136392" cy="292608"/>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합성 경계 띠의 평균 Sobel 크기</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제6장 · 수식 상세 ① 배경 특징</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배경 특징 — 표면 지표와 배경 5유형</a:t>
            </a:r>
            <a:endParaRPr lang="en-US" sz="2400" dirty="0"/>
          </a:p>
        </p:txBody>
      </p:sp>
      <p:sp>
        <p:nvSpPr>
          <p:cNvPr id="5" name="Text 2"/>
          <p:cNvSpPr txBox="1"/>
          <p:nvPr/>
        </p:nvSpPr>
        <p:spPr>
          <a:xfrm>
            <a:off x="548640" y="1188720"/>
            <a:ext cx="5303520" cy="32004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표면 지표 (64px 격자 패치)</a:t>
            </a:r>
            <a:endParaRPr lang="en-US" sz="1500" dirty="0"/>
          </a:p>
        </p:txBody>
      </p:sp>
      <p:sp>
        <p:nvSpPr>
          <p:cNvPr id="6" name="Shape 3"/>
          <p:cNvSpPr/>
          <p:nvPr/>
        </p:nvSpPr>
        <p:spPr>
          <a:xfrm>
            <a:off x="548640" y="1600200"/>
            <a:ext cx="5394960" cy="914400"/>
          </a:xfrm>
          <a:prstGeom prst="roundRect">
            <a:avLst>
              <a:gd name="adj" fmla="val 8000"/>
            </a:avLst>
          </a:prstGeom>
          <a:solidFill>
            <a:schemeClr val="bg2"/>
          </a:solidFill>
          <a:ln/>
        </p:spPr>
      </p:sp>
      <p:sp>
        <p:nvSpPr>
          <p:cNvPr id="7" name="Text 4"/>
          <p:cNvSpPr txBox="1"/>
          <p:nvPr/>
        </p:nvSpPr>
        <p:spPr>
          <a:xfrm>
            <a:off x="731520" y="1691640"/>
            <a:ext cx="2743200" cy="347472"/>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밝기 분산</a:t>
            </a:r>
            <a:endParaRPr lang="en-US" sz="1400" dirty="0"/>
          </a:p>
        </p:txBody>
      </p:sp>
      <p:pic>
        <p:nvPicPr>
          <p:cNvPr id="8" name="Image 0" descr="f1">    </p:cNvPr>
          <p:cNvPicPr>
            <a:picLocks noChangeAspect="1"/>
          </p:cNvPicPr>
          <p:nvPr/>
        </p:nvPicPr>
        <p:blipFill>
          <a:blip r:embed="rId1"/>
          <a:stretch>
            <a:fillRect/>
          </a:stretch>
        </p:blipFill>
        <p:spPr>
          <a:xfrm>
            <a:off x="3383280" y="1689354"/>
            <a:ext cx="1758117" cy="388620"/>
          </a:xfrm>
          <a:prstGeom prst="rect">
            <a:avLst/>
          </a:prstGeom>
        </p:spPr>
      </p:pic>
      <p:sp>
        <p:nvSpPr>
          <p:cNvPr id="9" name="Text 5"/>
          <p:cNvSpPr txBox="1"/>
          <p:nvPr/>
        </p:nvSpPr>
        <p:spPr>
          <a:xfrm>
            <a:off x="731520" y="2103120"/>
            <a:ext cx="5029200" cy="365760"/>
          </a:xfrm>
          <a:prstGeom prst="rect">
            <a:avLst/>
          </a:prstGeom>
          <a:noFill/>
          <a:ln/>
        </p:spPr>
        <p:txBody>
          <a:bodyPr wrap="square" lIns="0" tIns="0" rIns="0" bIns="0" rtlCol="0" anchor="t"/>
          <a:lstStyle/>
          <a:p>
            <a:pPr algn="l" indent="0" marL="0">
              <a:lnSpc>
                <a:spcPct val="110000"/>
              </a:lnSpc>
              <a:buNone/>
            </a:pPr>
            <a:r>
              <a:rPr lang="en-US" sz="1200" dirty="0">
                <a:solidFill>
                  <a:schemeClr val="accent3"/>
                </a:solidFill>
              </a:rPr>
              <a:t>패치 안 밝기가 얼마나 들쭉날쭉한가</a:t>
            </a:r>
            <a:endParaRPr lang="en-US" sz="1200" dirty="0"/>
          </a:p>
        </p:txBody>
      </p:sp>
      <p:sp>
        <p:nvSpPr>
          <p:cNvPr id="10" name="Shape 6"/>
          <p:cNvSpPr/>
          <p:nvPr/>
        </p:nvSpPr>
        <p:spPr>
          <a:xfrm>
            <a:off x="548640" y="2624328"/>
            <a:ext cx="5394960" cy="914400"/>
          </a:xfrm>
          <a:prstGeom prst="roundRect">
            <a:avLst>
              <a:gd name="adj" fmla="val 8000"/>
            </a:avLst>
          </a:prstGeom>
          <a:solidFill>
            <a:schemeClr val="bg2"/>
          </a:solidFill>
          <a:ln/>
        </p:spPr>
      </p:sp>
      <p:sp>
        <p:nvSpPr>
          <p:cNvPr id="11" name="Text 7"/>
          <p:cNvSpPr txBox="1"/>
          <p:nvPr/>
        </p:nvSpPr>
        <p:spPr>
          <a:xfrm>
            <a:off x="731520" y="2715768"/>
            <a:ext cx="2743200" cy="347472"/>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엣지 밀도</a:t>
            </a:r>
            <a:endParaRPr lang="en-US" sz="1400" dirty="0"/>
          </a:p>
        </p:txBody>
      </p:sp>
      <p:sp>
        <p:nvSpPr>
          <p:cNvPr id="12" name="Text 8"/>
          <p:cNvSpPr txBox="1"/>
          <p:nvPr/>
        </p:nvSpPr>
        <p:spPr>
          <a:xfrm>
            <a:off x="731520" y="3099816"/>
            <a:ext cx="5029200" cy="384048"/>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Canny 엣지 픽셀 비율 — 경계가 얼마나 많은가</a:t>
            </a:r>
            <a:endParaRPr lang="en-US" sz="1300" dirty="0"/>
          </a:p>
        </p:txBody>
      </p:sp>
      <p:sp>
        <p:nvSpPr>
          <p:cNvPr id="13" name="Shape 9"/>
          <p:cNvSpPr/>
          <p:nvPr/>
        </p:nvSpPr>
        <p:spPr>
          <a:xfrm>
            <a:off x="548640" y="3648456"/>
            <a:ext cx="5394960" cy="914400"/>
          </a:xfrm>
          <a:prstGeom prst="roundRect">
            <a:avLst>
              <a:gd name="adj" fmla="val 8000"/>
            </a:avLst>
          </a:prstGeom>
          <a:solidFill>
            <a:schemeClr val="bg2"/>
          </a:solidFill>
          <a:ln/>
        </p:spPr>
      </p:sp>
      <p:sp>
        <p:nvSpPr>
          <p:cNvPr id="14" name="Text 10"/>
          <p:cNvSpPr txBox="1"/>
          <p:nvPr/>
        </p:nvSpPr>
        <p:spPr>
          <a:xfrm>
            <a:off x="731520" y="3739896"/>
            <a:ext cx="2743200" cy="347472"/>
          </a:xfrm>
          <a:prstGeom prst="rect">
            <a:avLst/>
          </a:prstGeom>
          <a:noFill/>
          <a:ln/>
        </p:spPr>
        <p:txBody>
          <a:bodyPr wrap="square" lIns="0" tIns="0" rIns="0" bIns="0" rtlCol="0" anchor="t"/>
          <a:lstStyle/>
          <a:p>
            <a:pPr algn="l" indent="0" marL="0">
              <a:lnSpc>
                <a:spcPct val="110000"/>
              </a:lnSpc>
              <a:buNone/>
            </a:pPr>
            <a:r>
              <a:rPr lang="en-US" sz="1400" b="1" dirty="0">
                <a:solidFill>
                  <a:schemeClr val="tx1"/>
                </a:solidFill>
              </a:rPr>
              <a:t>방향 비율 x_ratio · y_ratio</a:t>
            </a:r>
            <a:endParaRPr lang="en-US" sz="1400" dirty="0"/>
          </a:p>
        </p:txBody>
      </p:sp>
      <p:sp>
        <p:nvSpPr>
          <p:cNvPr id="15" name="Text 11"/>
          <p:cNvSpPr txBox="1"/>
          <p:nvPr/>
        </p:nvSpPr>
        <p:spPr>
          <a:xfrm>
            <a:off x="731520" y="4123944"/>
            <a:ext cx="5029200" cy="384048"/>
          </a:xfrm>
          <a:prstGeom prst="rect">
            <a:avLst/>
          </a:prstGeom>
          <a:noFill/>
          <a:ln/>
        </p:spPr>
        <p:txBody>
          <a:bodyPr wrap="square" lIns="0" tIns="0" rIns="0" bIns="0" rtlCol="0" anchor="t"/>
          <a:lstStyle/>
          <a:p>
            <a:pPr algn="l" indent="0" marL="0">
              <a:lnSpc>
                <a:spcPct val="110000"/>
              </a:lnSpc>
              <a:buNone/>
            </a:pPr>
            <a:r>
              <a:rPr lang="en-US" sz="1300" dirty="0">
                <a:solidFill>
                  <a:schemeClr val="tx1"/>
                </a:solidFill>
              </a:rPr>
              <a:t>Sobel_x / Sobel_y 응답 비율 — 결이 세로인지 가로인지</a:t>
            </a:r>
            <a:endParaRPr lang="en-US" sz="1300" dirty="0"/>
          </a:p>
        </p:txBody>
      </p:sp>
      <p:sp>
        <p:nvSpPr>
          <p:cNvPr id="16" name="Shape 12"/>
          <p:cNvSpPr/>
          <p:nvPr/>
        </p:nvSpPr>
        <p:spPr>
          <a:xfrm>
            <a:off x="548640" y="4754880"/>
            <a:ext cx="5394960" cy="1371600"/>
          </a:xfrm>
          <a:prstGeom prst="roundRect">
            <a:avLst>
              <a:gd name="adj" fmla="val 5333"/>
            </a:avLst>
          </a:prstGeom>
          <a:solidFill>
            <a:schemeClr val="accent5"/>
          </a:solidFill>
          <a:ln/>
        </p:spPr>
      </p:sp>
      <p:sp>
        <p:nvSpPr>
          <p:cNvPr id="17" name="Text 13"/>
          <p:cNvSpPr txBox="1"/>
          <p:nvPr/>
        </p:nvSpPr>
        <p:spPr>
          <a:xfrm>
            <a:off x="731520" y="4846320"/>
            <a:ext cx="5029200" cy="320040"/>
          </a:xfrm>
          <a:prstGeom prst="rect">
            <a:avLst/>
          </a:prstGeom>
          <a:noFill/>
          <a:ln/>
        </p:spPr>
        <p:txBody>
          <a:bodyPr wrap="square" lIns="0" tIns="0" rIns="0" bIns="0" rtlCol="0" anchor="t"/>
          <a:lstStyle/>
          <a:p>
            <a:pPr algn="l" indent="0" marL="0">
              <a:lnSpc>
                <a:spcPct val="110000"/>
              </a:lnSpc>
              <a:buNone/>
            </a:pPr>
            <a:r>
              <a:rPr lang="en-US" sz="1300" b="1" dirty="0">
                <a:solidFill>
                  <a:schemeClr val="accent2"/>
                </a:solidFill>
              </a:rPr>
              <a:t>배경 적합도 임계값 (log-scale Otsu)</a:t>
            </a:r>
            <a:endParaRPr lang="en-US" sz="1300" dirty="0"/>
          </a:p>
        </p:txBody>
      </p:sp>
      <p:sp>
        <p:nvSpPr>
          <p:cNvPr id="18" name="Text 14"/>
          <p:cNvSpPr txBox="1"/>
          <p:nvPr/>
        </p:nvSpPr>
        <p:spPr>
          <a:xfrm>
            <a:off x="731520" y="5212080"/>
            <a:ext cx="5029200" cy="411480"/>
          </a:xfrm>
          <a:prstGeom prst="rect">
            <a:avLst/>
          </a:prstGeom>
          <a:noFill/>
          <a:ln/>
        </p:spPr>
        <p:txBody>
          <a:bodyPr wrap="square" lIns="0" tIns="0" rIns="0" bIns="0" rtlCol="0" anchor="t"/>
          <a:lstStyle/>
          <a:p>
            <a:pPr algn="l" indent="0" marL="0">
              <a:lnSpc>
                <a:spcPct val="110000"/>
              </a:lnSpc>
              <a:buNone/>
            </a:pPr>
            <a:r>
              <a:rPr lang="en-US" sz="1700" b="1" dirty="0">
                <a:solidFill>
                  <a:schemeClr val="tx1"/>
                </a:solidFill>
              </a:rPr>
              <a:t>분산 τ ≤ 14.09  ·  엣지 밀도 ≤ 0.607</a:t>
            </a:r>
            <a:endParaRPr lang="en-US" sz="1700" dirty="0"/>
          </a:p>
        </p:txBody>
      </p:sp>
      <p:sp>
        <p:nvSpPr>
          <p:cNvPr id="19" name="Text 15"/>
          <p:cNvSpPr txBox="1"/>
          <p:nvPr/>
        </p:nvSpPr>
        <p:spPr>
          <a:xfrm>
            <a:off x="731520" y="5650992"/>
            <a:ext cx="5029200" cy="365760"/>
          </a:xfrm>
          <a:prstGeom prst="rect">
            <a:avLst/>
          </a:prstGeom>
          <a:noFill/>
          <a:ln/>
        </p:spPr>
        <p:txBody>
          <a:bodyPr wrap="square" lIns="0" tIns="0" rIns="0" bIns="0" rtlCol="0" anchor="t"/>
          <a:lstStyle/>
          <a:p>
            <a:pPr algn="l" indent="0" marL="0">
              <a:lnSpc>
                <a:spcPct val="110000"/>
              </a:lnSpc>
              <a:buNone/>
            </a:pPr>
            <a:r>
              <a:rPr lang="en-US" sz="1200" dirty="0">
                <a:solidFill>
                  <a:schemeClr val="accent3"/>
                </a:solidFill>
              </a:rPr>
              <a:t>저분산·저엣지 배경만 선택 → 도메인 불일치(BGD) 감소</a:t>
            </a:r>
            <a:endParaRPr lang="en-US" sz="1200" dirty="0"/>
          </a:p>
        </p:txBody>
      </p:sp>
      <p:sp>
        <p:nvSpPr>
          <p:cNvPr id="20" name="Text 16"/>
          <p:cNvSpPr txBox="1"/>
          <p:nvPr/>
        </p:nvSpPr>
        <p:spPr>
          <a:xfrm>
            <a:off x="6245352" y="1188720"/>
            <a:ext cx="5394960" cy="32004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배경 5유형 (위에서부터 첫 매치)</a:t>
            </a:r>
            <a:endParaRPr lang="en-US" sz="15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245352" y="1600200"/>
          <a:ext cx="5394960" cy="914400"/>
        </p:xfrm>
        <a:graphic>
          <a:graphicData uri="http://schemas.openxmlformats.org/drawingml/2006/table">
            <a:tbl>
              <a:tblPr/>
              <a:tblGrid>
                <a:gridCol w="1097280"/>
                <a:gridCol w="2788920"/>
                <a:gridCol w="1508760"/>
              </a:tblGrid>
              <a:tr h="566928">
                <a:tc>
                  <a:txBody>
                    <a:bodyPr/>
                    <a:lstStyle/>
                    <a:p>
                      <a:pPr algn="l" indent="0" marL="0">
                        <a:buNone/>
                      </a:pPr>
                      <a:r>
                        <a:rPr lang="en-US" sz="1200" b="1" dirty="0">
                          <a:solidFill>
                            <a:schemeClr val="bg1"/>
                          </a:solidFill>
                        </a:rPr>
                        <a:t>배경 유형</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rPr>
                        <a:t>조건</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l" indent="0" marL="0">
                        <a:buNone/>
                      </a:pPr>
                      <a:r>
                        <a:rPr lang="en-US" sz="1200" b="1" dirty="0">
                          <a:solidFill>
                            <a:schemeClr val="bg1"/>
                          </a:solidFill>
                        </a:rPr>
                        <a:t>표면</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r>
              <a:tr h="566928">
                <a:tc>
                  <a:txBody>
                    <a:bodyPr/>
                    <a:lstStyle/>
                    <a:p>
                      <a:pPr algn="l" indent="0" marL="0">
                        <a:buNone/>
                      </a:pPr>
                      <a:r>
                        <a:rPr lang="en-US" sz="1200" b="1" dirty="0">
                          <a:solidFill>
                            <a:schemeClr val="tx1"/>
                          </a:solidFill>
                        </a:rPr>
                        <a:t>Smooth</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분산 &lt; 200 ∧ 엣지 &lt; 0.02</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매끈한 무지 표면</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r>
              <a:tr h="566928">
                <a:tc>
                  <a:txBody>
                    <a:bodyPr/>
                    <a:lstStyle/>
                    <a:p>
                      <a:pPr algn="l" indent="0" marL="0">
                        <a:buNone/>
                      </a:pPr>
                      <a:r>
                        <a:rPr lang="en-US" sz="1200" b="1" dirty="0">
                          <a:solidFill>
                            <a:schemeClr val="tx1"/>
                          </a:solidFill>
                        </a:rPr>
                        <a:t>V-Stripe</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x_ratio &gt; 0.65 ∧ 엣지 &gt; 0.02</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세로 줄무늬</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r>
              <a:tr h="566928">
                <a:tc>
                  <a:txBody>
                    <a:bodyPr/>
                    <a:lstStyle/>
                    <a:p>
                      <a:pPr algn="l" indent="0" marL="0">
                        <a:buNone/>
                      </a:pPr>
                      <a:r>
                        <a:rPr lang="en-US" sz="1200" b="1" dirty="0">
                          <a:solidFill>
                            <a:schemeClr val="tx1"/>
                          </a:solidFill>
                        </a:rPr>
                        <a:t>H-Stripe</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y_ratio &gt; 0.65 ∧ 엣지 &gt; 0.02</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가로 줄무늬</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r>
              <a:tr h="566928">
                <a:tc>
                  <a:txBody>
                    <a:bodyPr/>
                    <a:lstStyle/>
                    <a:p>
                      <a:pPr algn="l" indent="0" marL="0">
                        <a:buNone/>
                      </a:pPr>
                      <a:r>
                        <a:rPr lang="en-US" sz="1200" b="1" dirty="0">
                          <a:solidFill>
                            <a:schemeClr val="tx1"/>
                          </a:solidFill>
                        </a:rPr>
                        <a:t>Complex</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엣지 &gt; 0.15</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200" dirty="0">
                          <a:solidFill>
                            <a:schemeClr val="tx1"/>
                          </a:solidFill>
                        </a:rPr>
                        <a:t>경계가 매우 많은 패턴</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r>
              <a:tr h="566928">
                <a:tc>
                  <a:txBody>
                    <a:bodyPr/>
                    <a:lstStyle/>
                    <a:p>
                      <a:pPr algn="l" indent="0" marL="0">
                        <a:buNone/>
                      </a:pPr>
                      <a:r>
                        <a:rPr lang="en-US" sz="1200" b="1" dirty="0">
                          <a:solidFill>
                            <a:schemeClr val="tx1"/>
                          </a:solidFill>
                        </a:rPr>
                        <a:t>Textured</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분산 &gt; 500 ∨ 엣지 &gt; 0.05</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l" indent="0" marL="0">
                        <a:buNone/>
                      </a:pPr>
                      <a:r>
                        <a:rPr lang="en-US" sz="1200" dirty="0">
                          <a:solidFill>
                            <a:schemeClr val="tx1"/>
                          </a:solidFill>
                        </a:rPr>
                        <a:t>거친 질감</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r>
            </a:tbl>
          </a:graphicData>
        </a:graphic>
      </p:graphicFrame>
      <p:sp>
        <p:nvSpPr>
          <p:cNvPr id="22" name="Text 17"/>
          <p:cNvSpPr txBox="1"/>
          <p:nvPr/>
        </p:nvSpPr>
        <p:spPr>
          <a:xfrm>
            <a:off x="6245352" y="5166360"/>
            <a:ext cx="5394960" cy="365760"/>
          </a:xfrm>
          <a:prstGeom prst="rect">
            <a:avLst/>
          </a:prstGeom>
          <a:noFill/>
          <a:ln/>
        </p:spPr>
        <p:txBody>
          <a:bodyPr wrap="square" lIns="0" tIns="0" rIns="0" bIns="0" rtlCol="0" anchor="t"/>
          <a:lstStyle/>
          <a:p>
            <a:pPr algn="l" indent="0" marL="0">
              <a:lnSpc>
                <a:spcPct val="110000"/>
              </a:lnSpc>
              <a:buNone/>
            </a:pPr>
            <a:r>
              <a:rPr lang="en-US" sz="1400" b="1" dirty="0">
                <a:solidFill>
                  <a:schemeClr val="accent1"/>
                </a:solidFill>
              </a:rPr>
              <a:t>→ 배경 5유형 = 호환성 행렬(표 6)의 열</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제6장 · 수식 상세 ② 결함 특징</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결함 특징 — 기하 4지표와 결함 4유형</a:t>
            </a:r>
            <a:endParaRPr lang="en-US" sz="2400" dirty="0"/>
          </a:p>
        </p:txBody>
      </p:sp>
      <p:sp>
        <p:nvSpPr>
          <p:cNvPr id="5" name="Shape 2"/>
          <p:cNvSpPr/>
          <p:nvPr/>
        </p:nvSpPr>
        <p:spPr>
          <a:xfrm>
            <a:off x="548640" y="1280160"/>
            <a:ext cx="5760720" cy="1051560"/>
          </a:xfrm>
          <a:prstGeom prst="roundRect">
            <a:avLst>
              <a:gd name="adj" fmla="val 6957"/>
            </a:avLst>
          </a:prstGeom>
          <a:solidFill>
            <a:schemeClr val="bg2"/>
          </a:solidFill>
          <a:ln/>
        </p:spPr>
      </p:sp>
      <p:sp>
        <p:nvSpPr>
          <p:cNvPr id="6" name="Shape 3"/>
          <p:cNvSpPr/>
          <p:nvPr/>
        </p:nvSpPr>
        <p:spPr>
          <a:xfrm>
            <a:off x="731520" y="1554480"/>
            <a:ext cx="502920" cy="502920"/>
          </a:xfrm>
          <a:prstGeom prst="ellipse">
            <a:avLst/>
          </a:prstGeom>
          <a:solidFill>
            <a:schemeClr val="accent1"/>
          </a:solidFill>
          <a:ln/>
        </p:spPr>
      </p:sp>
      <p:sp>
        <p:nvSpPr>
          <p:cNvPr id="7" name="Text 4"/>
          <p:cNvSpPr txBox="1"/>
          <p:nvPr/>
        </p:nvSpPr>
        <p:spPr>
          <a:xfrm>
            <a:off x="731520" y="1554480"/>
            <a:ext cx="502920" cy="502920"/>
          </a:xfrm>
          <a:prstGeom prst="rect">
            <a:avLst/>
          </a:prstGeom>
          <a:noFill/>
          <a:ln/>
        </p:spPr>
        <p:txBody>
          <a:bodyPr wrap="square" lIns="0" tIns="0" rIns="0" bIns="0" rtlCol="0" anchor="ctr"/>
          <a:lstStyle/>
          <a:p>
            <a:pPr algn="ctr" indent="0" marL="0">
              <a:lnSpc>
                <a:spcPct val="110000"/>
              </a:lnSpc>
              <a:buNone/>
            </a:pPr>
            <a:r>
              <a:rPr lang="en-US" sz="1800" b="1" dirty="0">
                <a:solidFill>
                  <a:schemeClr val="bg1"/>
                </a:solidFill>
              </a:rPr>
              <a:t>λ</a:t>
            </a:r>
            <a:endParaRPr lang="en-US" sz="1800" dirty="0"/>
          </a:p>
        </p:txBody>
      </p:sp>
      <p:pic>
        <p:nvPicPr>
          <p:cNvPr id="8" name="Image 0" descr="e1">    </p:cNvPr>
          <p:cNvPicPr>
            <a:picLocks noChangeAspect="1"/>
          </p:cNvPicPr>
          <p:nvPr/>
        </p:nvPicPr>
        <p:blipFill>
          <a:blip r:embed="rId1"/>
          <a:stretch>
            <a:fillRect/>
          </a:stretch>
        </p:blipFill>
        <p:spPr>
          <a:xfrm>
            <a:off x="1463040" y="1579169"/>
            <a:ext cx="1122883" cy="453542"/>
          </a:xfrm>
          <a:prstGeom prst="rect">
            <a:avLst/>
          </a:prstGeom>
        </p:spPr>
      </p:pic>
      <p:sp>
        <p:nvSpPr>
          <p:cNvPr id="9" name="Text 5"/>
          <p:cNvSpPr txBox="1"/>
          <p:nvPr/>
        </p:nvSpPr>
        <p:spPr>
          <a:xfrm>
            <a:off x="3794760" y="1280160"/>
            <a:ext cx="2423160" cy="1051560"/>
          </a:xfrm>
          <a:prstGeom prst="rect">
            <a:avLst/>
          </a:prstGeom>
          <a:noFill/>
          <a:ln/>
        </p:spPr>
        <p:txBody>
          <a:bodyPr wrap="square" lIns="0" tIns="0" rIns="0" bIns="0" rtlCol="0" anchor="ctr"/>
          <a:lstStyle/>
          <a:p>
            <a:pPr algn="l" indent="0" marL="0">
              <a:lnSpc>
                <a:spcPct val="110000"/>
              </a:lnSpc>
              <a:buNone/>
            </a:pPr>
            <a:r>
              <a:rPr lang="en-US" sz="1300" dirty="0">
                <a:solidFill>
                  <a:schemeClr val="tx1"/>
                </a:solidFill>
              </a:rPr>
              <a:t>선형성 · 1에 가까울수록 한 방향으로 뻗은 선형</a:t>
            </a:r>
            <a:endParaRPr lang="en-US" sz="1300" dirty="0"/>
          </a:p>
        </p:txBody>
      </p:sp>
      <p:sp>
        <p:nvSpPr>
          <p:cNvPr id="10" name="Shape 6"/>
          <p:cNvSpPr/>
          <p:nvPr/>
        </p:nvSpPr>
        <p:spPr>
          <a:xfrm>
            <a:off x="548640" y="2468880"/>
            <a:ext cx="5760720" cy="1051560"/>
          </a:xfrm>
          <a:prstGeom prst="roundRect">
            <a:avLst>
              <a:gd name="adj" fmla="val 6957"/>
            </a:avLst>
          </a:prstGeom>
          <a:solidFill>
            <a:schemeClr val="bg1"/>
          </a:solidFill>
          <a:ln w="12700">
            <a:solidFill>
              <a:srgbClr val="D9DEE3"/>
            </a:solidFill>
            <a:prstDash val="solid"/>
          </a:ln>
        </p:spPr>
      </p:sp>
      <p:sp>
        <p:nvSpPr>
          <p:cNvPr id="11" name="Shape 7"/>
          <p:cNvSpPr/>
          <p:nvPr/>
        </p:nvSpPr>
        <p:spPr>
          <a:xfrm>
            <a:off x="731520" y="2743200"/>
            <a:ext cx="502920" cy="502920"/>
          </a:xfrm>
          <a:prstGeom prst="ellipse">
            <a:avLst/>
          </a:prstGeom>
          <a:solidFill>
            <a:schemeClr val="accent1"/>
          </a:solidFill>
          <a:ln/>
        </p:spPr>
      </p:sp>
      <p:sp>
        <p:nvSpPr>
          <p:cNvPr id="12" name="Text 8"/>
          <p:cNvSpPr txBox="1"/>
          <p:nvPr/>
        </p:nvSpPr>
        <p:spPr>
          <a:xfrm>
            <a:off x="731520" y="2743200"/>
            <a:ext cx="502920" cy="502920"/>
          </a:xfrm>
          <a:prstGeom prst="rect">
            <a:avLst/>
          </a:prstGeom>
          <a:noFill/>
          <a:ln/>
        </p:spPr>
        <p:txBody>
          <a:bodyPr wrap="square" lIns="0" tIns="0" rIns="0" bIns="0" rtlCol="0" anchor="ctr"/>
          <a:lstStyle/>
          <a:p>
            <a:pPr algn="ctr" indent="0" marL="0">
              <a:lnSpc>
                <a:spcPct val="110000"/>
              </a:lnSpc>
              <a:buNone/>
            </a:pPr>
            <a:r>
              <a:rPr lang="en-US" sz="1800" b="1" dirty="0">
                <a:solidFill>
                  <a:schemeClr val="bg1"/>
                </a:solidFill>
              </a:rPr>
              <a:t>σ</a:t>
            </a:r>
            <a:endParaRPr lang="en-US" sz="1800" dirty="0"/>
          </a:p>
        </p:txBody>
      </p:sp>
      <p:pic>
        <p:nvPicPr>
          <p:cNvPr id="13" name="Image 1" descr="e2">    </p:cNvPr>
          <p:cNvPicPr>
            <a:picLocks noChangeAspect="1"/>
          </p:cNvPicPr>
          <p:nvPr/>
        </p:nvPicPr>
        <p:blipFill>
          <a:blip r:embed="rId2"/>
          <a:stretch>
            <a:fillRect/>
          </a:stretch>
        </p:blipFill>
        <p:spPr>
          <a:xfrm>
            <a:off x="1463040" y="2744114"/>
            <a:ext cx="1296619" cy="501091"/>
          </a:xfrm>
          <a:prstGeom prst="rect">
            <a:avLst/>
          </a:prstGeom>
        </p:spPr>
      </p:pic>
      <p:sp>
        <p:nvSpPr>
          <p:cNvPr id="14" name="Text 9"/>
          <p:cNvSpPr txBox="1"/>
          <p:nvPr/>
        </p:nvSpPr>
        <p:spPr>
          <a:xfrm>
            <a:off x="3794760" y="2468880"/>
            <a:ext cx="2423160" cy="1051560"/>
          </a:xfrm>
          <a:prstGeom prst="rect">
            <a:avLst/>
          </a:prstGeom>
          <a:noFill/>
          <a:ln/>
        </p:spPr>
        <p:txBody>
          <a:bodyPr wrap="square" lIns="0" tIns="0" rIns="0" bIns="0" rtlCol="0" anchor="ctr"/>
          <a:lstStyle/>
          <a:p>
            <a:pPr algn="l" indent="0" marL="0">
              <a:lnSpc>
                <a:spcPct val="110000"/>
              </a:lnSpc>
              <a:buNone/>
            </a:pPr>
            <a:r>
              <a:rPr lang="en-US" sz="1300" dirty="0">
                <a:solidFill>
                  <a:schemeClr val="tx1"/>
                </a:solidFill>
              </a:rPr>
              <a:t>견고도 · 1에 가까울수록 꽉 찬 덩어리</a:t>
            </a:r>
            <a:endParaRPr lang="en-US" sz="1300" dirty="0"/>
          </a:p>
        </p:txBody>
      </p:sp>
      <p:sp>
        <p:nvSpPr>
          <p:cNvPr id="15" name="Shape 10"/>
          <p:cNvSpPr/>
          <p:nvPr/>
        </p:nvSpPr>
        <p:spPr>
          <a:xfrm>
            <a:off x="548640" y="3657600"/>
            <a:ext cx="5760720" cy="1051560"/>
          </a:xfrm>
          <a:prstGeom prst="roundRect">
            <a:avLst>
              <a:gd name="adj" fmla="val 6957"/>
            </a:avLst>
          </a:prstGeom>
          <a:solidFill>
            <a:schemeClr val="bg2"/>
          </a:solidFill>
          <a:ln/>
        </p:spPr>
      </p:sp>
      <p:sp>
        <p:nvSpPr>
          <p:cNvPr id="16" name="Shape 11"/>
          <p:cNvSpPr/>
          <p:nvPr/>
        </p:nvSpPr>
        <p:spPr>
          <a:xfrm>
            <a:off x="731520" y="3931920"/>
            <a:ext cx="502920" cy="502920"/>
          </a:xfrm>
          <a:prstGeom prst="ellipse">
            <a:avLst/>
          </a:prstGeom>
          <a:solidFill>
            <a:schemeClr val="accent1"/>
          </a:solidFill>
          <a:ln/>
        </p:spPr>
      </p:sp>
      <p:sp>
        <p:nvSpPr>
          <p:cNvPr id="17" name="Text 12"/>
          <p:cNvSpPr txBox="1"/>
          <p:nvPr/>
        </p:nvSpPr>
        <p:spPr>
          <a:xfrm>
            <a:off x="731520" y="3931920"/>
            <a:ext cx="502920" cy="502920"/>
          </a:xfrm>
          <a:prstGeom prst="rect">
            <a:avLst/>
          </a:prstGeom>
          <a:noFill/>
          <a:ln/>
        </p:spPr>
        <p:txBody>
          <a:bodyPr wrap="square" lIns="0" tIns="0" rIns="0" bIns="0" rtlCol="0" anchor="ctr"/>
          <a:lstStyle/>
          <a:p>
            <a:pPr algn="ctr" indent="0" marL="0">
              <a:lnSpc>
                <a:spcPct val="110000"/>
              </a:lnSpc>
              <a:buNone/>
            </a:pPr>
            <a:r>
              <a:rPr lang="en-US" sz="1800" b="1" dirty="0">
                <a:solidFill>
                  <a:schemeClr val="bg1"/>
                </a:solidFill>
              </a:rPr>
              <a:t>ε</a:t>
            </a:r>
            <a:endParaRPr lang="en-US" sz="1800" dirty="0"/>
          </a:p>
        </p:txBody>
      </p:sp>
      <p:pic>
        <p:nvPicPr>
          <p:cNvPr id="18" name="Image 2" descr="e3">    </p:cNvPr>
          <p:cNvPicPr>
            <a:picLocks noChangeAspect="1"/>
          </p:cNvPicPr>
          <p:nvPr/>
        </p:nvPicPr>
        <p:blipFill>
          <a:blip r:embed="rId3"/>
          <a:stretch>
            <a:fillRect/>
          </a:stretch>
        </p:blipFill>
        <p:spPr>
          <a:xfrm>
            <a:off x="1463040" y="3923690"/>
            <a:ext cx="1378915" cy="519379"/>
          </a:xfrm>
          <a:prstGeom prst="rect">
            <a:avLst/>
          </a:prstGeom>
        </p:spPr>
      </p:pic>
      <p:sp>
        <p:nvSpPr>
          <p:cNvPr id="19" name="Text 13"/>
          <p:cNvSpPr txBox="1"/>
          <p:nvPr/>
        </p:nvSpPr>
        <p:spPr>
          <a:xfrm>
            <a:off x="3794760" y="3657600"/>
            <a:ext cx="2423160" cy="1051560"/>
          </a:xfrm>
          <a:prstGeom prst="rect">
            <a:avLst/>
          </a:prstGeom>
          <a:noFill/>
          <a:ln/>
        </p:spPr>
        <p:txBody>
          <a:bodyPr wrap="square" lIns="0" tIns="0" rIns="0" bIns="0" rtlCol="0" anchor="ctr"/>
          <a:lstStyle/>
          <a:p>
            <a:pPr algn="l" indent="0" marL="0">
              <a:lnSpc>
                <a:spcPct val="110000"/>
              </a:lnSpc>
              <a:buNone/>
            </a:pPr>
            <a:r>
              <a:rPr lang="en-US" sz="1300" dirty="0">
                <a:solidFill>
                  <a:schemeClr val="tx1"/>
                </a:solidFill>
              </a:rPr>
              <a:t>면적비 · 1에 가까울수록 직사각형</a:t>
            </a:r>
            <a:endParaRPr lang="en-US" sz="1300" dirty="0"/>
          </a:p>
        </p:txBody>
      </p:sp>
      <p:sp>
        <p:nvSpPr>
          <p:cNvPr id="20" name="Shape 14"/>
          <p:cNvSpPr/>
          <p:nvPr/>
        </p:nvSpPr>
        <p:spPr>
          <a:xfrm>
            <a:off x="548640" y="4846320"/>
            <a:ext cx="5760720" cy="1051560"/>
          </a:xfrm>
          <a:prstGeom prst="roundRect">
            <a:avLst>
              <a:gd name="adj" fmla="val 6957"/>
            </a:avLst>
          </a:prstGeom>
          <a:solidFill>
            <a:schemeClr val="bg1"/>
          </a:solidFill>
          <a:ln w="12700">
            <a:solidFill>
              <a:srgbClr val="D9DEE3"/>
            </a:solidFill>
            <a:prstDash val="solid"/>
          </a:ln>
        </p:spPr>
      </p:sp>
      <p:sp>
        <p:nvSpPr>
          <p:cNvPr id="21" name="Shape 15"/>
          <p:cNvSpPr/>
          <p:nvPr/>
        </p:nvSpPr>
        <p:spPr>
          <a:xfrm>
            <a:off x="731520" y="5120640"/>
            <a:ext cx="502920" cy="502920"/>
          </a:xfrm>
          <a:prstGeom prst="ellipse">
            <a:avLst/>
          </a:prstGeom>
          <a:solidFill>
            <a:schemeClr val="accent1"/>
          </a:solidFill>
          <a:ln/>
        </p:spPr>
      </p:sp>
      <p:sp>
        <p:nvSpPr>
          <p:cNvPr id="22" name="Text 16"/>
          <p:cNvSpPr txBox="1"/>
          <p:nvPr/>
        </p:nvSpPr>
        <p:spPr>
          <a:xfrm>
            <a:off x="731520" y="5120640"/>
            <a:ext cx="502920" cy="502920"/>
          </a:xfrm>
          <a:prstGeom prst="rect">
            <a:avLst/>
          </a:prstGeom>
          <a:noFill/>
          <a:ln/>
        </p:spPr>
        <p:txBody>
          <a:bodyPr wrap="square" lIns="0" tIns="0" rIns="0" bIns="0" rtlCol="0" anchor="ctr"/>
          <a:lstStyle/>
          <a:p>
            <a:pPr algn="ctr" indent="0" marL="0">
              <a:lnSpc>
                <a:spcPct val="110000"/>
              </a:lnSpc>
              <a:buNone/>
            </a:pPr>
            <a:r>
              <a:rPr lang="en-US" sz="1800" b="1" dirty="0">
                <a:solidFill>
                  <a:schemeClr val="bg1"/>
                </a:solidFill>
              </a:rPr>
              <a:t>α</a:t>
            </a:r>
            <a:endParaRPr lang="en-US" sz="1800" dirty="0"/>
          </a:p>
        </p:txBody>
      </p:sp>
      <p:pic>
        <p:nvPicPr>
          <p:cNvPr id="23" name="Image 3" descr="e4">    </p:cNvPr>
          <p:cNvPicPr>
            <a:picLocks noChangeAspect="1"/>
          </p:cNvPicPr>
          <p:nvPr/>
        </p:nvPicPr>
        <p:blipFill>
          <a:blip r:embed="rId4"/>
          <a:stretch>
            <a:fillRect/>
          </a:stretch>
        </p:blipFill>
        <p:spPr>
          <a:xfrm>
            <a:off x="1463040" y="5163617"/>
            <a:ext cx="1314907" cy="416966"/>
          </a:xfrm>
          <a:prstGeom prst="rect">
            <a:avLst/>
          </a:prstGeom>
        </p:spPr>
      </p:pic>
      <p:sp>
        <p:nvSpPr>
          <p:cNvPr id="24" name="Text 17"/>
          <p:cNvSpPr txBox="1"/>
          <p:nvPr/>
        </p:nvSpPr>
        <p:spPr>
          <a:xfrm>
            <a:off x="3794760" y="4846320"/>
            <a:ext cx="2423160" cy="1051560"/>
          </a:xfrm>
          <a:prstGeom prst="rect">
            <a:avLst/>
          </a:prstGeom>
          <a:noFill/>
          <a:ln/>
        </p:spPr>
        <p:txBody>
          <a:bodyPr wrap="square" lIns="0" tIns="0" rIns="0" bIns="0" rtlCol="0" anchor="ctr"/>
          <a:lstStyle/>
          <a:p>
            <a:pPr algn="l" indent="0" marL="0">
              <a:lnSpc>
                <a:spcPct val="110000"/>
              </a:lnSpc>
              <a:buNone/>
            </a:pPr>
            <a:r>
              <a:rPr lang="en-US" sz="1300" dirty="0">
                <a:solidFill>
                  <a:schemeClr val="tx1"/>
                </a:solidFill>
              </a:rPr>
              <a:t>종횡비 · 최소자승 타원 적합, 클수록 가늚</a:t>
            </a:r>
            <a:endParaRPr lang="en-US" sz="1300" dirty="0"/>
          </a:p>
        </p:txBody>
      </p:sp>
      <p:sp>
        <p:nvSpPr>
          <p:cNvPr id="25" name="Text 18"/>
          <p:cNvSpPr txBox="1"/>
          <p:nvPr/>
        </p:nvSpPr>
        <p:spPr>
          <a:xfrm>
            <a:off x="6629400" y="1188720"/>
            <a:ext cx="5029200" cy="32004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표 1. 결함 4유형 분류 기준</a:t>
            </a:r>
            <a:endParaRPr lang="en-US" sz="15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629400" y="1600200"/>
          <a:ext cx="5010912" cy="914400"/>
        </p:xfrm>
        <a:graphic>
          <a:graphicData uri="http://schemas.openxmlformats.org/drawingml/2006/table">
            <a:tbl>
              <a:tblPr/>
              <a:tblGrid>
                <a:gridCol w="1554480"/>
                <a:gridCol w="1783080"/>
                <a:gridCol w="1673352"/>
              </a:tblGrid>
              <a:tr h="566928">
                <a:tc>
                  <a:txBody>
                    <a:bodyPr/>
                    <a:lstStyle/>
                    <a:p>
                      <a:pPr algn="l" indent="0" marL="0">
                        <a:buNone/>
                      </a:pPr>
                      <a:r>
                        <a:rPr lang="en-US" sz="1300" b="1" dirty="0">
                          <a:solidFill>
                            <a:schemeClr val="bg1"/>
                          </a:solidFill>
                        </a:rPr>
                        <a:t>유형</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조건</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형태</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r>
              <a:tr h="566928">
                <a:tc>
                  <a:txBody>
                    <a:bodyPr/>
                    <a:lstStyle/>
                    <a:p>
                      <a:pPr algn="l" indent="0" marL="0">
                        <a:buNone/>
                      </a:pPr>
                      <a:r>
                        <a:rPr lang="en-US" sz="1300" b="1" dirty="0">
                          <a:solidFill>
                            <a:schemeClr val="tx1"/>
                          </a:solidFill>
                        </a:rPr>
                        <a:t>linear_scratch</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λ &gt; 0.85 ∧ α &gt; 5.0</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가늘고 곧은 선형</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r>
              <a:tr h="566928">
                <a:tc>
                  <a:txBody>
                    <a:bodyPr/>
                    <a:lstStyle/>
                    <a:p>
                      <a:pPr algn="l" indent="0" marL="0">
                        <a:buNone/>
                      </a:pPr>
                      <a:r>
                        <a:rPr lang="en-US" sz="1300" b="1" dirty="0">
                          <a:solidFill>
                            <a:schemeClr val="tx1"/>
                          </a:solidFill>
                        </a:rPr>
                        <a:t>irregular</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σ &lt; 0.7</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불규칙 경계</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r>
              <a:tr h="566928">
                <a:tc>
                  <a:txBody>
                    <a:bodyPr/>
                    <a:lstStyle/>
                    <a:p>
                      <a:pPr algn="l" indent="0" marL="0">
                        <a:buNone/>
                      </a:pPr>
                      <a:r>
                        <a:rPr lang="en-US" sz="1300" b="1" dirty="0">
                          <a:solidFill>
                            <a:schemeClr val="tx1"/>
                          </a:solidFill>
                        </a:rPr>
                        <a:t>compact_blob</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α &lt; 2.0 ∧ σ &gt; 0.9</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둥글고 꽉 찬 덩어리</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r>
              <a:tr h="566928">
                <a:tc>
                  <a:txBody>
                    <a:bodyPr/>
                    <a:lstStyle/>
                    <a:p>
                      <a:pPr algn="l" indent="0" marL="0">
                        <a:buNone/>
                      </a:pPr>
                      <a:r>
                        <a:rPr lang="en-US" sz="1300" b="1" dirty="0">
                          <a:solidFill>
                            <a:schemeClr val="tx1"/>
                          </a:solidFill>
                        </a:rPr>
                        <a:t>general</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그 외</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일반형</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r>
            </a:tbl>
          </a:graphicData>
        </a:graphic>
      </p:graphicFrame>
      <p:sp>
        <p:nvSpPr>
          <p:cNvPr id="27" name="Text 19"/>
          <p:cNvSpPr txBox="1"/>
          <p:nvPr/>
        </p:nvSpPr>
        <p:spPr>
          <a:xfrm>
            <a:off x="6629400" y="4526280"/>
            <a:ext cx="5010912" cy="54864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N = 19,958 분포에서 도출: 고경계 λ = 0.85, σ = 0.9는 log-scale Otsu, 저경계는 백분위</a:t>
            </a:r>
            <a:endParaRPr lang="en-US" sz="1100" dirty="0"/>
          </a:p>
        </p:txBody>
      </p:sp>
      <p:sp>
        <p:nvSpPr>
          <p:cNvPr id="28" name="Shape 20"/>
          <p:cNvSpPr/>
          <p:nvPr/>
        </p:nvSpPr>
        <p:spPr>
          <a:xfrm>
            <a:off x="6629400" y="5120640"/>
            <a:ext cx="5010912" cy="1005840"/>
          </a:xfrm>
          <a:prstGeom prst="roundRect">
            <a:avLst>
              <a:gd name="adj" fmla="val 7273"/>
            </a:avLst>
          </a:prstGeom>
          <a:solidFill>
            <a:schemeClr val="accent5"/>
          </a:solidFill>
          <a:ln/>
        </p:spPr>
      </p:sp>
      <p:sp>
        <p:nvSpPr>
          <p:cNvPr id="29" name="Text 21"/>
          <p:cNvSpPr txBox="1"/>
          <p:nvPr/>
        </p:nvSpPr>
        <p:spPr>
          <a:xfrm>
            <a:off x="6812280" y="5120640"/>
            <a:ext cx="4663440" cy="1005840"/>
          </a:xfrm>
          <a:prstGeom prst="rect">
            <a:avLst/>
          </a:prstGeom>
          <a:noFill/>
          <a:ln/>
        </p:spPr>
        <p:txBody>
          <a:bodyPr wrap="square" lIns="0" tIns="0" rIns="0" bIns="0" rtlCol="0" anchor="ctr"/>
          <a:lstStyle/>
          <a:p>
            <a:pPr algn="l" indent="0" marL="0">
              <a:lnSpc>
                <a:spcPct val="110000"/>
              </a:lnSpc>
              <a:buNone/>
            </a:pPr>
            <a:r>
              <a:rPr lang="en-US" sz="1300" dirty="0">
                <a:solidFill>
                  <a:schemeClr val="tx1"/>
                </a:solidFill>
              </a:rPr>
              <a:t>λ·α 얼마나 길게 뻗었나 · σ·ε 얼마나 꽉 찼나</a:t>
            </a:r>
            <a:endParaRPr lang="en-US" sz="1300" dirty="0"/>
          </a:p>
          <a:p>
            <a:pPr algn="l" indent="0" marL="0">
              <a:lnSpc>
                <a:spcPct val="110000"/>
              </a:lnSpc>
              <a:buNone/>
            </a:pPr>
            <a:r>
              <a:rPr lang="en-US" sz="1300" dirty="0">
                <a:solidFill>
                  <a:schemeClr val="tx1"/>
                </a:solidFill>
              </a:rPr>
              <a:t>5장 AROMA는 같은 α·σ를 데이터셋별 P33/P66으로 자른다</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제6장 · 수식 상세 ③ 결합·선택</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결합·선택 — ROI 적합도와 호환성 행렬</a:t>
            </a:r>
            <a:endParaRPr lang="en-US" sz="2400" dirty="0"/>
          </a:p>
        </p:txBody>
      </p:sp>
      <p:sp>
        <p:nvSpPr>
          <p:cNvPr id="5" name="Text 2"/>
          <p:cNvSpPr txBox="1"/>
          <p:nvPr/>
        </p:nvSpPr>
        <p:spPr>
          <a:xfrm>
            <a:off x="548640" y="1188720"/>
            <a:ext cx="4572000" cy="32004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식 (5) ROI 적합도</a:t>
            </a:r>
            <a:endParaRPr lang="en-US" sz="1500" dirty="0"/>
          </a:p>
        </p:txBody>
      </p:sp>
      <p:sp>
        <p:nvSpPr>
          <p:cNvPr id="6" name="Shape 3"/>
          <p:cNvSpPr/>
          <p:nvPr/>
        </p:nvSpPr>
        <p:spPr>
          <a:xfrm>
            <a:off x="548640" y="1600200"/>
            <a:ext cx="4572000" cy="822960"/>
          </a:xfrm>
          <a:prstGeom prst="roundRect">
            <a:avLst>
              <a:gd name="adj" fmla="val 8889"/>
            </a:avLst>
          </a:prstGeom>
          <a:solidFill>
            <a:schemeClr val="bg2"/>
          </a:solidFill>
          <a:ln/>
        </p:spPr>
      </p:sp>
      <p:pic>
        <p:nvPicPr>
          <p:cNvPr id="7" name="Image 0" descr="e5">    </p:cNvPr>
          <p:cNvPicPr>
            <a:picLocks noChangeAspect="1"/>
          </p:cNvPicPr>
          <p:nvPr/>
        </p:nvPicPr>
        <p:blipFill>
          <a:blip r:embed="rId1"/>
          <a:stretch>
            <a:fillRect/>
          </a:stretch>
        </p:blipFill>
        <p:spPr>
          <a:xfrm>
            <a:off x="986066" y="1885150"/>
            <a:ext cx="3697148" cy="253060"/>
          </a:xfrm>
          <a:prstGeom prst="rect">
            <a:avLst/>
          </a:prstGeom>
        </p:spPr>
      </p:pic>
      <p:sp>
        <p:nvSpPr>
          <p:cNvPr id="8" name="Text 4"/>
          <p:cNvSpPr txBox="1"/>
          <p:nvPr/>
        </p:nvSpPr>
        <p:spPr>
          <a:xfrm>
            <a:off x="548640" y="2514600"/>
            <a:ext cx="4572000" cy="365760"/>
          </a:xfrm>
          <a:prstGeom prst="rect">
            <a:avLst/>
          </a:prstGeom>
          <a:noFill/>
          <a:ln/>
        </p:spPr>
        <p:txBody>
          <a:bodyPr wrap="square" lIns="0" tIns="0" rIns="0" bIns="0" rtlCol="0" anchor="t"/>
          <a:lstStyle/>
          <a:p>
            <a:pPr algn="l" indent="0" marL="0">
              <a:lnSpc>
                <a:spcPct val="110000"/>
              </a:lnSpc>
              <a:buNone/>
            </a:pPr>
            <a:r>
              <a:rPr lang="en-US" sz="1200" dirty="0">
                <a:solidFill>
                  <a:schemeClr val="accent3"/>
                </a:solidFill>
              </a:rPr>
              <a:t>매칭 품질 · 공간 연속성 · 배경 안정성 가중합 (평균 0.68)</a:t>
            </a:r>
            <a:endParaRPr lang="en-US" sz="1200" dirty="0"/>
          </a:p>
        </p:txBody>
      </p:sp>
      <p:sp>
        <p:nvSpPr>
          <p:cNvPr id="9" name="Shape 5"/>
          <p:cNvSpPr/>
          <p:nvPr/>
        </p:nvSpPr>
        <p:spPr>
          <a:xfrm>
            <a:off x="548640" y="3063240"/>
            <a:ext cx="2802636" cy="502920"/>
          </a:xfrm>
          <a:prstGeom prst="rect">
            <a:avLst/>
          </a:prstGeom>
          <a:solidFill>
            <a:schemeClr val="accent1"/>
          </a:solidFill>
          <a:ln w="12700">
            <a:solidFill>
              <a:srgbClr val="FFFFFF"/>
            </a:solidFill>
            <a:prstDash val="solid"/>
          </a:ln>
        </p:spPr>
      </p:sp>
      <p:sp>
        <p:nvSpPr>
          <p:cNvPr id="10" name="Shape 6"/>
          <p:cNvSpPr/>
          <p:nvPr/>
        </p:nvSpPr>
        <p:spPr>
          <a:xfrm>
            <a:off x="3351276" y="3063240"/>
            <a:ext cx="1440180" cy="502920"/>
          </a:xfrm>
          <a:prstGeom prst="rect">
            <a:avLst/>
          </a:prstGeom>
          <a:solidFill>
            <a:schemeClr val="accent4"/>
          </a:solidFill>
          <a:ln w="12700">
            <a:solidFill>
              <a:srgbClr val="FFFFFF"/>
            </a:solidFill>
            <a:prstDash val="solid"/>
          </a:ln>
        </p:spPr>
      </p:sp>
      <p:sp>
        <p:nvSpPr>
          <p:cNvPr id="11" name="Shape 7"/>
          <p:cNvSpPr/>
          <p:nvPr/>
        </p:nvSpPr>
        <p:spPr>
          <a:xfrm>
            <a:off x="4791456" y="3063240"/>
            <a:ext cx="329184" cy="502920"/>
          </a:xfrm>
          <a:prstGeom prst="rect">
            <a:avLst/>
          </a:prstGeom>
          <a:solidFill>
            <a:schemeClr val="accent2"/>
          </a:solidFill>
          <a:ln w="12700">
            <a:solidFill>
              <a:srgbClr val="FFFFFF"/>
            </a:solidFill>
            <a:prstDash val="solid"/>
          </a:ln>
        </p:spPr>
      </p:sp>
      <p:sp>
        <p:nvSpPr>
          <p:cNvPr id="12" name="Text 8"/>
          <p:cNvSpPr txBox="1"/>
          <p:nvPr/>
        </p:nvSpPr>
        <p:spPr>
          <a:xfrm>
            <a:off x="548640" y="3657600"/>
            <a:ext cx="1463040" cy="411480"/>
          </a:xfrm>
          <a:prstGeom prst="rect">
            <a:avLst/>
          </a:prstGeom>
          <a:noFill/>
          <a:ln/>
        </p:spPr>
        <p:txBody>
          <a:bodyPr wrap="square" lIns="0" tIns="0" rIns="0" bIns="0" rtlCol="0" anchor="t"/>
          <a:lstStyle/>
          <a:p>
            <a:pPr algn="l" indent="0" marL="0">
              <a:lnSpc>
                <a:spcPct val="110000"/>
              </a:lnSpc>
              <a:buNone/>
            </a:pPr>
            <a:r>
              <a:rPr lang="en-US" sz="2000" b="1" dirty="0">
                <a:solidFill>
                  <a:schemeClr val="accent1"/>
                </a:solidFill>
              </a:rPr>
              <a:t>61.3%</a:t>
            </a:r>
            <a:endParaRPr lang="en-US" sz="2000" dirty="0"/>
          </a:p>
        </p:txBody>
      </p:sp>
      <p:sp>
        <p:nvSpPr>
          <p:cNvPr id="13" name="Text 9"/>
          <p:cNvSpPr txBox="1"/>
          <p:nvPr/>
        </p:nvSpPr>
        <p:spPr>
          <a:xfrm>
            <a:off x="548640" y="4069080"/>
            <a:ext cx="1554480" cy="27432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고품질 (≥ 0.7)</a:t>
            </a:r>
            <a:endParaRPr lang="en-US" sz="1100" dirty="0"/>
          </a:p>
        </p:txBody>
      </p:sp>
      <p:sp>
        <p:nvSpPr>
          <p:cNvPr id="14" name="Text 10"/>
          <p:cNvSpPr txBox="1"/>
          <p:nvPr/>
        </p:nvSpPr>
        <p:spPr>
          <a:xfrm>
            <a:off x="2194560" y="3657600"/>
            <a:ext cx="1280160" cy="411480"/>
          </a:xfrm>
          <a:prstGeom prst="rect">
            <a:avLst/>
          </a:prstGeom>
          <a:noFill/>
          <a:ln/>
        </p:spPr>
        <p:txBody>
          <a:bodyPr wrap="square" lIns="0" tIns="0" rIns="0" bIns="0" rtlCol="0" anchor="t"/>
          <a:lstStyle/>
          <a:p>
            <a:pPr algn="l" indent="0" marL="0">
              <a:lnSpc>
                <a:spcPct val="110000"/>
              </a:lnSpc>
              <a:buNone/>
            </a:pPr>
            <a:r>
              <a:rPr lang="en-US" sz="2000" b="1" dirty="0">
                <a:solidFill>
                  <a:schemeClr val="accent3"/>
                </a:solidFill>
              </a:rPr>
              <a:t>31.5%</a:t>
            </a:r>
            <a:endParaRPr lang="en-US" sz="2000" dirty="0"/>
          </a:p>
        </p:txBody>
      </p:sp>
      <p:sp>
        <p:nvSpPr>
          <p:cNvPr id="15" name="Text 11"/>
          <p:cNvSpPr txBox="1"/>
          <p:nvPr/>
        </p:nvSpPr>
        <p:spPr>
          <a:xfrm>
            <a:off x="2194560" y="4069080"/>
            <a:ext cx="1280160" cy="27432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사용 가능</a:t>
            </a:r>
            <a:endParaRPr lang="en-US" sz="1100" dirty="0"/>
          </a:p>
        </p:txBody>
      </p:sp>
      <p:sp>
        <p:nvSpPr>
          <p:cNvPr id="16" name="Text 12"/>
          <p:cNvSpPr txBox="1"/>
          <p:nvPr/>
        </p:nvSpPr>
        <p:spPr>
          <a:xfrm>
            <a:off x="3749040" y="3657600"/>
            <a:ext cx="1280160" cy="411480"/>
          </a:xfrm>
          <a:prstGeom prst="rect">
            <a:avLst/>
          </a:prstGeom>
          <a:noFill/>
          <a:ln/>
        </p:spPr>
        <p:txBody>
          <a:bodyPr wrap="square" lIns="0" tIns="0" rIns="0" bIns="0" rtlCol="0" anchor="t"/>
          <a:lstStyle/>
          <a:p>
            <a:pPr algn="l" indent="0" marL="0">
              <a:lnSpc>
                <a:spcPct val="110000"/>
              </a:lnSpc>
              <a:buNone/>
            </a:pPr>
            <a:r>
              <a:rPr lang="en-US" sz="2000" b="1" dirty="0">
                <a:solidFill>
                  <a:schemeClr val="accent2"/>
                </a:solidFill>
              </a:rPr>
              <a:t>7.2%</a:t>
            </a:r>
            <a:endParaRPr lang="en-US" sz="2000" dirty="0"/>
          </a:p>
        </p:txBody>
      </p:sp>
      <p:sp>
        <p:nvSpPr>
          <p:cNvPr id="17" name="Text 13"/>
          <p:cNvSpPr txBox="1"/>
          <p:nvPr/>
        </p:nvSpPr>
        <p:spPr>
          <a:xfrm>
            <a:off x="3749040" y="4069080"/>
            <a:ext cx="1280160" cy="274320"/>
          </a:xfrm>
          <a:prstGeom prst="rect">
            <a:avLst/>
          </a:prstGeom>
          <a:noFill/>
          <a:ln/>
        </p:spPr>
        <p:txBody>
          <a:bodyPr wrap="square" lIns="0" tIns="0" rIns="0" bIns="0" rtlCol="0" anchor="t"/>
          <a:lstStyle/>
          <a:p>
            <a:pPr algn="l" indent="0" marL="0">
              <a:lnSpc>
                <a:spcPct val="110000"/>
              </a:lnSpc>
              <a:buNone/>
            </a:pPr>
            <a:r>
              <a:rPr lang="en-US" sz="1100" dirty="0">
                <a:solidFill>
                  <a:schemeClr val="accent3"/>
                </a:solidFill>
              </a:rPr>
              <a:t>제외</a:t>
            </a:r>
            <a:endParaRPr lang="en-US" sz="1100" dirty="0"/>
          </a:p>
        </p:txBody>
      </p:sp>
      <p:sp>
        <p:nvSpPr>
          <p:cNvPr id="18" name="Text 14"/>
          <p:cNvSpPr txBox="1"/>
          <p:nvPr/>
        </p:nvSpPr>
        <p:spPr>
          <a:xfrm>
            <a:off x="548640" y="4617720"/>
            <a:ext cx="4572000" cy="155448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en-US" sz="1300" dirty="0">
                <a:solidFill>
                  <a:schemeClr val="tx1"/>
                </a:solidFill>
              </a:rPr>
              <a:t>행마다 최적 배경 = 1.0, 점수를 가중치로 배경을 확률 추출</a:t>
            </a:r>
            <a:endParaRPr lang="en-US" sz="1300" dirty="0"/>
          </a:p>
          <a:p>
            <a:pPr marL="203200" indent="-203200">
              <a:lnSpc>
                <a:spcPct val="110000"/>
              </a:lnSpc>
              <a:spcAft>
                <a:spcPts val="800"/>
              </a:spcAft>
              <a:buSzPct val="100000"/>
              <a:buChar char="•"/>
            </a:pPr>
            <a:r>
              <a:rPr lang="en-US" sz="1300" dirty="0">
                <a:solidFill>
                  <a:schemeClr val="tx1"/>
                </a:solidFill>
              </a:rPr>
              <a:t>적용 단위는 이미지 1장 (이미지 선택) — 이미지 안 위치 선택은 제5장 AROMA의 설계</a:t>
            </a:r>
            <a:endParaRPr lang="en-US" sz="1300" dirty="0"/>
          </a:p>
        </p:txBody>
      </p:sp>
      <p:sp>
        <p:nvSpPr>
          <p:cNvPr id="19" name="Text 15"/>
          <p:cNvSpPr txBox="1"/>
          <p:nvPr/>
        </p:nvSpPr>
        <p:spPr>
          <a:xfrm>
            <a:off x="5440680" y="1188720"/>
            <a:ext cx="6217920" cy="32004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표 6. 호환성 행렬 (결함유형 × 배경유형)</a:t>
            </a:r>
            <a:endParaRPr lang="en-US" sz="15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40680" y="1600200"/>
          <a:ext cx="6199632" cy="914400"/>
        </p:xfrm>
        <a:graphic>
          <a:graphicData uri="http://schemas.openxmlformats.org/drawingml/2006/table">
            <a:tbl>
              <a:tblPr/>
              <a:tblGrid>
                <a:gridCol w="1490472"/>
                <a:gridCol w="941832"/>
                <a:gridCol w="941832"/>
                <a:gridCol w="941832"/>
                <a:gridCol w="941832"/>
                <a:gridCol w="941832"/>
              </a:tblGrid>
              <a:tr h="658368">
                <a:tc>
                  <a:txBody>
                    <a:bodyPr/>
                    <a:lstStyle/>
                    <a:p>
                      <a:pPr algn="l" indent="0" marL="0">
                        <a:buNone/>
                      </a:pPr>
                      <a:r>
                        <a:rPr lang="en-US" sz="1200" b="1" dirty="0">
                          <a:solidFill>
                            <a:schemeClr val="bg1"/>
                          </a:solidFill>
                        </a:rPr>
                        <a:t>결함 \ 배경</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Smooth</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V-Stripe</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H-Stripe</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Textured</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ctr" indent="0" marL="0">
                        <a:buNone/>
                      </a:pPr>
                      <a:r>
                        <a:rPr lang="en-US" sz="1200" b="1" dirty="0">
                          <a:solidFill>
                            <a:schemeClr val="bg1"/>
                          </a:solidFill>
                        </a:rPr>
                        <a:t>Complex</a:t>
                      </a:r>
                      <a:endParaRPr lang="en-US" sz="12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r>
              <a:tr h="658368">
                <a:tc>
                  <a:txBody>
                    <a:bodyPr/>
                    <a:lstStyle/>
                    <a:p>
                      <a:pPr algn="l" indent="0" marL="0">
                        <a:buNone/>
                      </a:pPr>
                      <a:r>
                        <a:rPr lang="en-US" sz="1400" b="1" dirty="0">
                          <a:solidFill>
                            <a:schemeClr val="tx1"/>
                          </a:solidFill>
                        </a:rPr>
                        <a:t>Linear scratch</a:t>
                      </a:r>
                      <a:endParaRPr lang="en-US" sz="14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0.7</a:t>
                      </a:r>
                      <a:endParaRPr lang="en-US" sz="14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4"/>
                    </a:solidFill>
                  </a:tcPr>
                </a:tc>
                <a:tc>
                  <a:txBody>
                    <a:bodyPr/>
                    <a:lstStyle/>
                    <a:p>
                      <a:pPr algn="ctr" indent="0" marL="0">
                        <a:buNone/>
                      </a:pPr>
                      <a:r>
                        <a:rPr lang="en-US" sz="1400" b="1" dirty="0">
                          <a:solidFill>
                            <a:schemeClr val="bg1"/>
                          </a:solidFill>
                        </a:rPr>
                        <a:t>1.0</a:t>
                      </a:r>
                      <a:endParaRPr lang="en-US" sz="14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bg1"/>
                          </a:solidFill>
                        </a:rPr>
                        <a:t>1.0</a:t>
                      </a:r>
                      <a:endParaRPr lang="en-US" sz="14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ctr" indent="0" marL="0">
                        <a:buNone/>
                      </a:pPr>
                      <a:r>
                        <a:rPr lang="en-US" sz="1400" dirty="0">
                          <a:solidFill>
                            <a:schemeClr val="tx1"/>
                          </a:solidFill>
                        </a:rPr>
                        <a:t>0.5</a:t>
                      </a:r>
                      <a:endParaRPr lang="en-US" sz="14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0.3</a:t>
                      </a:r>
                      <a:endParaRPr lang="en-US" sz="14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5"/>
                    </a:solidFill>
                  </a:tcPr>
                </a:tc>
              </a:tr>
              <a:tr h="658368">
                <a:tc>
                  <a:txBody>
                    <a:bodyPr/>
                    <a:lstStyle/>
                    <a:p>
                      <a:pPr algn="l" indent="0" marL="0">
                        <a:buNone/>
                      </a:pPr>
                      <a:r>
                        <a:rPr lang="en-US" sz="1400" b="1" dirty="0">
                          <a:solidFill>
                            <a:schemeClr val="tx1"/>
                          </a:solidFill>
                        </a:rPr>
                        <a:t>Compact blob</a:t>
                      </a:r>
                      <a:endParaRPr lang="en-US" sz="14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ctr" indent="0" marL="0">
                        <a:buNone/>
                      </a:pPr>
                      <a:r>
                        <a:rPr lang="en-US" sz="1400" b="1" dirty="0">
                          <a:solidFill>
                            <a:schemeClr val="bg1"/>
                          </a:solidFill>
                        </a:rPr>
                        <a:t>1.0</a:t>
                      </a:r>
                      <a:endParaRPr lang="en-US" sz="14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ctr" indent="0" marL="0">
                        <a:buNone/>
                      </a:pPr>
                      <a:r>
                        <a:rPr lang="en-US" sz="1400" dirty="0">
                          <a:solidFill>
                            <a:schemeClr val="tx1"/>
                          </a:solidFill>
                        </a:rPr>
                        <a:t>0.5</a:t>
                      </a:r>
                      <a:endParaRPr lang="en-US" sz="14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0.5</a:t>
                      </a:r>
                      <a:endParaRPr lang="en-US" sz="14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0.7</a:t>
                      </a:r>
                      <a:endParaRPr lang="en-US" sz="14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4"/>
                    </a:solidFill>
                  </a:tcPr>
                </a:tc>
                <a:tc>
                  <a:txBody>
                    <a:bodyPr/>
                    <a:lstStyle/>
                    <a:p>
                      <a:pPr algn="ctr" indent="0" marL="0">
                        <a:buNone/>
                      </a:pPr>
                      <a:r>
                        <a:rPr lang="en-US" sz="1400" dirty="0">
                          <a:solidFill>
                            <a:schemeClr val="tx1"/>
                          </a:solidFill>
                        </a:rPr>
                        <a:t>0.6</a:t>
                      </a:r>
                      <a:endParaRPr lang="en-US" sz="14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r>
              <a:tr h="658368">
                <a:tc>
                  <a:txBody>
                    <a:bodyPr/>
                    <a:lstStyle/>
                    <a:p>
                      <a:pPr algn="l" indent="0" marL="0">
                        <a:buNone/>
                      </a:pPr>
                      <a:r>
                        <a:rPr lang="en-US" sz="1400" b="1" dirty="0">
                          <a:solidFill>
                            <a:schemeClr val="tx1"/>
                          </a:solidFill>
                        </a:rPr>
                        <a:t>Irregular</a:t>
                      </a:r>
                      <a:endParaRPr lang="en-US" sz="14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0.6</a:t>
                      </a:r>
                      <a:endParaRPr lang="en-US" sz="14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0.5</a:t>
                      </a:r>
                      <a:endParaRPr lang="en-US" sz="14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0.5</a:t>
                      </a:r>
                      <a:endParaRPr lang="en-US" sz="14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ctr" indent="0" marL="0">
                        <a:buNone/>
                      </a:pPr>
                      <a:r>
                        <a:rPr lang="en-US" sz="1400" dirty="0">
                          <a:solidFill>
                            <a:schemeClr val="tx1"/>
                          </a:solidFill>
                        </a:rPr>
                        <a:t>0.8</a:t>
                      </a:r>
                      <a:endParaRPr lang="en-US" sz="14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4"/>
                    </a:solidFill>
                  </a:tcPr>
                </a:tc>
                <a:tc>
                  <a:txBody>
                    <a:bodyPr/>
                    <a:lstStyle/>
                    <a:p>
                      <a:pPr algn="ctr" indent="0" marL="0">
                        <a:buNone/>
                      </a:pPr>
                      <a:r>
                        <a:rPr lang="en-US" sz="1400" b="1" dirty="0">
                          <a:solidFill>
                            <a:schemeClr val="bg1"/>
                          </a:solidFill>
                        </a:rPr>
                        <a:t>1.0</a:t>
                      </a:r>
                      <a:endParaRPr lang="en-US" sz="14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r>
              <a:tr h="658368">
                <a:tc>
                  <a:txBody>
                    <a:bodyPr/>
                    <a:lstStyle/>
                    <a:p>
                      <a:pPr algn="l" indent="0" marL="0">
                        <a:buNone/>
                      </a:pPr>
                      <a:r>
                        <a:rPr lang="en-US" sz="1400" b="1" dirty="0">
                          <a:solidFill>
                            <a:schemeClr val="tx1"/>
                          </a:solidFill>
                        </a:rPr>
                        <a:t>General</a:t>
                      </a:r>
                      <a:endParaRPr lang="en-US" sz="14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ctr" indent="0" marL="0">
                        <a:buNone/>
                      </a:pPr>
                      <a:r>
                        <a:rPr lang="en-US" sz="1400" dirty="0">
                          <a:solidFill>
                            <a:schemeClr val="tx1"/>
                          </a:solidFill>
                        </a:rPr>
                        <a:t>0.7</a:t>
                      </a:r>
                      <a:endParaRPr lang="en-US" sz="14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4"/>
                    </a:solidFill>
                  </a:tcPr>
                </a:tc>
                <a:tc>
                  <a:txBody>
                    <a:bodyPr/>
                    <a:lstStyle/>
                    <a:p>
                      <a:pPr algn="ctr" indent="0" marL="0">
                        <a:buNone/>
                      </a:pPr>
                      <a:r>
                        <a:rPr lang="en-US" sz="1400" dirty="0">
                          <a:solidFill>
                            <a:schemeClr val="tx1"/>
                          </a:solidFill>
                        </a:rPr>
                        <a:t>0.7</a:t>
                      </a:r>
                      <a:endParaRPr lang="en-US" sz="14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4"/>
                    </a:solidFill>
                  </a:tcPr>
                </a:tc>
                <a:tc>
                  <a:txBody>
                    <a:bodyPr/>
                    <a:lstStyle/>
                    <a:p>
                      <a:pPr algn="ctr" indent="0" marL="0">
                        <a:buNone/>
                      </a:pPr>
                      <a:r>
                        <a:rPr lang="en-US" sz="1400" dirty="0">
                          <a:solidFill>
                            <a:schemeClr val="tx1"/>
                          </a:solidFill>
                        </a:rPr>
                        <a:t>0.7</a:t>
                      </a:r>
                      <a:endParaRPr lang="en-US" sz="14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4"/>
                    </a:solidFill>
                  </a:tcPr>
                </a:tc>
                <a:tc>
                  <a:txBody>
                    <a:bodyPr/>
                    <a:lstStyle/>
                    <a:p>
                      <a:pPr algn="ctr" indent="0" marL="0">
                        <a:buNone/>
                      </a:pPr>
                      <a:r>
                        <a:rPr lang="en-US" sz="1400" dirty="0">
                          <a:solidFill>
                            <a:schemeClr val="tx1"/>
                          </a:solidFill>
                        </a:rPr>
                        <a:t>0.7</a:t>
                      </a:r>
                      <a:endParaRPr lang="en-US" sz="14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4"/>
                    </a:solidFill>
                  </a:tcPr>
                </a:tc>
                <a:tc>
                  <a:txBody>
                    <a:bodyPr/>
                    <a:lstStyle/>
                    <a:p>
                      <a:pPr algn="ctr" indent="0" marL="0">
                        <a:buNone/>
                      </a:pPr>
                      <a:r>
                        <a:rPr lang="en-US" sz="1400" dirty="0">
                          <a:solidFill>
                            <a:schemeClr val="tx1"/>
                          </a:solidFill>
                        </a:rPr>
                        <a:t>0.7</a:t>
                      </a:r>
                      <a:endParaRPr lang="en-US" sz="14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4"/>
                    </a:solidFill>
                  </a:tcPr>
                </a:tc>
              </a:tr>
            </a:tbl>
          </a:graphicData>
        </a:graphic>
      </p:graphicFrame>
      <p:sp>
        <p:nvSpPr>
          <p:cNvPr id="21" name="Shape 16"/>
          <p:cNvSpPr/>
          <p:nvPr/>
        </p:nvSpPr>
        <p:spPr>
          <a:xfrm>
            <a:off x="5440680" y="5074920"/>
            <a:ext cx="274320" cy="274320"/>
          </a:xfrm>
          <a:prstGeom prst="rect">
            <a:avLst/>
          </a:prstGeom>
          <a:solidFill>
            <a:schemeClr val="accent1"/>
          </a:solidFill>
          <a:ln w="12700">
            <a:solidFill>
              <a:srgbClr val="D9DEE3"/>
            </a:solidFill>
            <a:prstDash val="solid"/>
          </a:ln>
        </p:spPr>
      </p:sp>
      <p:sp>
        <p:nvSpPr>
          <p:cNvPr id="22" name="Text 17"/>
          <p:cNvSpPr txBox="1"/>
          <p:nvPr/>
        </p:nvSpPr>
        <p:spPr>
          <a:xfrm>
            <a:off x="5806440" y="5047488"/>
            <a:ext cx="1143000" cy="329184"/>
          </a:xfrm>
          <a:prstGeom prst="rect">
            <a:avLst/>
          </a:prstGeom>
          <a:noFill/>
          <a:ln/>
        </p:spPr>
        <p:txBody>
          <a:bodyPr wrap="square" lIns="0" tIns="0" rIns="0" bIns="0" rtlCol="0" anchor="ctr"/>
          <a:lstStyle/>
          <a:p>
            <a:pPr algn="l" indent="0" marL="0">
              <a:lnSpc>
                <a:spcPct val="110000"/>
              </a:lnSpc>
              <a:buNone/>
            </a:pPr>
            <a:r>
              <a:rPr lang="en-US" sz="1200" dirty="0">
                <a:solidFill>
                  <a:schemeClr val="accent3"/>
                </a:solidFill>
              </a:rPr>
              <a:t>1.0 최적</a:t>
            </a:r>
            <a:endParaRPr lang="en-US" sz="1200" dirty="0"/>
          </a:p>
        </p:txBody>
      </p:sp>
      <p:sp>
        <p:nvSpPr>
          <p:cNvPr id="23" name="Shape 18"/>
          <p:cNvSpPr/>
          <p:nvPr/>
        </p:nvSpPr>
        <p:spPr>
          <a:xfrm>
            <a:off x="6995160" y="5074920"/>
            <a:ext cx="274320" cy="274320"/>
          </a:xfrm>
          <a:prstGeom prst="rect">
            <a:avLst/>
          </a:prstGeom>
          <a:solidFill>
            <a:schemeClr val="accent4"/>
          </a:solidFill>
          <a:ln w="12700">
            <a:solidFill>
              <a:srgbClr val="D9DEE3"/>
            </a:solidFill>
            <a:prstDash val="solid"/>
          </a:ln>
        </p:spPr>
      </p:sp>
      <p:sp>
        <p:nvSpPr>
          <p:cNvPr id="24" name="Text 19"/>
          <p:cNvSpPr txBox="1"/>
          <p:nvPr/>
        </p:nvSpPr>
        <p:spPr>
          <a:xfrm>
            <a:off x="7360920" y="5047488"/>
            <a:ext cx="1143000" cy="329184"/>
          </a:xfrm>
          <a:prstGeom prst="rect">
            <a:avLst/>
          </a:prstGeom>
          <a:noFill/>
          <a:ln/>
        </p:spPr>
        <p:txBody>
          <a:bodyPr wrap="square" lIns="0" tIns="0" rIns="0" bIns="0" rtlCol="0" anchor="ctr"/>
          <a:lstStyle/>
          <a:p>
            <a:pPr algn="l" indent="0" marL="0">
              <a:lnSpc>
                <a:spcPct val="110000"/>
              </a:lnSpc>
              <a:buNone/>
            </a:pPr>
            <a:r>
              <a:rPr lang="en-US" sz="1200" dirty="0">
                <a:solidFill>
                  <a:schemeClr val="accent3"/>
                </a:solidFill>
              </a:rPr>
              <a:t>0.7–0.8</a:t>
            </a:r>
            <a:endParaRPr lang="en-US" sz="1200" dirty="0"/>
          </a:p>
        </p:txBody>
      </p:sp>
      <p:sp>
        <p:nvSpPr>
          <p:cNvPr id="25" name="Shape 20"/>
          <p:cNvSpPr/>
          <p:nvPr/>
        </p:nvSpPr>
        <p:spPr>
          <a:xfrm>
            <a:off x="8549640" y="5074920"/>
            <a:ext cx="274320" cy="274320"/>
          </a:xfrm>
          <a:prstGeom prst="rect">
            <a:avLst/>
          </a:prstGeom>
          <a:solidFill>
            <a:schemeClr val="bg2"/>
          </a:solidFill>
          <a:ln w="12700">
            <a:solidFill>
              <a:srgbClr val="D9DEE3"/>
            </a:solidFill>
            <a:prstDash val="solid"/>
          </a:ln>
        </p:spPr>
      </p:sp>
      <p:sp>
        <p:nvSpPr>
          <p:cNvPr id="26" name="Text 21"/>
          <p:cNvSpPr txBox="1"/>
          <p:nvPr/>
        </p:nvSpPr>
        <p:spPr>
          <a:xfrm>
            <a:off x="8915400" y="5047488"/>
            <a:ext cx="1143000" cy="329184"/>
          </a:xfrm>
          <a:prstGeom prst="rect">
            <a:avLst/>
          </a:prstGeom>
          <a:noFill/>
          <a:ln/>
        </p:spPr>
        <p:txBody>
          <a:bodyPr wrap="square" lIns="0" tIns="0" rIns="0" bIns="0" rtlCol="0" anchor="ctr"/>
          <a:lstStyle/>
          <a:p>
            <a:pPr algn="l" indent="0" marL="0">
              <a:lnSpc>
                <a:spcPct val="110000"/>
              </a:lnSpc>
              <a:buNone/>
            </a:pPr>
            <a:r>
              <a:rPr lang="en-US" sz="1200" dirty="0">
                <a:solidFill>
                  <a:schemeClr val="accent3"/>
                </a:solidFill>
              </a:rPr>
              <a:t>0.5–0.6</a:t>
            </a:r>
            <a:endParaRPr lang="en-US" sz="1200" dirty="0"/>
          </a:p>
        </p:txBody>
      </p:sp>
      <p:sp>
        <p:nvSpPr>
          <p:cNvPr id="27" name="Shape 22"/>
          <p:cNvSpPr/>
          <p:nvPr/>
        </p:nvSpPr>
        <p:spPr>
          <a:xfrm>
            <a:off x="10104120" y="5074920"/>
            <a:ext cx="274320" cy="274320"/>
          </a:xfrm>
          <a:prstGeom prst="rect">
            <a:avLst/>
          </a:prstGeom>
          <a:solidFill>
            <a:schemeClr val="accent5"/>
          </a:solidFill>
          <a:ln w="12700">
            <a:solidFill>
              <a:srgbClr val="D9DEE3"/>
            </a:solidFill>
            <a:prstDash val="solid"/>
          </a:ln>
        </p:spPr>
      </p:sp>
      <p:sp>
        <p:nvSpPr>
          <p:cNvPr id="28" name="Text 23"/>
          <p:cNvSpPr txBox="1"/>
          <p:nvPr/>
        </p:nvSpPr>
        <p:spPr>
          <a:xfrm>
            <a:off x="10469880" y="5047488"/>
            <a:ext cx="1143000" cy="329184"/>
          </a:xfrm>
          <a:prstGeom prst="rect">
            <a:avLst/>
          </a:prstGeom>
          <a:noFill/>
          <a:ln/>
        </p:spPr>
        <p:txBody>
          <a:bodyPr wrap="square" lIns="0" tIns="0" rIns="0" bIns="0" rtlCol="0" anchor="ctr"/>
          <a:lstStyle/>
          <a:p>
            <a:pPr algn="l" indent="0" marL="0">
              <a:lnSpc>
                <a:spcPct val="110000"/>
              </a:lnSpc>
              <a:buNone/>
            </a:pPr>
            <a:r>
              <a:rPr lang="en-US" sz="1200" dirty="0">
                <a:solidFill>
                  <a:schemeClr val="accent3"/>
                </a:solidFill>
              </a:rPr>
              <a:t>0.3</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제6장 · 수식 상세 ④ 생성·품질</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생성 조건 — 3채널 힌트와 문맥 프롬프트</a:t>
            </a:r>
            <a:endParaRPr lang="en-US" sz="2400" dirty="0"/>
          </a:p>
        </p:txBody>
      </p:sp>
      <p:sp>
        <p:nvSpPr>
          <p:cNvPr id="5" name="Text 2"/>
          <p:cNvSpPr txBox="1"/>
          <p:nvPr/>
        </p:nvSpPr>
        <p:spPr>
          <a:xfrm>
            <a:off x="548640" y="1188720"/>
            <a:ext cx="3657600" cy="32004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표 2. 3채널 힌트</a:t>
            </a:r>
            <a:endParaRPr lang="en-US" sz="1500" dirty="0"/>
          </a:p>
        </p:txBody>
      </p:sp>
      <p:sp>
        <p:nvSpPr>
          <p:cNvPr id="6" name="Shape 3"/>
          <p:cNvSpPr/>
          <p:nvPr/>
        </p:nvSpPr>
        <p:spPr>
          <a:xfrm>
            <a:off x="6949440" y="1143000"/>
            <a:ext cx="4690872" cy="457200"/>
          </a:xfrm>
          <a:prstGeom prst="roundRect">
            <a:avLst>
              <a:gd name="adj" fmla="val 16000"/>
            </a:avLst>
          </a:prstGeom>
          <a:solidFill>
            <a:schemeClr val="accent4"/>
          </a:solidFill>
          <a:ln/>
        </p:spPr>
      </p:sp>
      <p:pic>
        <p:nvPicPr>
          <p:cNvPr id="7" name="Image 0" descr="hint">    </p:cNvPr>
          <p:cNvPicPr>
            <a:picLocks noChangeAspect="1"/>
          </p:cNvPicPr>
          <p:nvPr/>
        </p:nvPicPr>
        <p:blipFill>
          <a:blip r:embed="rId1"/>
          <a:stretch>
            <a:fillRect/>
          </a:stretch>
        </p:blipFill>
        <p:spPr>
          <a:xfrm>
            <a:off x="8131759" y="1259129"/>
            <a:ext cx="2326234" cy="224942"/>
          </a:xfrm>
          <a:prstGeom prst="rect">
            <a:avLst/>
          </a:prstGeom>
        </p:spPr>
      </p:pic>
      <p:sp>
        <p:nvSpPr>
          <p:cNvPr id="8" name="Shape 4"/>
          <p:cNvSpPr/>
          <p:nvPr/>
        </p:nvSpPr>
        <p:spPr>
          <a:xfrm>
            <a:off x="548640" y="1737360"/>
            <a:ext cx="3511296" cy="1965960"/>
          </a:xfrm>
          <a:prstGeom prst="roundRect">
            <a:avLst>
              <a:gd name="adj" fmla="val 3721"/>
            </a:avLst>
          </a:prstGeom>
          <a:solidFill>
            <a:schemeClr val="bg2"/>
          </a:solidFill>
          <a:ln/>
        </p:spPr>
      </p:sp>
      <p:sp>
        <p:nvSpPr>
          <p:cNvPr id="9" name="Shape 5"/>
          <p:cNvSpPr/>
          <p:nvPr/>
        </p:nvSpPr>
        <p:spPr>
          <a:xfrm>
            <a:off x="731520" y="1920240"/>
            <a:ext cx="548640" cy="548640"/>
          </a:xfrm>
          <a:prstGeom prst="ellipse">
            <a:avLst/>
          </a:prstGeom>
          <a:solidFill>
            <a:schemeClr val="accent6"/>
          </a:solidFill>
          <a:ln/>
        </p:spPr>
      </p:sp>
      <p:sp>
        <p:nvSpPr>
          <p:cNvPr id="10" name="Text 6"/>
          <p:cNvSpPr txBox="1"/>
          <p:nvPr/>
        </p:nvSpPr>
        <p:spPr>
          <a:xfrm>
            <a:off x="731520" y="1920240"/>
            <a:ext cx="548640" cy="548640"/>
          </a:xfrm>
          <a:prstGeom prst="rect">
            <a:avLst/>
          </a:prstGeom>
          <a:noFill/>
          <a:ln/>
        </p:spPr>
        <p:txBody>
          <a:bodyPr wrap="square" lIns="0" tIns="0" rIns="0" bIns="0" rtlCol="0" anchor="ctr"/>
          <a:lstStyle/>
          <a:p>
            <a:pPr algn="ctr" indent="0" marL="0">
              <a:lnSpc>
                <a:spcPct val="110000"/>
              </a:lnSpc>
              <a:buNone/>
            </a:pPr>
            <a:r>
              <a:rPr lang="en-US" sz="2000" b="1" dirty="0">
                <a:solidFill>
                  <a:schemeClr val="bg1"/>
                </a:solidFill>
              </a:rPr>
              <a:t>R</a:t>
            </a:r>
            <a:endParaRPr lang="en-US" sz="2000" dirty="0"/>
          </a:p>
        </p:txBody>
      </p:sp>
      <p:sp>
        <p:nvSpPr>
          <p:cNvPr id="11" name="Text 7"/>
          <p:cNvSpPr txBox="1"/>
          <p:nvPr/>
        </p:nvSpPr>
        <p:spPr>
          <a:xfrm>
            <a:off x="1417320" y="1920240"/>
            <a:ext cx="2505456" cy="32004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결함 기하</a:t>
            </a:r>
            <a:endParaRPr lang="en-US" sz="1500" dirty="0"/>
          </a:p>
        </p:txBody>
      </p:sp>
      <p:sp>
        <p:nvSpPr>
          <p:cNvPr id="12" name="Text 8"/>
          <p:cNvSpPr txBox="1"/>
          <p:nvPr/>
        </p:nvSpPr>
        <p:spPr>
          <a:xfrm>
            <a:off x="1417320" y="2240280"/>
            <a:ext cx="2505456" cy="274320"/>
          </a:xfrm>
          <a:prstGeom prst="rect">
            <a:avLst/>
          </a:prstGeom>
          <a:noFill/>
          <a:ln/>
        </p:spPr>
        <p:txBody>
          <a:bodyPr wrap="square" lIns="0" tIns="0" rIns="0" bIns="0" rtlCol="0" anchor="t"/>
          <a:lstStyle/>
          <a:p>
            <a:pPr algn="l" indent="0" marL="0">
              <a:lnSpc>
                <a:spcPct val="110000"/>
              </a:lnSpc>
              <a:buNone/>
            </a:pPr>
            <a:r>
              <a:rPr lang="en-US" sz="1200" dirty="0">
                <a:solidFill>
                  <a:schemeClr val="accent3"/>
                </a:solidFill>
              </a:rPr>
              <a:t>가중 0.5</a:t>
            </a:r>
            <a:endParaRPr lang="en-US" sz="1200" dirty="0"/>
          </a:p>
        </p:txBody>
      </p:sp>
      <p:sp>
        <p:nvSpPr>
          <p:cNvPr id="13" name="Text 9"/>
          <p:cNvSpPr txBox="1"/>
          <p:nvPr/>
        </p:nvSpPr>
        <p:spPr>
          <a:xfrm>
            <a:off x="731520" y="2651760"/>
            <a:ext cx="3145536" cy="96012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λ &gt; 0.7 → skeleton + edge</a:t>
            </a:r>
            <a:endParaRPr lang="en-US" sz="1200" dirty="0"/>
          </a:p>
          <a:p>
            <a:pPr algn="l" indent="0" marL="0">
              <a:lnSpc>
                <a:spcPct val="110000"/>
              </a:lnSpc>
              <a:buNone/>
            </a:pPr>
            <a:r>
              <a:rPr lang="en-US" sz="1200" dirty="0">
                <a:solidFill>
                  <a:schemeClr val="tx1"/>
                </a:solidFill>
              </a:rPr>
              <a:t>σ &gt; 0.8 → filled · 그 외 → edge</a:t>
            </a:r>
            <a:endParaRPr lang="en-US" sz="1200" dirty="0"/>
          </a:p>
        </p:txBody>
      </p:sp>
      <p:sp>
        <p:nvSpPr>
          <p:cNvPr id="14" name="Shape 10"/>
          <p:cNvSpPr/>
          <p:nvPr/>
        </p:nvSpPr>
        <p:spPr>
          <a:xfrm>
            <a:off x="4338828" y="1737360"/>
            <a:ext cx="3511296" cy="1965960"/>
          </a:xfrm>
          <a:prstGeom prst="roundRect">
            <a:avLst>
              <a:gd name="adj" fmla="val 3721"/>
            </a:avLst>
          </a:prstGeom>
          <a:solidFill>
            <a:schemeClr val="bg2"/>
          </a:solidFill>
          <a:ln/>
        </p:spPr>
      </p:sp>
      <p:sp>
        <p:nvSpPr>
          <p:cNvPr id="15" name="Shape 11"/>
          <p:cNvSpPr/>
          <p:nvPr/>
        </p:nvSpPr>
        <p:spPr>
          <a:xfrm>
            <a:off x="4521708" y="1920240"/>
            <a:ext cx="548640" cy="548640"/>
          </a:xfrm>
          <a:prstGeom prst="ellipse">
            <a:avLst/>
          </a:prstGeom>
          <a:solidFill>
            <a:schemeClr val="accent1"/>
          </a:solidFill>
          <a:ln/>
        </p:spPr>
      </p:sp>
      <p:sp>
        <p:nvSpPr>
          <p:cNvPr id="16" name="Text 12"/>
          <p:cNvSpPr txBox="1"/>
          <p:nvPr/>
        </p:nvSpPr>
        <p:spPr>
          <a:xfrm>
            <a:off x="4521708" y="1920240"/>
            <a:ext cx="548640" cy="548640"/>
          </a:xfrm>
          <a:prstGeom prst="rect">
            <a:avLst/>
          </a:prstGeom>
          <a:noFill/>
          <a:ln/>
        </p:spPr>
        <p:txBody>
          <a:bodyPr wrap="square" lIns="0" tIns="0" rIns="0" bIns="0" rtlCol="0" anchor="ctr"/>
          <a:lstStyle/>
          <a:p>
            <a:pPr algn="ctr" indent="0" marL="0">
              <a:lnSpc>
                <a:spcPct val="110000"/>
              </a:lnSpc>
              <a:buNone/>
            </a:pPr>
            <a:r>
              <a:rPr lang="en-US" sz="2000" b="1" dirty="0">
                <a:solidFill>
                  <a:schemeClr val="bg1"/>
                </a:solidFill>
              </a:rPr>
              <a:t>G</a:t>
            </a:r>
            <a:endParaRPr lang="en-US" sz="2000" dirty="0"/>
          </a:p>
        </p:txBody>
      </p:sp>
      <p:sp>
        <p:nvSpPr>
          <p:cNvPr id="17" name="Text 13"/>
          <p:cNvSpPr txBox="1"/>
          <p:nvPr/>
        </p:nvSpPr>
        <p:spPr>
          <a:xfrm>
            <a:off x="5207508" y="1920240"/>
            <a:ext cx="2505456" cy="32004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배경 표면 방향</a:t>
            </a:r>
            <a:endParaRPr lang="en-US" sz="1500" dirty="0"/>
          </a:p>
        </p:txBody>
      </p:sp>
      <p:sp>
        <p:nvSpPr>
          <p:cNvPr id="18" name="Text 14"/>
          <p:cNvSpPr txBox="1"/>
          <p:nvPr/>
        </p:nvSpPr>
        <p:spPr>
          <a:xfrm>
            <a:off x="5207508" y="2240280"/>
            <a:ext cx="2505456" cy="274320"/>
          </a:xfrm>
          <a:prstGeom prst="rect">
            <a:avLst/>
          </a:prstGeom>
          <a:noFill/>
          <a:ln/>
        </p:spPr>
        <p:txBody>
          <a:bodyPr wrap="square" lIns="0" tIns="0" rIns="0" bIns="0" rtlCol="0" anchor="t"/>
          <a:lstStyle/>
          <a:p>
            <a:pPr algn="l" indent="0" marL="0">
              <a:lnSpc>
                <a:spcPct val="110000"/>
              </a:lnSpc>
              <a:buNone/>
            </a:pPr>
            <a:r>
              <a:rPr lang="en-US" sz="1200" dirty="0">
                <a:solidFill>
                  <a:schemeClr val="accent3"/>
                </a:solidFill>
              </a:rPr>
              <a:t>가중 0.3</a:t>
            </a:r>
            <a:endParaRPr lang="en-US" sz="1200" dirty="0"/>
          </a:p>
        </p:txBody>
      </p:sp>
      <p:sp>
        <p:nvSpPr>
          <p:cNvPr id="19" name="Text 15"/>
          <p:cNvSpPr txBox="1"/>
          <p:nvPr/>
        </p:nvSpPr>
        <p:spPr>
          <a:xfrm>
            <a:off x="4521708" y="2651760"/>
            <a:ext cx="3145536" cy="96012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V-stripe → Sobel_x · H-stripe → Sobel_y</a:t>
            </a:r>
            <a:endParaRPr lang="en-US" sz="1200" dirty="0"/>
          </a:p>
          <a:p>
            <a:pPr algn="l" indent="0" marL="0">
              <a:lnSpc>
                <a:spcPct val="110000"/>
              </a:lnSpc>
              <a:buNone/>
            </a:pPr>
            <a:r>
              <a:rPr lang="en-US" sz="1200" dirty="0">
                <a:solidFill>
                  <a:schemeClr val="tx1"/>
                </a:solidFill>
              </a:rPr>
              <a:t>Complex → 전방향 · Smooth/Textured → 0</a:t>
            </a:r>
            <a:endParaRPr lang="en-US" sz="1200" dirty="0"/>
          </a:p>
        </p:txBody>
      </p:sp>
      <p:sp>
        <p:nvSpPr>
          <p:cNvPr id="20" name="Shape 16"/>
          <p:cNvSpPr/>
          <p:nvPr/>
        </p:nvSpPr>
        <p:spPr>
          <a:xfrm>
            <a:off x="8129016" y="1737360"/>
            <a:ext cx="3511296" cy="1965960"/>
          </a:xfrm>
          <a:prstGeom prst="roundRect">
            <a:avLst>
              <a:gd name="adj" fmla="val 3721"/>
            </a:avLst>
          </a:prstGeom>
          <a:solidFill>
            <a:schemeClr val="bg2"/>
          </a:solidFill>
          <a:ln/>
        </p:spPr>
      </p:sp>
      <p:sp>
        <p:nvSpPr>
          <p:cNvPr id="21" name="Shape 17"/>
          <p:cNvSpPr/>
          <p:nvPr/>
        </p:nvSpPr>
        <p:spPr>
          <a:xfrm>
            <a:off x="8311896" y="1920240"/>
            <a:ext cx="548640" cy="548640"/>
          </a:xfrm>
          <a:prstGeom prst="ellipse">
            <a:avLst/>
          </a:prstGeom>
          <a:solidFill>
            <a:schemeClr val="accent3"/>
          </a:solidFill>
          <a:ln/>
        </p:spPr>
      </p:sp>
      <p:sp>
        <p:nvSpPr>
          <p:cNvPr id="22" name="Text 18"/>
          <p:cNvSpPr txBox="1"/>
          <p:nvPr/>
        </p:nvSpPr>
        <p:spPr>
          <a:xfrm>
            <a:off x="8311896" y="1920240"/>
            <a:ext cx="548640" cy="548640"/>
          </a:xfrm>
          <a:prstGeom prst="rect">
            <a:avLst/>
          </a:prstGeom>
          <a:noFill/>
          <a:ln/>
        </p:spPr>
        <p:txBody>
          <a:bodyPr wrap="square" lIns="0" tIns="0" rIns="0" bIns="0" rtlCol="0" anchor="ctr"/>
          <a:lstStyle/>
          <a:p>
            <a:pPr algn="ctr" indent="0" marL="0">
              <a:lnSpc>
                <a:spcPct val="110000"/>
              </a:lnSpc>
              <a:buNone/>
            </a:pPr>
            <a:r>
              <a:rPr lang="en-US" sz="2000" b="1" dirty="0">
                <a:solidFill>
                  <a:schemeClr val="bg1"/>
                </a:solidFill>
              </a:rPr>
              <a:t>B</a:t>
            </a:r>
            <a:endParaRPr lang="en-US" sz="2000" dirty="0"/>
          </a:p>
        </p:txBody>
      </p:sp>
      <p:sp>
        <p:nvSpPr>
          <p:cNvPr id="23" name="Text 19"/>
          <p:cNvSpPr txBox="1"/>
          <p:nvPr/>
        </p:nvSpPr>
        <p:spPr>
          <a:xfrm>
            <a:off x="8997696" y="1920240"/>
            <a:ext cx="2505456" cy="320040"/>
          </a:xfrm>
          <a:prstGeom prst="rect">
            <a:avLst/>
          </a:prstGeom>
          <a:noFill/>
          <a:ln/>
        </p:spPr>
        <p:txBody>
          <a:bodyPr wrap="square" lIns="0" tIns="0" rIns="0" bIns="0" rtlCol="0" anchor="t"/>
          <a:lstStyle/>
          <a:p>
            <a:pPr algn="l" indent="0" marL="0">
              <a:lnSpc>
                <a:spcPct val="110000"/>
              </a:lnSpc>
              <a:buNone/>
            </a:pPr>
            <a:r>
              <a:rPr lang="en-US" sz="1500" b="1" dirty="0">
                <a:solidFill>
                  <a:schemeClr val="tx1"/>
                </a:solidFill>
              </a:rPr>
              <a:t>표면 거칠기</a:t>
            </a:r>
            <a:endParaRPr lang="en-US" sz="1500" dirty="0"/>
          </a:p>
        </p:txBody>
      </p:sp>
      <p:sp>
        <p:nvSpPr>
          <p:cNvPr id="24" name="Text 20"/>
          <p:cNvSpPr txBox="1"/>
          <p:nvPr/>
        </p:nvSpPr>
        <p:spPr>
          <a:xfrm>
            <a:off x="8997696" y="2240280"/>
            <a:ext cx="2505456" cy="274320"/>
          </a:xfrm>
          <a:prstGeom prst="rect">
            <a:avLst/>
          </a:prstGeom>
          <a:noFill/>
          <a:ln/>
        </p:spPr>
        <p:txBody>
          <a:bodyPr wrap="square" lIns="0" tIns="0" rIns="0" bIns="0" rtlCol="0" anchor="t"/>
          <a:lstStyle/>
          <a:p>
            <a:pPr algn="l" indent="0" marL="0">
              <a:lnSpc>
                <a:spcPct val="110000"/>
              </a:lnSpc>
              <a:buNone/>
            </a:pPr>
            <a:r>
              <a:rPr lang="en-US" sz="1200" dirty="0">
                <a:solidFill>
                  <a:schemeClr val="accent3"/>
                </a:solidFill>
              </a:rPr>
              <a:t>가중 0.2</a:t>
            </a:r>
            <a:endParaRPr lang="en-US" sz="1200" dirty="0"/>
          </a:p>
        </p:txBody>
      </p:sp>
      <p:sp>
        <p:nvSpPr>
          <p:cNvPr id="25" name="Text 21"/>
          <p:cNvSpPr txBox="1"/>
          <p:nvPr/>
        </p:nvSpPr>
        <p:spPr>
          <a:xfrm>
            <a:off x="8311896" y="2651760"/>
            <a:ext cx="3145536" cy="96012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7×7 국소분산</a:t>
            </a:r>
            <a:endParaRPr lang="en-US" sz="1200" dirty="0"/>
          </a:p>
          <a:p>
            <a:pPr algn="l" indent="0" marL="0">
              <a:lnSpc>
                <a:spcPct val="110000"/>
              </a:lnSpc>
              <a:buNone/>
            </a:pPr>
            <a:r>
              <a:rPr lang="en-US" sz="1200" dirty="0">
                <a:solidFill>
                  <a:schemeClr val="tx1"/>
                </a:solidFill>
              </a:rPr>
              <a:t>(Smooth는 × 0.5)</a:t>
            </a:r>
            <a:endParaRPr lang="en-US" sz="1200" dirty="0"/>
          </a:p>
        </p:txBody>
      </p:sp>
      <p:sp>
        <p:nvSpPr>
          <p:cNvPr id="26" name="Text 22"/>
          <p:cNvSpPr txBox="1"/>
          <p:nvPr/>
        </p:nvSpPr>
        <p:spPr>
          <a:xfrm>
            <a:off x="548640" y="3931920"/>
            <a:ext cx="4572000" cy="32004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식 (6). 문맥 프롬프트</a:t>
            </a:r>
            <a:endParaRPr lang="en-US" sz="1500" dirty="0"/>
          </a:p>
        </p:txBody>
      </p:sp>
      <p:sp>
        <p:nvSpPr>
          <p:cNvPr id="27" name="Shape 23"/>
          <p:cNvSpPr/>
          <p:nvPr/>
        </p:nvSpPr>
        <p:spPr>
          <a:xfrm>
            <a:off x="548640" y="4343400"/>
            <a:ext cx="731520" cy="502920"/>
          </a:xfrm>
          <a:prstGeom prst="roundRect">
            <a:avLst>
              <a:gd name="adj" fmla="val 21818"/>
            </a:avLst>
          </a:prstGeom>
          <a:solidFill>
            <a:schemeClr val="accent1"/>
          </a:solidFill>
          <a:ln/>
        </p:spPr>
      </p:sp>
      <p:sp>
        <p:nvSpPr>
          <p:cNvPr id="28" name="Text 24"/>
          <p:cNvSpPr txBox="1"/>
          <p:nvPr/>
        </p:nvSpPr>
        <p:spPr>
          <a:xfrm>
            <a:off x="548640" y="4343400"/>
            <a:ext cx="731520" cy="502920"/>
          </a:xfrm>
          <a:prstGeom prst="rect">
            <a:avLst/>
          </a:prstGeom>
          <a:noFill/>
          <a:ln/>
        </p:spPr>
        <p:txBody>
          <a:bodyPr wrap="square" lIns="0" tIns="0" rIns="0" bIns="0" rtlCol="0" anchor="ctr"/>
          <a:lstStyle/>
          <a:p>
            <a:pPr algn="ctr" indent="0" marL="0">
              <a:lnSpc>
                <a:spcPct val="110000"/>
              </a:lnSpc>
              <a:buNone/>
            </a:pPr>
            <a:r>
              <a:rPr lang="en-US" sz="1600" b="1" dirty="0">
                <a:solidFill>
                  <a:schemeClr val="bg1"/>
                </a:solidFill>
              </a:rPr>
              <a:t>F1</a:t>
            </a:r>
            <a:endParaRPr lang="en-US" sz="1600" dirty="0"/>
          </a:p>
        </p:txBody>
      </p:sp>
      <p:sp>
        <p:nvSpPr>
          <p:cNvPr id="29" name="Text 25"/>
          <p:cNvSpPr txBox="1"/>
          <p:nvPr/>
        </p:nvSpPr>
        <p:spPr>
          <a:xfrm>
            <a:off x="1353312" y="4343400"/>
            <a:ext cx="457200" cy="502920"/>
          </a:xfrm>
          <a:prstGeom prst="rect">
            <a:avLst/>
          </a:prstGeom>
          <a:noFill/>
          <a:ln/>
        </p:spPr>
        <p:txBody>
          <a:bodyPr wrap="square" lIns="0" tIns="0" rIns="0" bIns="0" rtlCol="0" anchor="ctr"/>
          <a:lstStyle/>
          <a:p>
            <a:pPr algn="ctr" indent="0" marL="0">
              <a:lnSpc>
                <a:spcPct val="110000"/>
              </a:lnSpc>
              <a:buNone/>
            </a:pPr>
            <a:r>
              <a:rPr lang="en-US" sz="1600" b="1" dirty="0">
                <a:solidFill>
                  <a:schemeClr val="tx1"/>
                </a:solidFill>
              </a:rPr>
              <a:t>on</a:t>
            </a:r>
            <a:endParaRPr lang="en-US" sz="1600" dirty="0"/>
          </a:p>
        </p:txBody>
      </p:sp>
      <p:sp>
        <p:nvSpPr>
          <p:cNvPr id="30" name="Shape 26"/>
          <p:cNvSpPr/>
          <p:nvPr/>
        </p:nvSpPr>
        <p:spPr>
          <a:xfrm>
            <a:off x="1883664" y="4343400"/>
            <a:ext cx="731520" cy="502920"/>
          </a:xfrm>
          <a:prstGeom prst="roundRect">
            <a:avLst>
              <a:gd name="adj" fmla="val 21818"/>
            </a:avLst>
          </a:prstGeom>
          <a:solidFill>
            <a:schemeClr val="accent1"/>
          </a:solidFill>
          <a:ln/>
        </p:spPr>
      </p:sp>
      <p:sp>
        <p:nvSpPr>
          <p:cNvPr id="31" name="Text 27"/>
          <p:cNvSpPr txBox="1"/>
          <p:nvPr/>
        </p:nvSpPr>
        <p:spPr>
          <a:xfrm>
            <a:off x="1883664" y="4343400"/>
            <a:ext cx="731520" cy="502920"/>
          </a:xfrm>
          <a:prstGeom prst="rect">
            <a:avLst/>
          </a:prstGeom>
          <a:noFill/>
          <a:ln/>
        </p:spPr>
        <p:txBody>
          <a:bodyPr wrap="square" lIns="0" tIns="0" rIns="0" bIns="0" rtlCol="0" anchor="ctr"/>
          <a:lstStyle/>
          <a:p>
            <a:pPr algn="ctr" indent="0" marL="0">
              <a:lnSpc>
                <a:spcPct val="110000"/>
              </a:lnSpc>
              <a:buNone/>
            </a:pPr>
            <a:r>
              <a:rPr lang="en-US" sz="1600" b="1" dirty="0">
                <a:solidFill>
                  <a:schemeClr val="bg1"/>
                </a:solidFill>
              </a:rPr>
              <a:t>F2</a:t>
            </a:r>
            <a:endParaRPr lang="en-US" sz="1600" dirty="0"/>
          </a:p>
        </p:txBody>
      </p:sp>
      <p:sp>
        <p:nvSpPr>
          <p:cNvPr id="32" name="Text 28"/>
          <p:cNvSpPr txBox="1"/>
          <p:nvPr/>
        </p:nvSpPr>
        <p:spPr>
          <a:xfrm>
            <a:off x="2688336" y="4343400"/>
            <a:ext cx="640080" cy="502920"/>
          </a:xfrm>
          <a:prstGeom prst="rect">
            <a:avLst/>
          </a:prstGeom>
          <a:noFill/>
          <a:ln/>
        </p:spPr>
        <p:txBody>
          <a:bodyPr wrap="square" lIns="0" tIns="0" rIns="0" bIns="0" rtlCol="0" anchor="ctr"/>
          <a:lstStyle/>
          <a:p>
            <a:pPr algn="ctr" indent="0" marL="0">
              <a:lnSpc>
                <a:spcPct val="110000"/>
              </a:lnSpc>
              <a:buNone/>
            </a:pPr>
            <a:r>
              <a:rPr lang="en-US" sz="1600" b="1" dirty="0">
                <a:solidFill>
                  <a:schemeClr val="tx1"/>
                </a:solidFill>
              </a:rPr>
              <a:t>with</a:t>
            </a:r>
            <a:endParaRPr lang="en-US" sz="1600" dirty="0"/>
          </a:p>
        </p:txBody>
      </p:sp>
      <p:sp>
        <p:nvSpPr>
          <p:cNvPr id="33" name="Shape 29"/>
          <p:cNvSpPr/>
          <p:nvPr/>
        </p:nvSpPr>
        <p:spPr>
          <a:xfrm>
            <a:off x="3401568" y="4343400"/>
            <a:ext cx="731520" cy="502920"/>
          </a:xfrm>
          <a:prstGeom prst="roundRect">
            <a:avLst>
              <a:gd name="adj" fmla="val 21818"/>
            </a:avLst>
          </a:prstGeom>
          <a:solidFill>
            <a:schemeClr val="accent1"/>
          </a:solidFill>
          <a:ln/>
        </p:spPr>
      </p:sp>
      <p:sp>
        <p:nvSpPr>
          <p:cNvPr id="34" name="Text 30"/>
          <p:cNvSpPr txBox="1"/>
          <p:nvPr/>
        </p:nvSpPr>
        <p:spPr>
          <a:xfrm>
            <a:off x="3401568" y="4343400"/>
            <a:ext cx="731520" cy="502920"/>
          </a:xfrm>
          <a:prstGeom prst="rect">
            <a:avLst/>
          </a:prstGeom>
          <a:noFill/>
          <a:ln/>
        </p:spPr>
        <p:txBody>
          <a:bodyPr wrap="square" lIns="0" tIns="0" rIns="0" bIns="0" rtlCol="0" anchor="ctr"/>
          <a:lstStyle/>
          <a:p>
            <a:pPr algn="ctr" indent="0" marL="0">
              <a:lnSpc>
                <a:spcPct val="110000"/>
              </a:lnSpc>
              <a:buNone/>
            </a:pPr>
            <a:r>
              <a:rPr lang="en-US" sz="1600" b="1" dirty="0">
                <a:solidFill>
                  <a:schemeClr val="bg1"/>
                </a:solidFill>
              </a:rPr>
              <a:t>F3</a:t>
            </a:r>
            <a:endParaRPr lang="en-US" sz="1600" dirty="0"/>
          </a:p>
        </p:txBody>
      </p:sp>
      <p:sp>
        <p:nvSpPr>
          <p:cNvPr id="35" name="Shape 31"/>
          <p:cNvSpPr/>
          <p:nvPr/>
        </p:nvSpPr>
        <p:spPr>
          <a:xfrm>
            <a:off x="4206240" y="4343400"/>
            <a:ext cx="868680" cy="502920"/>
          </a:xfrm>
          <a:prstGeom prst="roundRect">
            <a:avLst>
              <a:gd name="adj" fmla="val 21818"/>
            </a:avLst>
          </a:prstGeom>
          <a:solidFill>
            <a:schemeClr val="accent1"/>
          </a:solidFill>
          <a:ln/>
        </p:spPr>
      </p:sp>
      <p:sp>
        <p:nvSpPr>
          <p:cNvPr id="36" name="Text 32"/>
          <p:cNvSpPr txBox="1"/>
          <p:nvPr/>
        </p:nvSpPr>
        <p:spPr>
          <a:xfrm>
            <a:off x="4206240" y="4343400"/>
            <a:ext cx="868680" cy="502920"/>
          </a:xfrm>
          <a:prstGeom prst="rect">
            <a:avLst/>
          </a:prstGeom>
          <a:noFill/>
          <a:ln/>
        </p:spPr>
        <p:txBody>
          <a:bodyPr wrap="square" lIns="0" tIns="0" rIns="0" bIns="0" rtlCol="0" anchor="ctr"/>
          <a:lstStyle/>
          <a:p>
            <a:pPr algn="ctr" indent="0" marL="0">
              <a:lnSpc>
                <a:spcPct val="110000"/>
              </a:lnSpc>
              <a:buNone/>
            </a:pPr>
            <a:r>
              <a:rPr lang="en-US" sz="1600" b="1" dirty="0">
                <a:solidFill>
                  <a:schemeClr val="bg1"/>
                </a:solidFill>
              </a:rPr>
              <a:t>(F4),</a:t>
            </a:r>
            <a:endParaRPr lang="en-US" sz="1600" dirty="0"/>
          </a:p>
        </p:txBody>
      </p:sp>
      <p:sp>
        <p:nvSpPr>
          <p:cNvPr id="37" name="Text 33"/>
          <p:cNvSpPr txBox="1"/>
          <p:nvPr/>
        </p:nvSpPr>
        <p:spPr>
          <a:xfrm>
            <a:off x="5148072" y="4343400"/>
            <a:ext cx="1051560" cy="502920"/>
          </a:xfrm>
          <a:prstGeom prst="rect">
            <a:avLst/>
          </a:prstGeom>
          <a:noFill/>
          <a:ln/>
        </p:spPr>
        <p:txBody>
          <a:bodyPr wrap="square" lIns="0" tIns="0" rIns="0" bIns="0" rtlCol="0" anchor="ctr"/>
          <a:lstStyle/>
          <a:p>
            <a:pPr algn="ctr" indent="0" marL="0">
              <a:lnSpc>
                <a:spcPct val="110000"/>
              </a:lnSpc>
              <a:buNone/>
            </a:pPr>
            <a:r>
              <a:rPr lang="en-US" sz="1600" b="1" dirty="0">
                <a:solidFill>
                  <a:schemeClr val="tx1"/>
                </a:solidFill>
              </a:rPr>
              <a:t>Class N</a:t>
            </a:r>
            <a:endParaRPr lang="en-US" sz="1600" dirty="0"/>
          </a:p>
        </p:txBody>
      </p:sp>
      <p:sp>
        <p:nvSpPr>
          <p:cNvPr id="38" name="Text 34"/>
          <p:cNvSpPr txBox="1"/>
          <p:nvPr/>
        </p:nvSpPr>
        <p:spPr>
          <a:xfrm>
            <a:off x="548640" y="4983480"/>
            <a:ext cx="457200" cy="274320"/>
          </a:xfrm>
          <a:prstGeom prst="rect">
            <a:avLst/>
          </a:prstGeom>
          <a:noFill/>
          <a:ln/>
        </p:spPr>
        <p:txBody>
          <a:bodyPr wrap="square" lIns="0" tIns="0" rIns="0" bIns="0" rtlCol="0" anchor="t"/>
          <a:lstStyle/>
          <a:p>
            <a:pPr algn="l" indent="0" marL="0">
              <a:lnSpc>
                <a:spcPct val="110000"/>
              </a:lnSpc>
              <a:buNone/>
            </a:pPr>
            <a:r>
              <a:rPr lang="en-US" sz="1200" b="1" dirty="0">
                <a:solidFill>
                  <a:schemeClr val="accent1"/>
                </a:solidFill>
              </a:rPr>
              <a:t>F1</a:t>
            </a:r>
            <a:endParaRPr lang="en-US" sz="1200" dirty="0"/>
          </a:p>
        </p:txBody>
      </p:sp>
      <p:sp>
        <p:nvSpPr>
          <p:cNvPr id="39" name="Text 35"/>
          <p:cNvSpPr txBox="1"/>
          <p:nvPr/>
        </p:nvSpPr>
        <p:spPr>
          <a:xfrm>
            <a:off x="1005840" y="4983480"/>
            <a:ext cx="5943600" cy="27432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결함유형</a:t>
            </a:r>
            <a:endParaRPr lang="en-US" sz="1200" dirty="0"/>
          </a:p>
        </p:txBody>
      </p:sp>
      <p:sp>
        <p:nvSpPr>
          <p:cNvPr id="40" name="Text 36"/>
          <p:cNvSpPr txBox="1"/>
          <p:nvPr/>
        </p:nvSpPr>
        <p:spPr>
          <a:xfrm>
            <a:off x="548640" y="5276088"/>
            <a:ext cx="457200" cy="274320"/>
          </a:xfrm>
          <a:prstGeom prst="rect">
            <a:avLst/>
          </a:prstGeom>
          <a:noFill/>
          <a:ln/>
        </p:spPr>
        <p:txBody>
          <a:bodyPr wrap="square" lIns="0" tIns="0" rIns="0" bIns="0" rtlCol="0" anchor="t"/>
          <a:lstStyle/>
          <a:p>
            <a:pPr algn="l" indent="0" marL="0">
              <a:lnSpc>
                <a:spcPct val="110000"/>
              </a:lnSpc>
              <a:buNone/>
            </a:pPr>
            <a:r>
              <a:rPr lang="en-US" sz="1200" b="1" dirty="0">
                <a:solidFill>
                  <a:schemeClr val="accent1"/>
                </a:solidFill>
              </a:rPr>
              <a:t>F2</a:t>
            </a:r>
            <a:endParaRPr lang="en-US" sz="1200" dirty="0"/>
          </a:p>
        </p:txBody>
      </p:sp>
      <p:sp>
        <p:nvSpPr>
          <p:cNvPr id="41" name="Text 37"/>
          <p:cNvSpPr txBox="1"/>
          <p:nvPr/>
        </p:nvSpPr>
        <p:spPr>
          <a:xfrm>
            <a:off x="1005840" y="5276088"/>
            <a:ext cx="5943600" cy="27432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배경표면</a:t>
            </a:r>
            <a:endParaRPr lang="en-US" sz="1200" dirty="0"/>
          </a:p>
        </p:txBody>
      </p:sp>
      <p:sp>
        <p:nvSpPr>
          <p:cNvPr id="42" name="Text 38"/>
          <p:cNvSpPr txBox="1"/>
          <p:nvPr/>
        </p:nvSpPr>
        <p:spPr>
          <a:xfrm>
            <a:off x="548640" y="5568696"/>
            <a:ext cx="457200" cy="274320"/>
          </a:xfrm>
          <a:prstGeom prst="rect">
            <a:avLst/>
          </a:prstGeom>
          <a:noFill/>
          <a:ln/>
        </p:spPr>
        <p:txBody>
          <a:bodyPr wrap="square" lIns="0" tIns="0" rIns="0" bIns="0" rtlCol="0" anchor="t"/>
          <a:lstStyle/>
          <a:p>
            <a:pPr algn="l" indent="0" marL="0">
              <a:lnSpc>
                <a:spcPct val="110000"/>
              </a:lnSpc>
              <a:buNone/>
            </a:pPr>
            <a:r>
              <a:rPr lang="en-US" sz="1200" b="1" dirty="0">
                <a:solidFill>
                  <a:schemeClr val="accent1"/>
                </a:solidFill>
              </a:rPr>
              <a:t>F3</a:t>
            </a:r>
            <a:endParaRPr lang="en-US" sz="1200" dirty="0"/>
          </a:p>
        </p:txBody>
      </p:sp>
      <p:sp>
        <p:nvSpPr>
          <p:cNvPr id="43" name="Text 39"/>
          <p:cNvSpPr txBox="1"/>
          <p:nvPr/>
        </p:nvSpPr>
        <p:spPr>
          <a:xfrm>
            <a:off x="1005840" y="5568696"/>
            <a:ext cx="5943600" cy="27432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방향성 텍스처</a:t>
            </a:r>
            <a:endParaRPr lang="en-US" sz="1200" dirty="0"/>
          </a:p>
        </p:txBody>
      </p:sp>
      <p:sp>
        <p:nvSpPr>
          <p:cNvPr id="44" name="Text 40"/>
          <p:cNvSpPr txBox="1"/>
          <p:nvPr/>
        </p:nvSpPr>
        <p:spPr>
          <a:xfrm>
            <a:off x="548640" y="5861304"/>
            <a:ext cx="457200" cy="274320"/>
          </a:xfrm>
          <a:prstGeom prst="rect">
            <a:avLst/>
          </a:prstGeom>
          <a:noFill/>
          <a:ln/>
        </p:spPr>
        <p:txBody>
          <a:bodyPr wrap="square" lIns="0" tIns="0" rIns="0" bIns="0" rtlCol="0" anchor="t"/>
          <a:lstStyle/>
          <a:p>
            <a:pPr algn="l" indent="0" marL="0">
              <a:lnSpc>
                <a:spcPct val="110000"/>
              </a:lnSpc>
              <a:buNone/>
            </a:pPr>
            <a:r>
              <a:rPr lang="en-US" sz="1200" b="1" dirty="0">
                <a:solidFill>
                  <a:schemeClr val="accent1"/>
                </a:solidFill>
              </a:rPr>
              <a:t>F4</a:t>
            </a:r>
            <a:endParaRPr lang="en-US" sz="1200" dirty="0"/>
          </a:p>
        </p:txBody>
      </p:sp>
      <p:sp>
        <p:nvSpPr>
          <p:cNvPr id="45" name="Text 41"/>
          <p:cNvSpPr txBox="1"/>
          <p:nvPr/>
        </p:nvSpPr>
        <p:spPr>
          <a:xfrm>
            <a:off x="1005840" y="5861304"/>
            <a:ext cx="5943600" cy="274320"/>
          </a:xfrm>
          <a:prstGeom prst="rect">
            <a:avLst/>
          </a:prstGeom>
          <a:noFill/>
          <a:ln/>
        </p:spPr>
        <p:txBody>
          <a:bodyPr wrap="square" lIns="0" tIns="0" rIns="0" bIns="0" rtlCol="0" anchor="t"/>
          <a:lstStyle/>
          <a:p>
            <a:pPr algn="l" indent="0" marL="0">
              <a:lnSpc>
                <a:spcPct val="110000"/>
              </a:lnSpc>
              <a:buNone/>
            </a:pPr>
            <a:r>
              <a:rPr lang="en-US" sz="1200" dirty="0">
                <a:solidFill>
                  <a:schemeClr val="tx1"/>
                </a:solidFill>
              </a:rPr>
              <a:t>안정성 s: pristine ≥ 0.8 · standard 0.5~0.8 · worn &lt; 0.5</a:t>
            </a:r>
            <a:endParaRPr lang="en-US" sz="1200" dirty="0"/>
          </a:p>
        </p:txBody>
      </p:sp>
      <p:sp>
        <p:nvSpPr>
          <p:cNvPr id="46" name="Shape 42"/>
          <p:cNvSpPr/>
          <p:nvPr/>
        </p:nvSpPr>
        <p:spPr>
          <a:xfrm>
            <a:off x="7315200" y="3931920"/>
            <a:ext cx="4325112" cy="2240280"/>
          </a:xfrm>
          <a:prstGeom prst="roundRect">
            <a:avLst>
              <a:gd name="adj" fmla="val 3265"/>
            </a:avLst>
          </a:prstGeom>
          <a:solidFill>
            <a:schemeClr val="tx2"/>
          </a:solidFill>
          <a:ln/>
        </p:spPr>
      </p:sp>
      <p:sp>
        <p:nvSpPr>
          <p:cNvPr id="47" name="Text 43"/>
          <p:cNvSpPr txBox="1"/>
          <p:nvPr/>
        </p:nvSpPr>
        <p:spPr>
          <a:xfrm>
            <a:off x="7543800" y="4069080"/>
            <a:ext cx="3931920" cy="320040"/>
          </a:xfrm>
          <a:prstGeom prst="rect">
            <a:avLst/>
          </a:prstGeom>
          <a:noFill/>
          <a:ln/>
        </p:spPr>
        <p:txBody>
          <a:bodyPr wrap="square" lIns="0" tIns="0" rIns="0" bIns="0" rtlCol="0" anchor="t"/>
          <a:lstStyle/>
          <a:p>
            <a:pPr algn="l" indent="0" marL="0">
              <a:lnSpc>
                <a:spcPct val="110000"/>
              </a:lnSpc>
              <a:buNone/>
            </a:pPr>
            <a:r>
              <a:rPr lang="en-US" sz="1400" b="1" dirty="0">
                <a:solidFill>
                  <a:schemeClr val="accent4"/>
                </a:solidFill>
              </a:rPr>
              <a:t>ControlNet에 주는 두 신호</a:t>
            </a:r>
            <a:endParaRPr lang="en-US" sz="1400" dirty="0"/>
          </a:p>
        </p:txBody>
      </p:sp>
      <p:sp>
        <p:nvSpPr>
          <p:cNvPr id="48" name="Text 44"/>
          <p:cNvSpPr txBox="1"/>
          <p:nvPr/>
        </p:nvSpPr>
        <p:spPr>
          <a:xfrm>
            <a:off x="7543800" y="4526280"/>
            <a:ext cx="3931920" cy="155448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en-US" sz="1300" dirty="0">
                <a:solidFill>
                  <a:schemeClr val="bg1"/>
                </a:solidFill>
              </a:rPr>
              <a:t>힌트 = 어떤 모양을 어디에</a:t>
            </a:r>
            <a:endParaRPr lang="en-US" sz="1300" dirty="0"/>
          </a:p>
          <a:p>
            <a:pPr marL="203200" indent="-203200">
              <a:lnSpc>
                <a:spcPct val="110000"/>
              </a:lnSpc>
              <a:spcAft>
                <a:spcPts val="800"/>
              </a:spcAft>
              <a:buSzPct val="100000"/>
              <a:buChar char="•"/>
            </a:pPr>
            <a:r>
              <a:rPr lang="en-US" sz="1300" dirty="0">
                <a:solidFill>
                  <a:schemeClr val="bg1"/>
                </a:solidFill>
              </a:rPr>
              <a:t>프롬프트 = 어떤 표면 위의 무슨 결함</a:t>
            </a:r>
            <a:endParaRPr lang="en-US" sz="1300" dirty="0"/>
          </a:p>
          <a:p>
            <a:pPr marL="203200" indent="-203200">
              <a:lnSpc>
                <a:spcPct val="110000"/>
              </a:lnSpc>
              <a:spcAft>
                <a:spcPts val="800"/>
              </a:spcAft>
              <a:buSzPct val="100000"/>
              <a:buChar char="•"/>
            </a:pPr>
            <a:r>
              <a:rPr lang="en-US" sz="1300" dirty="0">
                <a:solidFill>
                  <a:schemeClr val="accent4"/>
                </a:solidFill>
              </a:rPr>
              <a:t>생성 후 Poisson blending (8px 팽창)</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제6장 · 수식 상세 ④ 생성·품질</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품질 게이트와 경계 자연스러움 (BGD)</a:t>
            </a:r>
            <a:endParaRPr lang="en-US" sz="2400" dirty="0"/>
          </a:p>
        </p:txBody>
      </p:sp>
      <p:sp>
        <p:nvSpPr>
          <p:cNvPr id="5" name="Text 2"/>
          <p:cNvSpPr txBox="1"/>
          <p:nvPr/>
        </p:nvSpPr>
        <p:spPr>
          <a:xfrm>
            <a:off x="548640" y="1188720"/>
            <a:ext cx="6400800" cy="32004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표 7. 품질 게이트 성분</a:t>
            </a:r>
            <a:endParaRPr lang="en-US" sz="1500" dirty="0"/>
          </a:p>
        </p:txBody>
      </p:sp>
      <p:sp>
        <p:nvSpPr>
          <p:cNvPr id="6" name="Shape 3"/>
          <p:cNvSpPr/>
          <p:nvPr/>
        </p:nvSpPr>
        <p:spPr>
          <a:xfrm>
            <a:off x="548640" y="1572768"/>
            <a:ext cx="6400800" cy="640080"/>
          </a:xfrm>
          <a:prstGeom prst="roundRect">
            <a:avLst>
              <a:gd name="adj" fmla="val 11429"/>
            </a:avLst>
          </a:prstGeom>
          <a:solidFill>
            <a:schemeClr val="bg2"/>
          </a:solidFill>
          <a:ln/>
        </p:spPr>
      </p:sp>
      <p:pic>
        <p:nvPicPr>
          <p:cNvPr id="7" name="Image 0" descr="Q">    </p:cNvPr>
          <p:cNvPicPr>
            <a:picLocks noChangeAspect="1"/>
          </p:cNvPicPr>
          <p:nvPr/>
        </p:nvPicPr>
        <p:blipFill>
          <a:blip r:embed="rId1"/>
          <a:stretch>
            <a:fillRect/>
          </a:stretch>
        </p:blipFill>
        <p:spPr>
          <a:xfrm>
            <a:off x="1503274" y="1771193"/>
            <a:ext cx="4491533" cy="243230"/>
          </a:xfrm>
          <a:prstGeom prst="rect">
            <a:avLst/>
          </a:prstGeom>
        </p:spPr>
      </p:pic>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6400800" cy="914400"/>
        </p:xfrm>
        <a:graphic>
          <a:graphicData uri="http://schemas.openxmlformats.org/drawingml/2006/table">
            <a:tbl>
              <a:tblPr/>
              <a:tblGrid>
                <a:gridCol w="1143000"/>
                <a:gridCol w="640080"/>
                <a:gridCol w="1234440"/>
                <a:gridCol w="3383280"/>
              </a:tblGrid>
              <a:tr h="502920">
                <a:tc>
                  <a:txBody>
                    <a:bodyPr/>
                    <a:lstStyle/>
                    <a:p>
                      <a:pPr algn="l" indent="0" marL="0">
                        <a:buNone/>
                      </a:pPr>
                      <a:r>
                        <a:rPr lang="en-US" sz="1300" b="1" dirty="0">
                          <a:solidFill>
                            <a:schemeClr val="bg1"/>
                          </a:solidFill>
                        </a:rPr>
                        <a:t>성분</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가중</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측정 대상</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점수 기준</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r>
              <a:tr h="502920">
                <a:tc>
                  <a:txBody>
                    <a:bodyPr/>
                    <a:lstStyle/>
                    <a:p>
                      <a:pPr algn="l" indent="0" marL="0">
                        <a:buNone/>
                      </a:pPr>
                      <a:r>
                        <a:rPr lang="en-US" sz="1300" b="1" dirty="0">
                          <a:solidFill>
                            <a:schemeClr val="tx1"/>
                          </a:solidFill>
                        </a:rPr>
                        <a:t>Q_morph</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0.3</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형태 일치</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유형 일치 1.0 / general 0.7 / 불일치 0.3</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r>
              <a:tr h="502920">
                <a:tc>
                  <a:txBody>
                    <a:bodyPr/>
                    <a:lstStyle/>
                    <a:p>
                      <a:pPr algn="l" indent="0" marL="0">
                        <a:buNone/>
                      </a:pPr>
                      <a:r>
                        <a:rPr lang="en-US" sz="1300" b="1" dirty="0">
                          <a:solidFill>
                            <a:schemeClr val="tx1"/>
                          </a:solidFill>
                        </a:rPr>
                        <a:t>Q_sharp</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0.3</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선명도</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Laplacian 분산 &lt; 100이면 블러</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r>
              <a:tr h="502920">
                <a:tc>
                  <a:txBody>
                    <a:bodyPr/>
                    <a:lstStyle/>
                    <a:p>
                      <a:pPr algn="l" indent="0" marL="0">
                        <a:buNone/>
                      </a:pPr>
                      <a:r>
                        <a:rPr lang="en-US" sz="1300" b="1" dirty="0">
                          <a:solidFill>
                            <a:schemeClr val="tx1"/>
                          </a:solidFill>
                        </a:rPr>
                        <a:t>Q_artifact</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0.2</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노이즈</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없음 1.0 / 10% 초과 0.0</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r>
              <a:tr h="502920">
                <a:tc>
                  <a:txBody>
                    <a:bodyPr/>
                    <a:lstStyle/>
                    <a:p>
                      <a:pPr algn="l" indent="0" marL="0">
                        <a:buNone/>
                      </a:pPr>
                      <a:r>
                        <a:rPr lang="en-US" sz="1300" b="1" dirty="0">
                          <a:solidFill>
                            <a:schemeClr val="tx1"/>
                          </a:solidFill>
                        </a:rPr>
                        <a:t>Q_area</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0.2</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면적 적정성</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0.1~30% 1.0 / 그 외 0.5</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r>
            </a:tbl>
          </a:graphicData>
        </a:graphic>
      </p:graphicFrame>
      <p:sp>
        <p:nvSpPr>
          <p:cNvPr id="9" name="Shape 4"/>
          <p:cNvSpPr/>
          <p:nvPr/>
        </p:nvSpPr>
        <p:spPr>
          <a:xfrm>
            <a:off x="548640" y="5166360"/>
            <a:ext cx="6400800" cy="960120"/>
          </a:xfrm>
          <a:prstGeom prst="roundRect">
            <a:avLst>
              <a:gd name="adj" fmla="val 7619"/>
            </a:avLst>
          </a:prstGeom>
          <a:solidFill>
            <a:schemeClr val="accent1"/>
          </a:solidFill>
          <a:ln/>
        </p:spPr>
      </p:sp>
      <p:sp>
        <p:nvSpPr>
          <p:cNvPr id="10" name="Text 5"/>
          <p:cNvSpPr txBox="1"/>
          <p:nvPr/>
        </p:nvSpPr>
        <p:spPr>
          <a:xfrm>
            <a:off x="777240" y="5166360"/>
            <a:ext cx="6035040" cy="960120"/>
          </a:xfrm>
          <a:prstGeom prst="rect">
            <a:avLst/>
          </a:prstGeom>
          <a:noFill/>
          <a:ln/>
        </p:spPr>
        <p:txBody>
          <a:bodyPr wrap="square" lIns="0" tIns="0" rIns="0" bIns="0" rtlCol="0" anchor="ctr"/>
          <a:lstStyle/>
          <a:p>
            <a:pPr algn="l" indent="0" marL="0">
              <a:lnSpc>
                <a:spcPct val="110000"/>
              </a:lnSpc>
              <a:buNone/>
            </a:pPr>
            <a:r>
              <a:rPr lang="en-US" sz="1800" b="1" dirty="0">
                <a:solidFill>
                  <a:schemeClr val="bg1"/>
                </a:solidFill>
              </a:rPr>
              <a:t>Q ≥ 0.7 → 2,500 중 2,075 통과 (83.0%)</a:t>
            </a:r>
            <a:endParaRPr lang="en-US" sz="1800" dirty="0"/>
          </a:p>
        </p:txBody>
      </p:sp>
      <p:sp>
        <p:nvSpPr>
          <p:cNvPr id="11" name="Text 6"/>
          <p:cNvSpPr txBox="1"/>
          <p:nvPr/>
        </p:nvSpPr>
        <p:spPr>
          <a:xfrm>
            <a:off x="7269480" y="1188720"/>
            <a:ext cx="4389120" cy="32004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§4.3 BGD — 경계 기울기 불연속</a:t>
            </a:r>
            <a:endParaRPr lang="en-US" sz="1500" dirty="0"/>
          </a:p>
        </p:txBody>
      </p:sp>
      <p:sp>
        <p:nvSpPr>
          <p:cNvPr id="12" name="Shape 7"/>
          <p:cNvSpPr/>
          <p:nvPr/>
        </p:nvSpPr>
        <p:spPr>
          <a:xfrm>
            <a:off x="7269480" y="1572768"/>
            <a:ext cx="4370832" cy="1143000"/>
          </a:xfrm>
          <a:prstGeom prst="roundRect">
            <a:avLst>
              <a:gd name="adj" fmla="val 6400"/>
            </a:avLst>
          </a:prstGeom>
          <a:solidFill>
            <a:schemeClr val="bg2"/>
          </a:solidFill>
          <a:ln/>
        </p:spPr>
      </p:sp>
      <p:pic>
        <p:nvPicPr>
          <p:cNvPr id="13" name="Image 1" descr="bgd">    </p:cNvPr>
          <p:cNvPicPr>
            <a:picLocks noChangeAspect="1"/>
          </p:cNvPicPr>
          <p:nvPr/>
        </p:nvPicPr>
        <p:blipFill>
          <a:blip r:embed="rId2"/>
          <a:stretch>
            <a:fillRect/>
          </a:stretch>
        </p:blipFill>
        <p:spPr>
          <a:xfrm>
            <a:off x="8505749" y="1729130"/>
            <a:ext cx="1916582" cy="254203"/>
          </a:xfrm>
          <a:prstGeom prst="rect">
            <a:avLst/>
          </a:prstGeom>
        </p:spPr>
      </p:pic>
      <p:pic>
        <p:nvPicPr>
          <p:cNvPr id="14" name="Image 2" descr="bgdB">    </p:cNvPr>
          <p:cNvPicPr>
            <a:picLocks noChangeAspect="1"/>
          </p:cNvPicPr>
          <p:nvPr/>
        </p:nvPicPr>
        <p:blipFill>
          <a:blip r:embed="rId3"/>
          <a:stretch>
            <a:fillRect/>
          </a:stretch>
        </p:blipFill>
        <p:spPr>
          <a:xfrm>
            <a:off x="8252643" y="2269632"/>
            <a:ext cx="2422794" cy="215616"/>
          </a:xfrm>
          <a:prstGeom prst="rect">
            <a:avLst/>
          </a:prstGeom>
        </p:spPr>
      </p:pic>
      <p:sp>
        <p:nvSpPr>
          <p:cNvPr id="15" name="Text 8"/>
          <p:cNvSpPr txBox="1"/>
          <p:nvPr/>
        </p:nvSpPr>
        <p:spPr>
          <a:xfrm>
            <a:off x="7269480" y="2788920"/>
            <a:ext cx="4370832" cy="594360"/>
          </a:xfrm>
          <a:prstGeom prst="rect">
            <a:avLst/>
          </a:prstGeom>
          <a:noFill/>
          <a:ln/>
        </p:spPr>
        <p:txBody>
          <a:bodyPr wrap="square" lIns="0" tIns="0" rIns="0" bIns="0" rtlCol="0" anchor="t"/>
          <a:lstStyle/>
          <a:p>
            <a:pPr algn="l" indent="0" marL="0">
              <a:lnSpc>
                <a:spcPct val="110000"/>
              </a:lnSpc>
              <a:buNone/>
            </a:pPr>
            <a:r>
              <a:rPr lang="en-US" sz="1300" dirty="0">
                <a:solidFill>
                  <a:schemeClr val="accent3"/>
                </a:solidFill>
              </a:rPr>
              <a:t>합성 경계 띠 B의 평균 Sobel 크기 — 낮을수록 경계가 자연스럽다</a:t>
            </a:r>
            <a:endParaRPr lang="en-US" sz="1300" dirty="0"/>
          </a:p>
        </p:txBody>
      </p:sp>
      <p:sp>
        <p:nvSpPr>
          <p:cNvPr id="16" name="Shape 9"/>
          <p:cNvSpPr/>
          <p:nvPr/>
        </p:nvSpPr>
        <p:spPr>
          <a:xfrm>
            <a:off x="7269480" y="3520440"/>
            <a:ext cx="2093976" cy="1508760"/>
          </a:xfrm>
          <a:prstGeom prst="roundRect">
            <a:avLst>
              <a:gd name="adj" fmla="val 4848"/>
            </a:avLst>
          </a:prstGeom>
          <a:solidFill>
            <a:schemeClr val="bg2"/>
          </a:solidFill>
          <a:ln/>
        </p:spPr>
      </p:sp>
      <p:sp>
        <p:nvSpPr>
          <p:cNvPr id="17" name="Text 10"/>
          <p:cNvSpPr txBox="1"/>
          <p:nvPr/>
        </p:nvSpPr>
        <p:spPr>
          <a:xfrm>
            <a:off x="7452360" y="3657600"/>
            <a:ext cx="1728216" cy="829818"/>
          </a:xfrm>
          <a:prstGeom prst="rect">
            <a:avLst/>
          </a:prstGeom>
          <a:noFill/>
          <a:ln/>
        </p:spPr>
        <p:txBody>
          <a:bodyPr wrap="square" lIns="0" tIns="0" rIns="0" bIns="0" rtlCol="0" anchor="ctr"/>
          <a:lstStyle/>
          <a:p>
            <a:pPr algn="l" indent="0" marL="0">
              <a:lnSpc>
                <a:spcPct val="110000"/>
              </a:lnSpc>
              <a:buNone/>
            </a:pPr>
            <a:r>
              <a:rPr lang="en-US" sz="3400" b="1" dirty="0">
                <a:solidFill>
                  <a:schemeClr val="accent1"/>
                </a:solidFill>
              </a:rPr>
              <a:t>49.6</a:t>
            </a:r>
            <a:endParaRPr lang="en-US" sz="3400" dirty="0"/>
          </a:p>
        </p:txBody>
      </p:sp>
      <p:sp>
        <p:nvSpPr>
          <p:cNvPr id="18" name="Text 11"/>
          <p:cNvSpPr txBox="1"/>
          <p:nvPr/>
        </p:nvSpPr>
        <p:spPr>
          <a:xfrm>
            <a:off x="7452360" y="4455871"/>
            <a:ext cx="1728216" cy="512978"/>
          </a:xfrm>
          <a:prstGeom prst="rect">
            <a:avLst/>
          </a:prstGeom>
          <a:noFill/>
          <a:ln/>
        </p:spPr>
        <p:txBody>
          <a:bodyPr wrap="square" lIns="0" tIns="0" rIns="0" bIns="0" rtlCol="0" anchor="t"/>
          <a:lstStyle/>
          <a:p>
            <a:pPr algn="l" indent="0" marL="0">
              <a:lnSpc>
                <a:spcPct val="110000"/>
              </a:lnSpc>
              <a:buNone/>
            </a:pPr>
            <a:r>
              <a:rPr lang="en-US" sz="1300" dirty="0">
                <a:solidFill>
                  <a:schemeClr val="accent3"/>
                </a:solidFill>
              </a:rPr>
              <a:t>CASDA</a:t>
            </a:r>
            <a:endParaRPr lang="en-US" sz="1300" dirty="0"/>
          </a:p>
        </p:txBody>
      </p:sp>
      <p:sp>
        <p:nvSpPr>
          <p:cNvPr id="19" name="Shape 12"/>
          <p:cNvSpPr/>
          <p:nvPr/>
        </p:nvSpPr>
        <p:spPr>
          <a:xfrm>
            <a:off x="9546336" y="3520440"/>
            <a:ext cx="2093976" cy="1508760"/>
          </a:xfrm>
          <a:prstGeom prst="roundRect">
            <a:avLst>
              <a:gd name="adj" fmla="val 4848"/>
            </a:avLst>
          </a:prstGeom>
          <a:solidFill>
            <a:schemeClr val="bg2"/>
          </a:solidFill>
          <a:ln/>
        </p:spPr>
      </p:sp>
      <p:sp>
        <p:nvSpPr>
          <p:cNvPr id="20" name="Text 13"/>
          <p:cNvSpPr txBox="1"/>
          <p:nvPr/>
        </p:nvSpPr>
        <p:spPr>
          <a:xfrm>
            <a:off x="9729216" y="3657600"/>
            <a:ext cx="1728216" cy="829818"/>
          </a:xfrm>
          <a:prstGeom prst="rect">
            <a:avLst/>
          </a:prstGeom>
          <a:noFill/>
          <a:ln/>
        </p:spPr>
        <p:txBody>
          <a:bodyPr wrap="square" lIns="0" tIns="0" rIns="0" bIns="0" rtlCol="0" anchor="ctr"/>
          <a:lstStyle/>
          <a:p>
            <a:pPr algn="l" indent="0" marL="0">
              <a:lnSpc>
                <a:spcPct val="110000"/>
              </a:lnSpc>
              <a:buNone/>
            </a:pPr>
            <a:r>
              <a:rPr lang="en-US" sz="3400" b="1" dirty="0">
                <a:solidFill>
                  <a:schemeClr val="accent3"/>
                </a:solidFill>
              </a:rPr>
              <a:t>71.4</a:t>
            </a:r>
            <a:endParaRPr lang="en-US" sz="3400" dirty="0"/>
          </a:p>
        </p:txBody>
      </p:sp>
      <p:sp>
        <p:nvSpPr>
          <p:cNvPr id="21" name="Text 14"/>
          <p:cNvSpPr txBox="1"/>
          <p:nvPr/>
        </p:nvSpPr>
        <p:spPr>
          <a:xfrm>
            <a:off x="9729216" y="4455871"/>
            <a:ext cx="1728216" cy="512978"/>
          </a:xfrm>
          <a:prstGeom prst="rect">
            <a:avLst/>
          </a:prstGeom>
          <a:noFill/>
          <a:ln/>
        </p:spPr>
        <p:txBody>
          <a:bodyPr wrap="square" lIns="0" tIns="0" rIns="0" bIns="0" rtlCol="0" anchor="t"/>
          <a:lstStyle/>
          <a:p>
            <a:pPr algn="l" indent="0" marL="0">
              <a:lnSpc>
                <a:spcPct val="110000"/>
              </a:lnSpc>
              <a:buNone/>
            </a:pPr>
            <a:r>
              <a:rPr lang="en-US" sz="1300" dirty="0">
                <a:solidFill>
                  <a:schemeClr val="accent3"/>
                </a:solidFill>
              </a:rPr>
              <a:t>Copy-Paste</a:t>
            </a:r>
            <a:endParaRPr lang="en-US" sz="1300" dirty="0"/>
          </a:p>
        </p:txBody>
      </p:sp>
      <p:sp>
        <p:nvSpPr>
          <p:cNvPr id="22" name="Text 15"/>
          <p:cNvSpPr txBox="1"/>
          <p:nvPr/>
        </p:nvSpPr>
        <p:spPr>
          <a:xfrm>
            <a:off x="7269480" y="5257800"/>
            <a:ext cx="4370832" cy="548640"/>
          </a:xfrm>
          <a:prstGeom prst="rect">
            <a:avLst/>
          </a:prstGeom>
          <a:noFill/>
          <a:ln/>
        </p:spPr>
        <p:txBody>
          <a:bodyPr wrap="square" lIns="0" tIns="0" rIns="0" bIns="0" rtlCol="0" anchor="ctr"/>
          <a:lstStyle/>
          <a:p>
            <a:pPr algn="l" indent="0" marL="0">
              <a:lnSpc>
                <a:spcPct val="110000"/>
              </a:lnSpc>
              <a:buNone/>
            </a:pPr>
            <a:r>
              <a:rPr lang="en-US" sz="1800" b="1" dirty="0">
                <a:solidFill>
                  <a:schemeClr val="accent2"/>
                </a:solidFill>
              </a:rPr>
              <a:t>−30.5% · Cohen's d ≈ 0.87</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제6장 · 처리 흐름</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CASDA 처리 흐름 — 5단계</a:t>
            </a:r>
            <a:endParaRPr lang="en-US" sz="2400" dirty="0"/>
          </a:p>
        </p:txBody>
      </p:sp>
      <p:sp>
        <p:nvSpPr>
          <p:cNvPr id="5" name="Shape 2"/>
          <p:cNvSpPr/>
          <p:nvPr/>
        </p:nvSpPr>
        <p:spPr>
          <a:xfrm>
            <a:off x="548640" y="1280160"/>
            <a:ext cx="11091672" cy="841248"/>
          </a:xfrm>
          <a:prstGeom prst="roundRect">
            <a:avLst>
              <a:gd name="adj" fmla="val 8696"/>
            </a:avLst>
          </a:prstGeom>
          <a:solidFill>
            <a:schemeClr val="bg2"/>
          </a:solidFill>
          <a:ln/>
        </p:spPr>
      </p:sp>
      <p:sp>
        <p:nvSpPr>
          <p:cNvPr id="6" name="Shape 3"/>
          <p:cNvSpPr/>
          <p:nvPr/>
        </p:nvSpPr>
        <p:spPr>
          <a:xfrm>
            <a:off x="731520" y="1453896"/>
            <a:ext cx="502920" cy="502920"/>
          </a:xfrm>
          <a:prstGeom prst="ellipse">
            <a:avLst/>
          </a:prstGeom>
          <a:solidFill>
            <a:schemeClr val="accent1"/>
          </a:solidFill>
          <a:ln/>
        </p:spPr>
      </p:sp>
      <p:sp>
        <p:nvSpPr>
          <p:cNvPr id="7" name="Text 4"/>
          <p:cNvSpPr txBox="1"/>
          <p:nvPr/>
        </p:nvSpPr>
        <p:spPr>
          <a:xfrm>
            <a:off x="731520" y="1453896"/>
            <a:ext cx="502920" cy="502920"/>
          </a:xfrm>
          <a:prstGeom prst="rect">
            <a:avLst/>
          </a:prstGeom>
          <a:noFill/>
          <a:ln/>
        </p:spPr>
        <p:txBody>
          <a:bodyPr wrap="square" lIns="0" tIns="0" rIns="0" bIns="0" rtlCol="0" anchor="ctr"/>
          <a:lstStyle/>
          <a:p>
            <a:pPr algn="ctr" indent="0" marL="0">
              <a:lnSpc>
                <a:spcPct val="110000"/>
              </a:lnSpc>
              <a:buNone/>
            </a:pPr>
            <a:r>
              <a:rPr lang="en-US" sz="1600" b="1" dirty="0">
                <a:solidFill>
                  <a:schemeClr val="bg1"/>
                </a:solidFill>
              </a:rPr>
              <a:t>1</a:t>
            </a:r>
            <a:endParaRPr lang="en-US" sz="1600" dirty="0"/>
          </a:p>
        </p:txBody>
      </p:sp>
      <p:sp>
        <p:nvSpPr>
          <p:cNvPr id="8" name="Text 5"/>
          <p:cNvSpPr txBox="1"/>
          <p:nvPr/>
        </p:nvSpPr>
        <p:spPr>
          <a:xfrm>
            <a:off x="1463040" y="1280160"/>
            <a:ext cx="2651760" cy="841248"/>
          </a:xfrm>
          <a:prstGeom prst="rect">
            <a:avLst/>
          </a:prstGeom>
          <a:noFill/>
          <a:ln/>
        </p:spPr>
        <p:txBody>
          <a:bodyPr wrap="square" lIns="0" tIns="0" rIns="0" bIns="0" rtlCol="0" anchor="ctr"/>
          <a:lstStyle/>
          <a:p>
            <a:pPr algn="l" indent="0" marL="0">
              <a:lnSpc>
                <a:spcPct val="110000"/>
              </a:lnSpc>
              <a:buNone/>
            </a:pPr>
            <a:r>
              <a:rPr lang="en-US" sz="1600" b="1" dirty="0">
                <a:solidFill>
                  <a:schemeClr val="accent1"/>
                </a:solidFill>
              </a:rPr>
              <a:t>결함·배경 특성 분석</a:t>
            </a:r>
            <a:endParaRPr lang="en-US" sz="1600" dirty="0"/>
          </a:p>
        </p:txBody>
      </p:sp>
      <p:sp>
        <p:nvSpPr>
          <p:cNvPr id="9" name="Text 6"/>
          <p:cNvSpPr txBox="1"/>
          <p:nvPr/>
        </p:nvSpPr>
        <p:spPr>
          <a:xfrm>
            <a:off x="4114800" y="1280160"/>
            <a:ext cx="7315200" cy="841248"/>
          </a:xfrm>
          <a:prstGeom prst="rect">
            <a:avLst/>
          </a:prstGeom>
          <a:noFill/>
          <a:ln/>
        </p:spPr>
        <p:txBody>
          <a:bodyPr wrap="square" lIns="0" tIns="0" rIns="0" bIns="0" rtlCol="0" anchor="ctr"/>
          <a:lstStyle/>
          <a:p>
            <a:pPr algn="l" indent="0" marL="0">
              <a:lnSpc>
                <a:spcPct val="110000"/>
              </a:lnSpc>
              <a:buNone/>
            </a:pPr>
            <a:r>
              <a:rPr lang="en-US" sz="1300" dirty="0">
                <a:solidFill>
                  <a:schemeClr val="tx1"/>
                </a:solidFill>
              </a:rPr>
              <a:t>λ σ ε α (1)~(4) → 결함 4유형 · 64px 격자 → 배경 5유형 · ROI 적합도 (5)</a:t>
            </a:r>
            <a:endParaRPr lang="en-US" sz="1300" dirty="0"/>
          </a:p>
        </p:txBody>
      </p:sp>
      <p:sp>
        <p:nvSpPr>
          <p:cNvPr id="10" name="Shape 7"/>
          <p:cNvSpPr/>
          <p:nvPr/>
        </p:nvSpPr>
        <p:spPr>
          <a:xfrm>
            <a:off x="982980" y="2121408"/>
            <a:ext cx="0" cy="137160"/>
          </a:xfrm>
          <a:prstGeom prst="line">
            <a:avLst/>
          </a:prstGeom>
          <a:noFill/>
          <a:ln w="19050">
            <a:solidFill>
              <a:srgbClr val="0E7C7B"/>
            </a:solidFill>
            <a:prstDash val="solid"/>
            <a:tailEnd type="triangle"/>
          </a:ln>
        </p:spPr>
      </p:sp>
      <p:sp>
        <p:nvSpPr>
          <p:cNvPr id="11" name="Shape 8"/>
          <p:cNvSpPr/>
          <p:nvPr/>
        </p:nvSpPr>
        <p:spPr>
          <a:xfrm>
            <a:off x="548640" y="2258568"/>
            <a:ext cx="11091672" cy="841248"/>
          </a:xfrm>
          <a:prstGeom prst="roundRect">
            <a:avLst>
              <a:gd name="adj" fmla="val 8696"/>
            </a:avLst>
          </a:prstGeom>
          <a:solidFill>
            <a:schemeClr val="bg2"/>
          </a:solidFill>
          <a:ln/>
        </p:spPr>
      </p:sp>
      <p:sp>
        <p:nvSpPr>
          <p:cNvPr id="12" name="Shape 9"/>
          <p:cNvSpPr/>
          <p:nvPr/>
        </p:nvSpPr>
        <p:spPr>
          <a:xfrm>
            <a:off x="731520" y="2432304"/>
            <a:ext cx="502920" cy="502920"/>
          </a:xfrm>
          <a:prstGeom prst="ellipse">
            <a:avLst/>
          </a:prstGeom>
          <a:solidFill>
            <a:schemeClr val="accent1"/>
          </a:solidFill>
          <a:ln/>
        </p:spPr>
      </p:sp>
      <p:sp>
        <p:nvSpPr>
          <p:cNvPr id="13" name="Text 10"/>
          <p:cNvSpPr txBox="1"/>
          <p:nvPr/>
        </p:nvSpPr>
        <p:spPr>
          <a:xfrm>
            <a:off x="731520" y="2432304"/>
            <a:ext cx="502920" cy="502920"/>
          </a:xfrm>
          <a:prstGeom prst="rect">
            <a:avLst/>
          </a:prstGeom>
          <a:noFill/>
          <a:ln/>
        </p:spPr>
        <p:txBody>
          <a:bodyPr wrap="square" lIns="0" tIns="0" rIns="0" bIns="0" rtlCol="0" anchor="ctr"/>
          <a:lstStyle/>
          <a:p>
            <a:pPr algn="ctr" indent="0" marL="0">
              <a:lnSpc>
                <a:spcPct val="110000"/>
              </a:lnSpc>
              <a:buNone/>
            </a:pPr>
            <a:r>
              <a:rPr lang="en-US" sz="1600" b="1" dirty="0">
                <a:solidFill>
                  <a:schemeClr val="bg1"/>
                </a:solidFill>
              </a:rPr>
              <a:t>2</a:t>
            </a:r>
            <a:endParaRPr lang="en-US" sz="1600" dirty="0"/>
          </a:p>
        </p:txBody>
      </p:sp>
      <p:sp>
        <p:nvSpPr>
          <p:cNvPr id="14" name="Text 11"/>
          <p:cNvSpPr txBox="1"/>
          <p:nvPr/>
        </p:nvSpPr>
        <p:spPr>
          <a:xfrm>
            <a:off x="1463040" y="2258568"/>
            <a:ext cx="2651760" cy="841248"/>
          </a:xfrm>
          <a:prstGeom prst="rect">
            <a:avLst/>
          </a:prstGeom>
          <a:noFill/>
          <a:ln/>
        </p:spPr>
        <p:txBody>
          <a:bodyPr wrap="square" lIns="0" tIns="0" rIns="0" bIns="0" rtlCol="0" anchor="ctr"/>
          <a:lstStyle/>
          <a:p>
            <a:pPr algn="l" indent="0" marL="0">
              <a:lnSpc>
                <a:spcPct val="110000"/>
              </a:lnSpc>
              <a:buNone/>
            </a:pPr>
            <a:r>
              <a:rPr lang="en-US" sz="1600" b="1" dirty="0">
                <a:solidFill>
                  <a:schemeClr val="accent1"/>
                </a:solidFill>
              </a:rPr>
              <a:t>ControlNet 구성</a:t>
            </a:r>
            <a:endParaRPr lang="en-US" sz="1600" dirty="0"/>
          </a:p>
        </p:txBody>
      </p:sp>
      <p:sp>
        <p:nvSpPr>
          <p:cNvPr id="15" name="Text 12"/>
          <p:cNvSpPr txBox="1"/>
          <p:nvPr/>
        </p:nvSpPr>
        <p:spPr>
          <a:xfrm>
            <a:off x="4114800" y="2258568"/>
            <a:ext cx="7315200" cy="841248"/>
          </a:xfrm>
          <a:prstGeom prst="rect">
            <a:avLst/>
          </a:prstGeom>
          <a:noFill/>
          <a:ln/>
        </p:spPr>
        <p:txBody>
          <a:bodyPr wrap="square" lIns="0" tIns="0" rIns="0" bIns="0" rtlCol="0" anchor="ctr"/>
          <a:lstStyle/>
          <a:p>
            <a:pPr algn="l" indent="0" marL="0">
              <a:lnSpc>
                <a:spcPct val="110000"/>
              </a:lnSpc>
              <a:buNone/>
            </a:pPr>
            <a:r>
              <a:rPr lang="en-US" sz="1300" dirty="0">
                <a:solidFill>
                  <a:schemeClr val="tx1"/>
                </a:solidFill>
              </a:rPr>
              <a:t>SD v1.5 + sd-controlnet-canny, 20 ep, lr 1e-5 · 3채널 힌트 (표 2) + 프롬프트 (6)</a:t>
            </a:r>
            <a:endParaRPr lang="en-US" sz="1300" dirty="0"/>
          </a:p>
        </p:txBody>
      </p:sp>
      <p:sp>
        <p:nvSpPr>
          <p:cNvPr id="16" name="Shape 13"/>
          <p:cNvSpPr/>
          <p:nvPr/>
        </p:nvSpPr>
        <p:spPr>
          <a:xfrm>
            <a:off x="982980" y="3099816"/>
            <a:ext cx="0" cy="137160"/>
          </a:xfrm>
          <a:prstGeom prst="line">
            <a:avLst/>
          </a:prstGeom>
          <a:noFill/>
          <a:ln w="19050">
            <a:solidFill>
              <a:srgbClr val="0E7C7B"/>
            </a:solidFill>
            <a:prstDash val="solid"/>
            <a:tailEnd type="triangle"/>
          </a:ln>
        </p:spPr>
      </p:sp>
      <p:sp>
        <p:nvSpPr>
          <p:cNvPr id="17" name="Shape 14"/>
          <p:cNvSpPr/>
          <p:nvPr/>
        </p:nvSpPr>
        <p:spPr>
          <a:xfrm>
            <a:off x="548640" y="3236976"/>
            <a:ext cx="11091672" cy="841248"/>
          </a:xfrm>
          <a:prstGeom prst="roundRect">
            <a:avLst>
              <a:gd name="adj" fmla="val 8696"/>
            </a:avLst>
          </a:prstGeom>
          <a:solidFill>
            <a:schemeClr val="bg2"/>
          </a:solidFill>
          <a:ln/>
        </p:spPr>
      </p:sp>
      <p:sp>
        <p:nvSpPr>
          <p:cNvPr id="18" name="Shape 15"/>
          <p:cNvSpPr/>
          <p:nvPr/>
        </p:nvSpPr>
        <p:spPr>
          <a:xfrm>
            <a:off x="731520" y="3410712"/>
            <a:ext cx="502920" cy="502920"/>
          </a:xfrm>
          <a:prstGeom prst="ellipse">
            <a:avLst/>
          </a:prstGeom>
          <a:solidFill>
            <a:schemeClr val="accent1"/>
          </a:solidFill>
          <a:ln/>
        </p:spPr>
      </p:sp>
      <p:sp>
        <p:nvSpPr>
          <p:cNvPr id="19" name="Text 16"/>
          <p:cNvSpPr txBox="1"/>
          <p:nvPr/>
        </p:nvSpPr>
        <p:spPr>
          <a:xfrm>
            <a:off x="731520" y="3410712"/>
            <a:ext cx="502920" cy="502920"/>
          </a:xfrm>
          <a:prstGeom prst="rect">
            <a:avLst/>
          </a:prstGeom>
          <a:noFill/>
          <a:ln/>
        </p:spPr>
        <p:txBody>
          <a:bodyPr wrap="square" lIns="0" tIns="0" rIns="0" bIns="0" rtlCol="0" anchor="ctr"/>
          <a:lstStyle/>
          <a:p>
            <a:pPr algn="ctr" indent="0" marL="0">
              <a:lnSpc>
                <a:spcPct val="110000"/>
              </a:lnSpc>
              <a:buNone/>
            </a:pPr>
            <a:r>
              <a:rPr lang="en-US" sz="1600" b="1" dirty="0">
                <a:solidFill>
                  <a:schemeClr val="bg1"/>
                </a:solidFill>
              </a:rPr>
              <a:t>3</a:t>
            </a:r>
            <a:endParaRPr lang="en-US" sz="1600" dirty="0"/>
          </a:p>
        </p:txBody>
      </p:sp>
      <p:sp>
        <p:nvSpPr>
          <p:cNvPr id="20" name="Text 17"/>
          <p:cNvSpPr txBox="1"/>
          <p:nvPr/>
        </p:nvSpPr>
        <p:spPr>
          <a:xfrm>
            <a:off x="1463040" y="3236976"/>
            <a:ext cx="2651760" cy="841248"/>
          </a:xfrm>
          <a:prstGeom prst="rect">
            <a:avLst/>
          </a:prstGeom>
          <a:noFill/>
          <a:ln/>
        </p:spPr>
        <p:txBody>
          <a:bodyPr wrap="square" lIns="0" tIns="0" rIns="0" bIns="0" rtlCol="0" anchor="ctr"/>
          <a:lstStyle/>
          <a:p>
            <a:pPr algn="l" indent="0" marL="0">
              <a:lnSpc>
                <a:spcPct val="110000"/>
              </a:lnSpc>
              <a:buNone/>
            </a:pPr>
            <a:r>
              <a:rPr lang="en-US" sz="1600" b="1" dirty="0">
                <a:solidFill>
                  <a:schemeClr val="accent1"/>
                </a:solidFill>
              </a:rPr>
              <a:t>문맥 기반 합성</a:t>
            </a:r>
            <a:endParaRPr lang="en-US" sz="1600" dirty="0"/>
          </a:p>
        </p:txBody>
      </p:sp>
      <p:sp>
        <p:nvSpPr>
          <p:cNvPr id="21" name="Text 18"/>
          <p:cNvSpPr txBox="1"/>
          <p:nvPr/>
        </p:nvSpPr>
        <p:spPr>
          <a:xfrm>
            <a:off x="4114800" y="3236976"/>
            <a:ext cx="7315200" cy="841248"/>
          </a:xfrm>
          <a:prstGeom prst="rect">
            <a:avLst/>
          </a:prstGeom>
          <a:noFill/>
          <a:ln/>
        </p:spPr>
        <p:txBody>
          <a:bodyPr wrap="square" lIns="0" tIns="0" rIns="0" bIns="0" rtlCol="0" anchor="ctr"/>
          <a:lstStyle/>
          <a:p>
            <a:pPr algn="l" indent="0" marL="0">
              <a:lnSpc>
                <a:spcPct val="110000"/>
              </a:lnSpc>
              <a:buNone/>
            </a:pPr>
            <a:r>
              <a:rPr lang="en-US" sz="1300" dirty="0">
                <a:solidFill>
                  <a:schemeClr val="tx1"/>
                </a:solidFill>
              </a:rPr>
              <a:t>표 6 호환성 행렬로 배경 확률 선택 → ControlNet 생성 → Poisson blending</a:t>
            </a:r>
            <a:endParaRPr lang="en-US" sz="1300" dirty="0"/>
          </a:p>
        </p:txBody>
      </p:sp>
      <p:sp>
        <p:nvSpPr>
          <p:cNvPr id="22" name="Shape 19"/>
          <p:cNvSpPr/>
          <p:nvPr/>
        </p:nvSpPr>
        <p:spPr>
          <a:xfrm>
            <a:off x="982980" y="4078224"/>
            <a:ext cx="0" cy="137160"/>
          </a:xfrm>
          <a:prstGeom prst="line">
            <a:avLst/>
          </a:prstGeom>
          <a:noFill/>
          <a:ln w="19050">
            <a:solidFill>
              <a:srgbClr val="0E7C7B"/>
            </a:solidFill>
            <a:prstDash val="solid"/>
            <a:tailEnd type="triangle"/>
          </a:ln>
        </p:spPr>
      </p:sp>
      <p:sp>
        <p:nvSpPr>
          <p:cNvPr id="23" name="Shape 20"/>
          <p:cNvSpPr/>
          <p:nvPr/>
        </p:nvSpPr>
        <p:spPr>
          <a:xfrm>
            <a:off x="548640" y="4215384"/>
            <a:ext cx="11091672" cy="841248"/>
          </a:xfrm>
          <a:prstGeom prst="roundRect">
            <a:avLst>
              <a:gd name="adj" fmla="val 8696"/>
            </a:avLst>
          </a:prstGeom>
          <a:solidFill>
            <a:schemeClr val="bg2"/>
          </a:solidFill>
          <a:ln/>
        </p:spPr>
      </p:sp>
      <p:sp>
        <p:nvSpPr>
          <p:cNvPr id="24" name="Shape 21"/>
          <p:cNvSpPr/>
          <p:nvPr/>
        </p:nvSpPr>
        <p:spPr>
          <a:xfrm>
            <a:off x="731520" y="4389120"/>
            <a:ext cx="502920" cy="502920"/>
          </a:xfrm>
          <a:prstGeom prst="ellipse">
            <a:avLst/>
          </a:prstGeom>
          <a:solidFill>
            <a:schemeClr val="accent1"/>
          </a:solidFill>
          <a:ln/>
        </p:spPr>
      </p:sp>
      <p:sp>
        <p:nvSpPr>
          <p:cNvPr id="25" name="Text 22"/>
          <p:cNvSpPr txBox="1"/>
          <p:nvPr/>
        </p:nvSpPr>
        <p:spPr>
          <a:xfrm>
            <a:off x="731520" y="4389120"/>
            <a:ext cx="502920" cy="502920"/>
          </a:xfrm>
          <a:prstGeom prst="rect">
            <a:avLst/>
          </a:prstGeom>
          <a:noFill/>
          <a:ln/>
        </p:spPr>
        <p:txBody>
          <a:bodyPr wrap="square" lIns="0" tIns="0" rIns="0" bIns="0" rtlCol="0" anchor="ctr"/>
          <a:lstStyle/>
          <a:p>
            <a:pPr algn="ctr" indent="0" marL="0">
              <a:lnSpc>
                <a:spcPct val="110000"/>
              </a:lnSpc>
              <a:buNone/>
            </a:pPr>
            <a:r>
              <a:rPr lang="en-US" sz="1600" b="1" dirty="0">
                <a:solidFill>
                  <a:schemeClr val="bg1"/>
                </a:solidFill>
              </a:rPr>
              <a:t>4</a:t>
            </a:r>
            <a:endParaRPr lang="en-US" sz="1600" dirty="0"/>
          </a:p>
        </p:txBody>
      </p:sp>
      <p:sp>
        <p:nvSpPr>
          <p:cNvPr id="26" name="Text 23"/>
          <p:cNvSpPr txBox="1"/>
          <p:nvPr/>
        </p:nvSpPr>
        <p:spPr>
          <a:xfrm>
            <a:off x="1463040" y="4215384"/>
            <a:ext cx="2651760" cy="841248"/>
          </a:xfrm>
          <a:prstGeom prst="rect">
            <a:avLst/>
          </a:prstGeom>
          <a:noFill/>
          <a:ln/>
        </p:spPr>
        <p:txBody>
          <a:bodyPr wrap="square" lIns="0" tIns="0" rIns="0" bIns="0" rtlCol="0" anchor="ctr"/>
          <a:lstStyle/>
          <a:p>
            <a:pPr algn="l" indent="0" marL="0">
              <a:lnSpc>
                <a:spcPct val="110000"/>
              </a:lnSpc>
              <a:buNone/>
            </a:pPr>
            <a:r>
              <a:rPr lang="en-US" sz="1600" b="1" dirty="0">
                <a:solidFill>
                  <a:schemeClr val="accent1"/>
                </a:solidFill>
              </a:rPr>
              <a:t>품질 게이트</a:t>
            </a:r>
            <a:endParaRPr lang="en-US" sz="1600" dirty="0"/>
          </a:p>
        </p:txBody>
      </p:sp>
      <p:sp>
        <p:nvSpPr>
          <p:cNvPr id="27" name="Text 24"/>
          <p:cNvSpPr txBox="1"/>
          <p:nvPr/>
        </p:nvSpPr>
        <p:spPr>
          <a:xfrm>
            <a:off x="4114800" y="4215384"/>
            <a:ext cx="7315200" cy="841248"/>
          </a:xfrm>
          <a:prstGeom prst="rect">
            <a:avLst/>
          </a:prstGeom>
          <a:noFill/>
          <a:ln/>
        </p:spPr>
        <p:txBody>
          <a:bodyPr wrap="square" lIns="0" tIns="0" rIns="0" bIns="0" rtlCol="0" anchor="ctr"/>
          <a:lstStyle/>
          <a:p>
            <a:pPr algn="l" indent="0" marL="0">
              <a:lnSpc>
                <a:spcPct val="110000"/>
              </a:lnSpc>
              <a:buNone/>
            </a:pPr>
            <a:r>
              <a:rPr lang="en-US" sz="1300" dirty="0">
                <a:solidFill>
                  <a:schemeClr val="tx1"/>
                </a:solidFill>
              </a:rPr>
              <a:t>Q (표 7) ≥ 0.7 → 2,500 중 2,075 통과 (83.0%)</a:t>
            </a:r>
            <a:endParaRPr lang="en-US" sz="1300" dirty="0"/>
          </a:p>
        </p:txBody>
      </p:sp>
      <p:sp>
        <p:nvSpPr>
          <p:cNvPr id="28" name="Shape 25"/>
          <p:cNvSpPr/>
          <p:nvPr/>
        </p:nvSpPr>
        <p:spPr>
          <a:xfrm>
            <a:off x="982980" y="5056632"/>
            <a:ext cx="0" cy="137160"/>
          </a:xfrm>
          <a:prstGeom prst="line">
            <a:avLst/>
          </a:prstGeom>
          <a:noFill/>
          <a:ln w="19050">
            <a:solidFill>
              <a:srgbClr val="0E7C7B"/>
            </a:solidFill>
            <a:prstDash val="solid"/>
            <a:tailEnd type="triangle"/>
          </a:ln>
        </p:spPr>
      </p:sp>
      <p:sp>
        <p:nvSpPr>
          <p:cNvPr id="29" name="Shape 26"/>
          <p:cNvSpPr/>
          <p:nvPr/>
        </p:nvSpPr>
        <p:spPr>
          <a:xfrm>
            <a:off x="548640" y="5193792"/>
            <a:ext cx="11091672" cy="841248"/>
          </a:xfrm>
          <a:prstGeom prst="roundRect">
            <a:avLst>
              <a:gd name="adj" fmla="val 8696"/>
            </a:avLst>
          </a:prstGeom>
          <a:solidFill>
            <a:schemeClr val="accent4"/>
          </a:solidFill>
          <a:ln/>
        </p:spPr>
      </p:sp>
      <p:sp>
        <p:nvSpPr>
          <p:cNvPr id="30" name="Shape 27"/>
          <p:cNvSpPr/>
          <p:nvPr/>
        </p:nvSpPr>
        <p:spPr>
          <a:xfrm>
            <a:off x="731520" y="5367528"/>
            <a:ext cx="502920" cy="502920"/>
          </a:xfrm>
          <a:prstGeom prst="ellipse">
            <a:avLst/>
          </a:prstGeom>
          <a:solidFill>
            <a:schemeClr val="accent1"/>
          </a:solidFill>
          <a:ln/>
        </p:spPr>
      </p:sp>
      <p:sp>
        <p:nvSpPr>
          <p:cNvPr id="31" name="Text 28"/>
          <p:cNvSpPr txBox="1"/>
          <p:nvPr/>
        </p:nvSpPr>
        <p:spPr>
          <a:xfrm>
            <a:off x="731520" y="5367528"/>
            <a:ext cx="502920" cy="502920"/>
          </a:xfrm>
          <a:prstGeom prst="rect">
            <a:avLst/>
          </a:prstGeom>
          <a:noFill/>
          <a:ln/>
        </p:spPr>
        <p:txBody>
          <a:bodyPr wrap="square" lIns="0" tIns="0" rIns="0" bIns="0" rtlCol="0" anchor="ctr"/>
          <a:lstStyle/>
          <a:p>
            <a:pPr algn="ctr" indent="0" marL="0">
              <a:lnSpc>
                <a:spcPct val="110000"/>
              </a:lnSpc>
              <a:buNone/>
            </a:pPr>
            <a:r>
              <a:rPr lang="en-US" sz="1600" b="1" dirty="0">
                <a:solidFill>
                  <a:schemeClr val="bg1"/>
                </a:solidFill>
              </a:rPr>
              <a:t>5</a:t>
            </a:r>
            <a:endParaRPr lang="en-US" sz="1600" dirty="0"/>
          </a:p>
        </p:txBody>
      </p:sp>
      <p:sp>
        <p:nvSpPr>
          <p:cNvPr id="32" name="Text 29"/>
          <p:cNvSpPr txBox="1"/>
          <p:nvPr/>
        </p:nvSpPr>
        <p:spPr>
          <a:xfrm>
            <a:off x="1463040" y="5193792"/>
            <a:ext cx="2651760" cy="841248"/>
          </a:xfrm>
          <a:prstGeom prst="rect">
            <a:avLst/>
          </a:prstGeom>
          <a:noFill/>
          <a:ln/>
        </p:spPr>
        <p:txBody>
          <a:bodyPr wrap="square" lIns="0" tIns="0" rIns="0" bIns="0" rtlCol="0" anchor="ctr"/>
          <a:lstStyle/>
          <a:p>
            <a:pPr algn="l" indent="0" marL="0">
              <a:lnSpc>
                <a:spcPct val="110000"/>
              </a:lnSpc>
              <a:buNone/>
            </a:pPr>
            <a:r>
              <a:rPr lang="en-US" sz="1600" b="1" dirty="0">
                <a:solidFill>
                  <a:schemeClr val="accent1"/>
                </a:solidFill>
              </a:rPr>
              <a:t>데이터셋 통합·평가</a:t>
            </a:r>
            <a:endParaRPr lang="en-US" sz="1600" dirty="0"/>
          </a:p>
        </p:txBody>
      </p:sp>
      <p:sp>
        <p:nvSpPr>
          <p:cNvPr id="33" name="Text 30"/>
          <p:cNvSpPr txBox="1"/>
          <p:nvPr/>
        </p:nvSpPr>
        <p:spPr>
          <a:xfrm>
            <a:off x="4114800" y="5193792"/>
            <a:ext cx="7315200" cy="841248"/>
          </a:xfrm>
          <a:prstGeom prst="rect">
            <a:avLst/>
          </a:prstGeom>
          <a:noFill/>
          <a:ln/>
        </p:spPr>
        <p:txBody>
          <a:bodyPr wrap="square" lIns="0" tIns="0" rIns="0" bIns="0" rtlCol="0" anchor="ctr"/>
          <a:lstStyle/>
          <a:p>
            <a:pPr algn="l" indent="0" marL="0">
              <a:lnSpc>
                <a:spcPct val="110000"/>
              </a:lnSpc>
              <a:buNone/>
            </a:pPr>
            <a:r>
              <a:rPr lang="en-US" sz="1300" dirty="0">
                <a:solidFill>
                  <a:schemeClr val="tx1"/>
                </a:solidFill>
              </a:rPr>
              <a:t>Class 2 +519장 (+110.1%), 합성 비중 42.7% · EB-YOLOv8 / YOLO-MFD (seed 42·456) · FID/KID/LPIPS/BGD</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제6장 · 핵심 메시지</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제6장 핵심 메시지</a:t>
            </a:r>
            <a:endParaRPr lang="en-US" sz="2400" dirty="0"/>
          </a:p>
        </p:txBody>
      </p:sp>
      <p:sp>
        <p:nvSpPr>
          <p:cNvPr id="5" name="Shape 2"/>
          <p:cNvSpPr/>
          <p:nvPr/>
        </p:nvSpPr>
        <p:spPr>
          <a:xfrm>
            <a:off x="548640" y="1325880"/>
            <a:ext cx="11091672" cy="1234440"/>
          </a:xfrm>
          <a:prstGeom prst="roundRect">
            <a:avLst>
              <a:gd name="adj" fmla="val 5926"/>
            </a:avLst>
          </a:prstGeom>
          <a:solidFill>
            <a:schemeClr val="accent1"/>
          </a:solidFill>
          <a:ln/>
        </p:spPr>
      </p:sp>
      <p:sp>
        <p:nvSpPr>
          <p:cNvPr id="6" name="Text 3"/>
          <p:cNvSpPr txBox="1"/>
          <p:nvPr/>
        </p:nvSpPr>
        <p:spPr>
          <a:xfrm>
            <a:off x="868680" y="1453896"/>
            <a:ext cx="10424160" cy="678942"/>
          </a:xfrm>
          <a:prstGeom prst="rect">
            <a:avLst/>
          </a:prstGeom>
          <a:noFill/>
          <a:ln/>
        </p:spPr>
        <p:txBody>
          <a:bodyPr wrap="square" lIns="0" tIns="0" rIns="0" bIns="0" rtlCol="0" anchor="ctr"/>
          <a:lstStyle/>
          <a:p>
            <a:pPr algn="l" indent="0" marL="0">
              <a:lnSpc>
                <a:spcPct val="110000"/>
              </a:lnSpc>
              <a:buNone/>
            </a:pPr>
            <a:r>
              <a:rPr lang="en-US" sz="1800" b="1" dirty="0">
                <a:solidFill>
                  <a:schemeClr val="bg1"/>
                </a:solidFill>
              </a:rPr>
              <a:t>문맥을 생성 조건(힌트 이미지·프롬프트)까지 반영해 배치와 생성 모두에서 문맥을 고려</a:t>
            </a:r>
            <a:endParaRPr lang="en-US" sz="1800" dirty="0"/>
          </a:p>
        </p:txBody>
      </p:sp>
      <p:sp>
        <p:nvSpPr>
          <p:cNvPr id="7" name="Text 4"/>
          <p:cNvSpPr txBox="1"/>
          <p:nvPr/>
        </p:nvSpPr>
        <p:spPr>
          <a:xfrm>
            <a:off x="868680" y="2041855"/>
            <a:ext cx="10424160" cy="444398"/>
          </a:xfrm>
          <a:prstGeom prst="rect">
            <a:avLst/>
          </a:prstGeom>
          <a:noFill/>
          <a:ln/>
        </p:spPr>
        <p:txBody>
          <a:bodyPr wrap="square" lIns="0" tIns="0" rIns="0" bIns="0" rtlCol="0" anchor="t"/>
          <a:lstStyle/>
          <a:p>
            <a:pPr algn="l" indent="0" marL="0">
              <a:lnSpc>
                <a:spcPct val="110000"/>
              </a:lnSpc>
              <a:buNone/>
            </a:pPr>
            <a:r>
              <a:rPr lang="en-US" sz="1400" dirty="0">
                <a:solidFill>
                  <a:schemeClr val="accent4"/>
                </a:solidFill>
              </a:rPr>
              <a:t>특히 희소 클래스(Class 2)에서 성능 개선을 확인</a:t>
            </a:r>
            <a:endParaRPr lang="en-US" sz="1400" dirty="0"/>
          </a:p>
        </p:txBody>
      </p:sp>
      <p:sp>
        <p:nvSpPr>
          <p:cNvPr id="8" name="Shape 5"/>
          <p:cNvSpPr/>
          <p:nvPr/>
        </p:nvSpPr>
        <p:spPr>
          <a:xfrm>
            <a:off x="548640" y="2834640"/>
            <a:ext cx="5394960" cy="2148840"/>
          </a:xfrm>
          <a:prstGeom prst="roundRect">
            <a:avLst>
              <a:gd name="adj" fmla="val 3404"/>
            </a:avLst>
          </a:prstGeom>
          <a:solidFill>
            <a:schemeClr val="bg2"/>
          </a:solidFill>
          <a:ln/>
        </p:spPr>
      </p:sp>
      <p:sp>
        <p:nvSpPr>
          <p:cNvPr id="9" name="Text 6"/>
          <p:cNvSpPr txBox="1"/>
          <p:nvPr/>
        </p:nvSpPr>
        <p:spPr>
          <a:xfrm>
            <a:off x="777240" y="2971800"/>
            <a:ext cx="4937760" cy="365760"/>
          </a:xfrm>
          <a:prstGeom prst="rect">
            <a:avLst/>
          </a:prstGeom>
          <a:noFill/>
          <a:ln/>
        </p:spPr>
        <p:txBody>
          <a:bodyPr wrap="square" lIns="0" tIns="0" rIns="0" bIns="0" rtlCol="0" anchor="t"/>
          <a:lstStyle/>
          <a:p>
            <a:pPr algn="l" indent="0" marL="0">
              <a:lnSpc>
                <a:spcPct val="110000"/>
              </a:lnSpc>
              <a:buNone/>
            </a:pPr>
            <a:r>
              <a:rPr lang="en-US" sz="1700" b="1" dirty="0">
                <a:solidFill>
                  <a:schemeClr val="accent1"/>
                </a:solidFill>
              </a:rPr>
              <a:t>강점</a:t>
            </a:r>
            <a:endParaRPr lang="en-US" sz="1700" dirty="0"/>
          </a:p>
        </p:txBody>
      </p:sp>
      <p:sp>
        <p:nvSpPr>
          <p:cNvPr id="10" name="Text 7"/>
          <p:cNvSpPr txBox="1"/>
          <p:nvPr/>
        </p:nvSpPr>
        <p:spPr>
          <a:xfrm>
            <a:off x="777240" y="3429000"/>
            <a:ext cx="4937760" cy="146304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en-US" sz="1400" dirty="0">
                <a:solidFill>
                  <a:schemeClr val="tx1"/>
                </a:solidFill>
              </a:rPr>
              <a:t>희소 클래스 Class 2 AP +22.09 pp</a:t>
            </a:r>
            <a:endParaRPr lang="en-US" sz="1400" dirty="0"/>
          </a:p>
          <a:p>
            <a:pPr marL="203200" indent="-203200">
              <a:lnSpc>
                <a:spcPct val="110000"/>
              </a:lnSpc>
              <a:spcAft>
                <a:spcPts val="800"/>
              </a:spcAft>
              <a:buSzPct val="100000"/>
              <a:buChar char="•"/>
            </a:pPr>
            <a:r>
              <a:rPr lang="en-US" sz="1400" dirty="0">
                <a:solidFill>
                  <a:schemeClr val="tx1"/>
                </a:solidFill>
              </a:rPr>
              <a:t>생성 단계까지 문맥을 반영한 조건부 생성</a:t>
            </a:r>
            <a:endParaRPr lang="en-US" sz="1400" dirty="0"/>
          </a:p>
          <a:p>
            <a:pPr marL="203200" indent="-203200">
              <a:lnSpc>
                <a:spcPct val="110000"/>
              </a:lnSpc>
              <a:spcAft>
                <a:spcPts val="800"/>
              </a:spcAft>
              <a:buSzPct val="100000"/>
              <a:buChar char="•"/>
            </a:pPr>
            <a:r>
              <a:rPr lang="en-US" sz="1400" dirty="0">
                <a:solidFill>
                  <a:schemeClr val="tx1"/>
                </a:solidFill>
              </a:rPr>
              <a:t>BGD −30.5%로 합성 경계가 자연스러움</a:t>
            </a:r>
            <a:endParaRPr lang="en-US" sz="1400" dirty="0"/>
          </a:p>
        </p:txBody>
      </p:sp>
      <p:sp>
        <p:nvSpPr>
          <p:cNvPr id="11" name="Shape 8"/>
          <p:cNvSpPr/>
          <p:nvPr/>
        </p:nvSpPr>
        <p:spPr>
          <a:xfrm>
            <a:off x="6245352" y="2834640"/>
            <a:ext cx="5394960" cy="2148840"/>
          </a:xfrm>
          <a:prstGeom prst="roundRect">
            <a:avLst>
              <a:gd name="adj" fmla="val 3404"/>
            </a:avLst>
          </a:prstGeom>
          <a:solidFill>
            <a:schemeClr val="accent5"/>
          </a:solidFill>
          <a:ln/>
        </p:spPr>
      </p:sp>
      <p:sp>
        <p:nvSpPr>
          <p:cNvPr id="12" name="Text 9"/>
          <p:cNvSpPr txBox="1"/>
          <p:nvPr/>
        </p:nvSpPr>
        <p:spPr>
          <a:xfrm>
            <a:off x="6473952" y="2971800"/>
            <a:ext cx="4937760" cy="365760"/>
          </a:xfrm>
          <a:prstGeom prst="rect">
            <a:avLst/>
          </a:prstGeom>
          <a:noFill/>
          <a:ln/>
        </p:spPr>
        <p:txBody>
          <a:bodyPr wrap="square" lIns="0" tIns="0" rIns="0" bIns="0" rtlCol="0" anchor="t"/>
          <a:lstStyle/>
          <a:p>
            <a:pPr algn="l" indent="0" marL="0">
              <a:lnSpc>
                <a:spcPct val="110000"/>
              </a:lnSpc>
              <a:buNone/>
            </a:pPr>
            <a:r>
              <a:rPr lang="en-US" sz="1700" b="1" dirty="0">
                <a:solidFill>
                  <a:schemeClr val="accent2"/>
                </a:solidFill>
              </a:rPr>
              <a:t>한계</a:t>
            </a:r>
            <a:endParaRPr lang="en-US" sz="1700" dirty="0"/>
          </a:p>
        </p:txBody>
      </p:sp>
      <p:sp>
        <p:nvSpPr>
          <p:cNvPr id="13" name="Text 10"/>
          <p:cNvSpPr txBox="1"/>
          <p:nvPr/>
        </p:nvSpPr>
        <p:spPr>
          <a:xfrm>
            <a:off x="6473952" y="3429000"/>
            <a:ext cx="4937760" cy="1463040"/>
          </a:xfrm>
          <a:prstGeom prst="rect">
            <a:avLst/>
          </a:prstGeom>
          <a:noFill/>
          <a:ln/>
        </p:spPr>
        <p:txBody>
          <a:bodyPr wrap="square" lIns="0" tIns="0" rIns="0" bIns="0" rtlCol="0" anchor="t"/>
          <a:lstStyle/>
          <a:p>
            <a:pPr marL="203200" indent="-203200">
              <a:lnSpc>
                <a:spcPct val="110000"/>
              </a:lnSpc>
              <a:spcAft>
                <a:spcPts val="800"/>
              </a:spcAft>
              <a:buSzPct val="100000"/>
              <a:buChar char="•"/>
            </a:pPr>
            <a:r>
              <a:rPr lang="en-US" sz="1400" dirty="0">
                <a:solidFill>
                  <a:schemeClr val="tx1"/>
                </a:solidFill>
              </a:rPr>
              <a:t>철강 특화 분류·호환성 규칙 → 다른 도메인 적용 시 재설계 필요</a:t>
            </a:r>
            <a:endParaRPr lang="en-US" sz="1400" dirty="0"/>
          </a:p>
          <a:p>
            <a:pPr marL="203200" indent="-203200">
              <a:lnSpc>
                <a:spcPct val="110000"/>
              </a:lnSpc>
              <a:spcAft>
                <a:spcPts val="800"/>
              </a:spcAft>
              <a:buSzPct val="100000"/>
              <a:buChar char="•"/>
            </a:pPr>
            <a:r>
              <a:rPr lang="en-US" sz="1400" dirty="0">
                <a:solidFill>
                  <a:schemeClr val="tx1"/>
                </a:solidFill>
              </a:rPr>
              <a:t>효과는 검출 아키텍처에 따라 달라짐 (YOLO-MFD 미개선)</a:t>
            </a:r>
            <a:endParaRPr lang="en-US" sz="1400" dirty="0"/>
          </a:p>
        </p:txBody>
      </p:sp>
      <p:sp>
        <p:nvSpPr>
          <p:cNvPr id="14" name="Shape 11"/>
          <p:cNvSpPr/>
          <p:nvPr/>
        </p:nvSpPr>
        <p:spPr>
          <a:xfrm>
            <a:off x="548640" y="5257800"/>
            <a:ext cx="11091672" cy="822960"/>
          </a:xfrm>
          <a:prstGeom prst="roundRect">
            <a:avLst>
              <a:gd name="adj" fmla="val 8889"/>
            </a:avLst>
          </a:prstGeom>
          <a:solidFill>
            <a:schemeClr val="tx2"/>
          </a:solidFill>
          <a:ln/>
        </p:spPr>
      </p:sp>
      <p:sp>
        <p:nvSpPr>
          <p:cNvPr id="15" name="Text 12"/>
          <p:cNvSpPr txBox="1"/>
          <p:nvPr/>
        </p:nvSpPr>
        <p:spPr>
          <a:xfrm>
            <a:off x="822960" y="5257800"/>
            <a:ext cx="10607040" cy="822960"/>
          </a:xfrm>
          <a:prstGeom prst="rect">
            <a:avLst/>
          </a:prstGeom>
          <a:noFill/>
          <a:ln/>
        </p:spPr>
        <p:txBody>
          <a:bodyPr wrap="square" lIns="0" tIns="0" rIns="0" bIns="0" rtlCol="0" anchor="ctr"/>
          <a:lstStyle/>
          <a:p>
            <a:pPr algn="l" indent="0" marL="0">
              <a:lnSpc>
                <a:spcPct val="110000"/>
              </a:lnSpc>
              <a:buNone/>
            </a:pPr>
            <a:r>
              <a:rPr lang="en-US" sz="1600" b="1" dirty="0">
                <a:solidFill>
                  <a:schemeClr val="bg1"/>
                </a:solidFill>
              </a:rPr>
              <a:t>CASDA = 범용 자동화보다 특정 제조 도메인에서 생성 단계까지 문맥을 반영하는 접근</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종합</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AROMA (제5장) ↔ CASDA (제6장) 대조</a:t>
            </a:r>
            <a:endParaRPr lang="en-US" sz="24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1600200"/>
                <a:gridCol w="4745736"/>
                <a:gridCol w="4745736"/>
              </a:tblGrid>
              <a:tr h="484632">
                <a:tc>
                  <a:txBody>
                    <a:bodyPr/>
                    <a:lstStyle/>
                    <a:p>
                      <a:pPr algn="l" indent="0" marL="0">
                        <a:buNone/>
                      </a:pPr>
                      <a:r>
                        <a:rPr lang="en-US" sz="1300" b="1" dirty="0">
                          <a:solidFill>
                            <a:schemeClr val="bg1"/>
                          </a:solidFill>
                        </a:rPr>
                        <a:t>축</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AROMA (제5장) · 범용 · 데이터 기반</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c>
                  <a:txBody>
                    <a:bodyPr/>
                    <a:lstStyle/>
                    <a:p>
                      <a:pPr algn="l" indent="0" marL="0">
                        <a:buNone/>
                      </a:pPr>
                      <a:r>
                        <a:rPr lang="en-US" sz="1300" b="1" dirty="0">
                          <a:solidFill>
                            <a:schemeClr val="bg1"/>
                          </a:solidFill>
                        </a:rPr>
                        <a:t>CASDA (제6장) · 철강 특화 · 생성 결합</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accent1"/>
                    </a:solidFill>
                  </a:tcPr>
                </a:tc>
              </a:tr>
              <a:tr h="484632">
                <a:tc>
                  <a:txBody>
                    <a:bodyPr/>
                    <a:lstStyle/>
                    <a:p>
                      <a:pPr algn="l" indent="0" marL="0">
                        <a:buNone/>
                      </a:pPr>
                      <a:r>
                        <a:rPr lang="en-US" sz="1300" b="1" dirty="0">
                          <a:solidFill>
                            <a:schemeClr val="accent1"/>
                          </a:solidFill>
                        </a:rPr>
                        <a:t>행 k (결함)</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GMM + BIC 클러스터. 개수·경계를 데이터가 결정</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규칙 subtype 4종, 임계값 5개 (Otsu·백분위로 도출)</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r>
              <a:tr h="484632">
                <a:tc>
                  <a:txBody>
                    <a:bodyPr/>
                    <a:lstStyle/>
                    <a:p>
                      <a:pPr algn="l" indent="0" marL="0">
                        <a:buNone/>
                      </a:pPr>
                      <a:r>
                        <a:rPr lang="en-US" sz="1300" b="1" dirty="0">
                          <a:solidFill>
                            <a:schemeClr val="accent1"/>
                          </a:solidFill>
                        </a:rPr>
                        <a:t>열 c (배경)</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5특징 P33/P66 tertile → 최대 3⁵ = 243 cell key</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규칙 bg type 5종, 임계값 6개</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r>
              <a:tr h="484632">
                <a:tc>
                  <a:txBody>
                    <a:bodyPr/>
                    <a:lstStyle/>
                    <a:p>
                      <a:pPr algn="l" indent="0" marL="0">
                        <a:buNone/>
                      </a:pPr>
                      <a:r>
                        <a:rPr lang="en-US" sz="1300" b="1" dirty="0">
                          <a:solidFill>
                            <a:schemeClr val="accent1"/>
                          </a:solidFill>
                        </a:rPr>
                        <a:t>셀 값</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ctx_prior(k,c) ∝ √(P_def · P_clean), 행 max = 1</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매칭 점수 0.3~1.0 (표 6), 행별 최적 = 1.0</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r>
              <a:tr h="484632">
                <a:tc>
                  <a:txBody>
                    <a:bodyPr/>
                    <a:lstStyle/>
                    <a:p>
                      <a:pPr algn="l" indent="0" marL="0">
                        <a:buNone/>
                      </a:pPr>
                      <a:r>
                        <a:rPr lang="en-US" sz="1300" b="1" dirty="0">
                          <a:solidFill>
                            <a:schemeClr val="accent1"/>
                          </a:solidFill>
                        </a:rPr>
                        <a:t>대칭성</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대칭 (결함측·배경측 기하평균)</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비대칭 (결함 → 배경 일방)</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r>
              <a:tr h="484632">
                <a:tc>
                  <a:txBody>
                    <a:bodyPr/>
                    <a:lstStyle/>
                    <a:p>
                      <a:pPr algn="l" indent="0" marL="0">
                        <a:buNone/>
                      </a:pPr>
                      <a:r>
                        <a:rPr lang="en-US" sz="1300" b="1" dirty="0">
                          <a:solidFill>
                            <a:schemeClr val="accent1"/>
                          </a:solidFill>
                        </a:rPr>
                        <a:t>배경 단위</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64px 타일 → 이미지 안 좌표 선택</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이미지 1장 = 라벨 1개 → 이미지 선택</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r>
              <a:tr h="484632">
                <a:tc>
                  <a:txBody>
                    <a:bodyPr/>
                    <a:lstStyle/>
                    <a:p>
                      <a:pPr algn="l" indent="0" marL="0">
                        <a:buNone/>
                      </a:pPr>
                      <a:r>
                        <a:rPr lang="en-US" sz="1300" b="1" dirty="0">
                          <a:solidFill>
                            <a:schemeClr val="accent1"/>
                          </a:solidFill>
                        </a:rPr>
                        <a:t>생성</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기존 결함 패치 기반 training-free copy-paste</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ControlNet 조건부 생성 (3채널 힌트 + 문맥 프롬프트)</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r>
              <a:tr h="484632">
                <a:tc>
                  <a:txBody>
                    <a:bodyPr/>
                    <a:lstStyle/>
                    <a:p>
                      <a:pPr algn="l" indent="0" marL="0">
                        <a:buNone/>
                      </a:pPr>
                      <a:r>
                        <a:rPr lang="en-US" sz="1300" b="1" dirty="0">
                          <a:solidFill>
                            <a:schemeClr val="accent1"/>
                          </a:solidFill>
                        </a:rPr>
                        <a:t>품질 관리</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배경 void 게이트 + 자리 quality 분위 필터</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품질 게이트 Q ≥ 0.7</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r>
              <a:tr h="484632">
                <a:tc>
                  <a:txBody>
                    <a:bodyPr/>
                    <a:lstStyle/>
                    <a:p>
                      <a:pPr algn="l" indent="0" marL="0">
                        <a:buNone/>
                      </a:pPr>
                      <a:r>
                        <a:rPr lang="en-US" sz="1300" b="1" dirty="0">
                          <a:solidFill>
                            <a:schemeClr val="accent1"/>
                          </a:solidFill>
                        </a:rPr>
                        <a:t>데이터셋</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5종 이종 도메인, 재설계 0</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Severstal 1종, 희소 클래스 집중</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r>
              <a:tr h="484632">
                <a:tc>
                  <a:txBody>
                    <a:bodyPr/>
                    <a:lstStyle/>
                    <a:p>
                      <a:pPr algn="l" indent="0" marL="0">
                        <a:buNone/>
                      </a:pPr>
                      <a:r>
                        <a:rPr lang="en-US" sz="1300" b="1" dirty="0">
                          <a:solidFill>
                            <a:schemeClr val="accent1"/>
                          </a:solidFill>
                        </a:rPr>
                        <a:t>결론</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2"/>
                    </a:solidFill>
                  </a:tcPr>
                </a:tc>
                <a:tc>
                  <a:txBody>
                    <a:bodyPr/>
                    <a:lstStyle/>
                    <a:p>
                      <a:pPr algn="l" indent="0" marL="0">
                        <a:buNone/>
                      </a:pPr>
                      <a:r>
                        <a:rPr lang="en-US" sz="1300" dirty="0">
                          <a:solidFill>
                            <a:schemeClr val="tx1"/>
                          </a:solidFill>
                        </a:rPr>
                        <a:t>효과는 headroom + CCI 조건부, 해롭지 않음</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희소 클래스 큰 이득, 아키텍처 의존</a:t>
                      </a:r>
                      <a:endParaRPr lang="en-US" sz="1300" dirty="0"/>
                    </a:p>
                  </a:txBody>
                  <a:tcPr marL="76200" marR="76200" marT="38100" marB="38100" anchor="ctr">
                    <a:lnL w="9525" cap="flat" cmpd="sng" algn="ctr">
                      <a:solidFill>
                        <a:srgbClr val="D9DEE3"/>
                      </a:solidFill>
                      <a:prstDash val="solid"/>
                      <a:round/>
                      <a:headEnd type="none" w="med" len="med"/>
                      <a:tailEnd type="none" w="med" len="med"/>
                    </a:lnL>
                    <a:lnR w="9525" cap="flat" cmpd="sng" algn="ctr">
                      <a:solidFill>
                        <a:srgbClr val="D9DEE3"/>
                      </a:solidFill>
                      <a:prstDash val="solid"/>
                      <a:round/>
                      <a:headEnd type="none" w="med" len="med"/>
                      <a:tailEnd type="none" w="med" len="med"/>
                    </a:lnR>
                    <a:lnT w="9525" cap="flat" cmpd="sng" algn="ctr">
                      <a:solidFill>
                        <a:srgbClr val="D9DEE3"/>
                      </a:solidFill>
                      <a:prstDash val="solid"/>
                      <a:round/>
                      <a:headEnd type="none" w="med" len="med"/>
                      <a:tailEnd type="none" w="med" len="med"/>
                    </a:lnT>
                    <a:lnB w="9525" cap="flat" cmpd="sng" algn="ctr">
                      <a:solidFill>
                        <a:srgbClr val="D9DEE3"/>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4"/>
          <p:cNvSpPr/>
          <p:nvPr>
            <p:ph idx="104" type="body" hasCustomPrompt="1"/>
          </p:nvPr>
        </p:nvSpPr>
        <p:spPr>
          <a:xfrm>
            <a:off x="548640" y="109728"/>
            <a:ext cx="9144000" cy="274320"/>
          </a:xfrm>
          <a:prstGeom prst="rect">
            <a:avLst/>
          </a:prstGeom>
          <a:noFill/>
          <a:ln/>
        </p:spPr>
        <p:txBody>
          <a:bodyPr wrap="square" lIns="0" tIns="0" rIns="0" bIns="0" rtlCol="0"/>
          <a:lstStyle/>
          <a:p>
            <a:pPr indent="0" marL="0">
              <a:buNone/>
            </a:pPr>
            <a:r>
              <a:rPr lang="en-US" sz="1200" b="1" dirty="0">
                <a:solidFill>
                  <a:schemeClr val="accent1"/>
                </a:solidFill>
              </a:rPr>
              <a:t>종합</a:t>
            </a:r>
            <a:endParaRPr lang="en-US" sz="1200" dirty="0"/>
          </a:p>
        </p:txBody>
      </p:sp>
      <p:sp>
        <p:nvSpPr>
          <p:cNvPr id="3" name="Text 4"/>
          <p:cNvSpPr/>
          <p:nvPr>
            <p:ph idx="105" type="title" hasCustomPrompt="1"/>
          </p:nvPr>
        </p:nvSpPr>
        <p:spPr>
          <a:xfrm>
            <a:off x="548640" y="365760"/>
            <a:ext cx="11064240" cy="530352"/>
          </a:xfrm>
          <a:prstGeom prst="rect">
            <a:avLst/>
          </a:prstGeom>
          <a:noFill/>
          <a:ln/>
        </p:spPr>
        <p:txBody>
          <a:bodyPr wrap="square" lIns="0" tIns="0" rIns="0" bIns="0" rtlCol="0" anchor="ctr"/>
          <a:lstStyle/>
          <a:p>
            <a:pPr algn="l" indent="0" marL="0">
              <a:buNone/>
            </a:pPr>
            <a:r>
              <a:rPr lang="en-US" sz="2400" b="1" dirty="0">
                <a:solidFill>
                  <a:schemeClr val="tx1"/>
                </a:solidFill>
              </a:rPr>
              <a:t>연구 흐름 한 장 요약</a:t>
            </a:r>
            <a:endParaRPr lang="en-US" sz="2400" dirty="0"/>
          </a:p>
        </p:txBody>
      </p:sp>
      <p:sp>
        <p:nvSpPr>
          <p:cNvPr id="5" name="Shape 2"/>
          <p:cNvSpPr/>
          <p:nvPr/>
        </p:nvSpPr>
        <p:spPr>
          <a:xfrm>
            <a:off x="548640" y="1280160"/>
            <a:ext cx="2560320" cy="2514600"/>
          </a:xfrm>
          <a:prstGeom prst="roundRect">
            <a:avLst>
              <a:gd name="adj" fmla="val 2909"/>
            </a:avLst>
          </a:prstGeom>
          <a:solidFill>
            <a:schemeClr val="bg2"/>
          </a:solidFill>
          <a:ln/>
        </p:spPr>
      </p:sp>
      <p:sp>
        <p:nvSpPr>
          <p:cNvPr id="6" name="Shape 3"/>
          <p:cNvSpPr/>
          <p:nvPr/>
        </p:nvSpPr>
        <p:spPr>
          <a:xfrm>
            <a:off x="731520" y="1444752"/>
            <a:ext cx="914400" cy="329184"/>
          </a:xfrm>
          <a:prstGeom prst="roundRect">
            <a:avLst>
              <a:gd name="adj" fmla="val 50000"/>
            </a:avLst>
          </a:prstGeom>
          <a:solidFill>
            <a:schemeClr val="accent1"/>
          </a:solidFill>
          <a:ln/>
        </p:spPr>
      </p:sp>
      <p:sp>
        <p:nvSpPr>
          <p:cNvPr id="7" name="Text 4"/>
          <p:cNvSpPr txBox="1"/>
          <p:nvPr/>
        </p:nvSpPr>
        <p:spPr>
          <a:xfrm>
            <a:off x="731520" y="1444752"/>
            <a:ext cx="914400" cy="329184"/>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제3장</a:t>
            </a:r>
            <a:endParaRPr lang="en-US" sz="1200" dirty="0"/>
          </a:p>
        </p:txBody>
      </p:sp>
      <p:sp>
        <p:nvSpPr>
          <p:cNvPr id="8" name="Text 5"/>
          <p:cNvSpPr txBox="1"/>
          <p:nvPr/>
        </p:nvSpPr>
        <p:spPr>
          <a:xfrm>
            <a:off x="731520" y="1874520"/>
            <a:ext cx="2194560" cy="59436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결함 패치 생성</a:t>
            </a:r>
            <a:endParaRPr lang="en-US" sz="1500" dirty="0"/>
          </a:p>
        </p:txBody>
      </p:sp>
      <p:sp>
        <p:nvSpPr>
          <p:cNvPr id="9" name="Text 6"/>
          <p:cNvSpPr txBox="1"/>
          <p:nvPr/>
        </p:nvSpPr>
        <p:spPr>
          <a:xfrm>
            <a:off x="731520" y="2514600"/>
            <a:ext cx="2194560" cy="123444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200" dirty="0">
                <a:solidFill>
                  <a:schemeClr val="tx1"/>
                </a:solidFill>
              </a:rPr>
              <a:t>GAN·Diffusion 생성 증강으로 성능 개선 가능성</a:t>
            </a:r>
            <a:endParaRPr lang="en-US" sz="1200" dirty="0"/>
          </a:p>
          <a:p>
            <a:pPr marL="203200" indent="-203200">
              <a:lnSpc>
                <a:spcPct val="110000"/>
              </a:lnSpc>
              <a:spcAft>
                <a:spcPts val="500"/>
              </a:spcAft>
              <a:buSzPct val="100000"/>
              <a:buChar char="•"/>
            </a:pPr>
            <a:r>
              <a:rPr lang="en-US" sz="1200" dirty="0">
                <a:solidFill>
                  <a:schemeClr val="tx1"/>
                </a:solidFill>
              </a:rPr>
              <a:t>라벨 위치 재활용 → 중복·과적합</a:t>
            </a:r>
            <a:endParaRPr lang="en-US" sz="1200" dirty="0"/>
          </a:p>
        </p:txBody>
      </p:sp>
      <p:sp>
        <p:nvSpPr>
          <p:cNvPr id="10" name="Shape 7"/>
          <p:cNvSpPr/>
          <p:nvPr/>
        </p:nvSpPr>
        <p:spPr>
          <a:xfrm>
            <a:off x="3145536" y="2532888"/>
            <a:ext cx="210312" cy="0"/>
          </a:xfrm>
          <a:prstGeom prst="line">
            <a:avLst/>
          </a:prstGeom>
          <a:noFill/>
          <a:ln w="19050">
            <a:solidFill>
              <a:srgbClr val="5B6B7A"/>
            </a:solidFill>
            <a:prstDash val="solid"/>
            <a:tailEnd type="triangle"/>
          </a:ln>
        </p:spPr>
      </p:sp>
      <p:sp>
        <p:nvSpPr>
          <p:cNvPr id="11" name="Shape 8"/>
          <p:cNvSpPr/>
          <p:nvPr/>
        </p:nvSpPr>
        <p:spPr>
          <a:xfrm>
            <a:off x="3392424" y="1280160"/>
            <a:ext cx="2560320" cy="2514600"/>
          </a:xfrm>
          <a:prstGeom prst="roundRect">
            <a:avLst>
              <a:gd name="adj" fmla="val 2909"/>
            </a:avLst>
          </a:prstGeom>
          <a:solidFill>
            <a:schemeClr val="bg2"/>
          </a:solidFill>
          <a:ln/>
        </p:spPr>
      </p:sp>
      <p:sp>
        <p:nvSpPr>
          <p:cNvPr id="12" name="Shape 9"/>
          <p:cNvSpPr/>
          <p:nvPr/>
        </p:nvSpPr>
        <p:spPr>
          <a:xfrm>
            <a:off x="3575304" y="1444752"/>
            <a:ext cx="914400" cy="329184"/>
          </a:xfrm>
          <a:prstGeom prst="roundRect">
            <a:avLst>
              <a:gd name="adj" fmla="val 50000"/>
            </a:avLst>
          </a:prstGeom>
          <a:solidFill>
            <a:schemeClr val="accent1"/>
          </a:solidFill>
          <a:ln/>
        </p:spPr>
      </p:sp>
      <p:sp>
        <p:nvSpPr>
          <p:cNvPr id="13" name="Text 10"/>
          <p:cNvSpPr txBox="1"/>
          <p:nvPr/>
        </p:nvSpPr>
        <p:spPr>
          <a:xfrm>
            <a:off x="3575304" y="1444752"/>
            <a:ext cx="914400" cy="329184"/>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제4장</a:t>
            </a:r>
            <a:endParaRPr lang="en-US" sz="1200" dirty="0"/>
          </a:p>
        </p:txBody>
      </p:sp>
      <p:sp>
        <p:nvSpPr>
          <p:cNvPr id="14" name="Text 11"/>
          <p:cNvSpPr txBox="1"/>
          <p:nvPr/>
        </p:nvSpPr>
        <p:spPr>
          <a:xfrm>
            <a:off x="3575304" y="1874520"/>
            <a:ext cx="2194560" cy="59436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배치 위치 탐색</a:t>
            </a:r>
            <a:endParaRPr lang="en-US" sz="1500" dirty="0"/>
          </a:p>
        </p:txBody>
      </p:sp>
      <p:sp>
        <p:nvSpPr>
          <p:cNvPr id="15" name="Text 12"/>
          <p:cNvSpPr txBox="1"/>
          <p:nvPr/>
        </p:nvSpPr>
        <p:spPr>
          <a:xfrm>
            <a:off x="3575304" y="2514600"/>
            <a:ext cx="2194560" cy="123444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200" dirty="0">
                <a:solidFill>
                  <a:schemeClr val="tx1"/>
                </a:solidFill>
              </a:rPr>
              <a:t>ControlNet 생성 + 밝기 유사도 유효 ROI</a:t>
            </a:r>
            <a:endParaRPr lang="en-US" sz="1200" dirty="0"/>
          </a:p>
          <a:p>
            <a:pPr marL="203200" indent="-203200">
              <a:lnSpc>
                <a:spcPct val="110000"/>
              </a:lnSpc>
              <a:spcAft>
                <a:spcPts val="500"/>
              </a:spcAft>
              <a:buSzPct val="100000"/>
              <a:buChar char="•"/>
            </a:pPr>
            <a:r>
              <a:rPr lang="en-US" sz="1200" dirty="0">
                <a:solidFill>
                  <a:schemeClr val="tx1"/>
                </a:solidFill>
              </a:rPr>
              <a:t>평균 밝기 단일 기준의 한계</a:t>
            </a:r>
            <a:endParaRPr lang="en-US" sz="1200" dirty="0"/>
          </a:p>
        </p:txBody>
      </p:sp>
      <p:sp>
        <p:nvSpPr>
          <p:cNvPr id="16" name="Shape 13"/>
          <p:cNvSpPr/>
          <p:nvPr/>
        </p:nvSpPr>
        <p:spPr>
          <a:xfrm>
            <a:off x="5989320" y="2532888"/>
            <a:ext cx="210312" cy="0"/>
          </a:xfrm>
          <a:prstGeom prst="line">
            <a:avLst/>
          </a:prstGeom>
          <a:noFill/>
          <a:ln w="19050">
            <a:solidFill>
              <a:srgbClr val="5B6B7A"/>
            </a:solidFill>
            <a:prstDash val="solid"/>
            <a:tailEnd type="triangle"/>
          </a:ln>
        </p:spPr>
      </p:sp>
      <p:sp>
        <p:nvSpPr>
          <p:cNvPr id="17" name="Shape 14"/>
          <p:cNvSpPr/>
          <p:nvPr/>
        </p:nvSpPr>
        <p:spPr>
          <a:xfrm>
            <a:off x="6236208" y="1280160"/>
            <a:ext cx="2560320" cy="2514600"/>
          </a:xfrm>
          <a:prstGeom prst="roundRect">
            <a:avLst>
              <a:gd name="adj" fmla="val 2909"/>
            </a:avLst>
          </a:prstGeom>
          <a:solidFill>
            <a:schemeClr val="bg2"/>
          </a:solidFill>
          <a:ln/>
        </p:spPr>
      </p:sp>
      <p:sp>
        <p:nvSpPr>
          <p:cNvPr id="18" name="Shape 15"/>
          <p:cNvSpPr/>
          <p:nvPr/>
        </p:nvSpPr>
        <p:spPr>
          <a:xfrm>
            <a:off x="6419088" y="1444752"/>
            <a:ext cx="914400" cy="329184"/>
          </a:xfrm>
          <a:prstGeom prst="roundRect">
            <a:avLst>
              <a:gd name="adj" fmla="val 50000"/>
            </a:avLst>
          </a:prstGeom>
          <a:solidFill>
            <a:schemeClr val="accent1"/>
          </a:solidFill>
          <a:ln/>
        </p:spPr>
      </p:sp>
      <p:sp>
        <p:nvSpPr>
          <p:cNvPr id="19" name="Text 16"/>
          <p:cNvSpPr txBox="1"/>
          <p:nvPr/>
        </p:nvSpPr>
        <p:spPr>
          <a:xfrm>
            <a:off x="6419088" y="1444752"/>
            <a:ext cx="914400" cy="329184"/>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제5장</a:t>
            </a:r>
            <a:endParaRPr lang="en-US" sz="1200" dirty="0"/>
          </a:p>
        </p:txBody>
      </p:sp>
      <p:sp>
        <p:nvSpPr>
          <p:cNvPr id="20" name="Text 17"/>
          <p:cNvSpPr txBox="1"/>
          <p:nvPr/>
        </p:nvSpPr>
        <p:spPr>
          <a:xfrm>
            <a:off x="6419088" y="1874520"/>
            <a:ext cx="2194560" cy="59436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배치의 데이터 기반 자동화</a:t>
            </a:r>
            <a:endParaRPr lang="en-US" sz="1500" dirty="0"/>
          </a:p>
        </p:txBody>
      </p:sp>
      <p:sp>
        <p:nvSpPr>
          <p:cNvPr id="21" name="Text 18"/>
          <p:cNvSpPr txBox="1"/>
          <p:nvPr/>
        </p:nvSpPr>
        <p:spPr>
          <a:xfrm>
            <a:off x="6419088" y="2514600"/>
            <a:ext cx="2194560" cy="123444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200" dirty="0">
                <a:solidFill>
                  <a:schemeClr val="tx1"/>
                </a:solidFill>
              </a:rPr>
              <a:t>AROMA: 형태·문맥 호환성 자동 도출</a:t>
            </a:r>
            <a:endParaRPr lang="en-US" sz="1200" dirty="0"/>
          </a:p>
          <a:p>
            <a:pPr marL="203200" indent="-203200">
              <a:lnSpc>
                <a:spcPct val="110000"/>
              </a:lnSpc>
              <a:spcAft>
                <a:spcPts val="500"/>
              </a:spcAft>
              <a:buSzPct val="100000"/>
              <a:buChar char="•"/>
            </a:pPr>
            <a:r>
              <a:rPr lang="en-US" sz="1200" dirty="0">
                <a:solidFill>
                  <a:schemeClr val="tx1"/>
                </a:solidFill>
              </a:rPr>
              <a:t>결함·배경·위치 순차 선정, 5개 도메인</a:t>
            </a:r>
            <a:endParaRPr lang="en-US" sz="1200" dirty="0"/>
          </a:p>
        </p:txBody>
      </p:sp>
      <p:sp>
        <p:nvSpPr>
          <p:cNvPr id="22" name="Shape 19"/>
          <p:cNvSpPr/>
          <p:nvPr/>
        </p:nvSpPr>
        <p:spPr>
          <a:xfrm>
            <a:off x="8833104" y="2532888"/>
            <a:ext cx="210312" cy="0"/>
          </a:xfrm>
          <a:prstGeom prst="line">
            <a:avLst/>
          </a:prstGeom>
          <a:noFill/>
          <a:ln w="19050">
            <a:solidFill>
              <a:srgbClr val="5B6B7A"/>
            </a:solidFill>
            <a:prstDash val="solid"/>
            <a:tailEnd type="triangle"/>
          </a:ln>
        </p:spPr>
      </p:sp>
      <p:sp>
        <p:nvSpPr>
          <p:cNvPr id="23" name="Shape 20"/>
          <p:cNvSpPr/>
          <p:nvPr/>
        </p:nvSpPr>
        <p:spPr>
          <a:xfrm>
            <a:off x="9079992" y="1280160"/>
            <a:ext cx="2560320" cy="2514600"/>
          </a:xfrm>
          <a:prstGeom prst="roundRect">
            <a:avLst>
              <a:gd name="adj" fmla="val 2909"/>
            </a:avLst>
          </a:prstGeom>
          <a:solidFill>
            <a:schemeClr val="bg2"/>
          </a:solidFill>
          <a:ln/>
        </p:spPr>
      </p:sp>
      <p:sp>
        <p:nvSpPr>
          <p:cNvPr id="24" name="Shape 21"/>
          <p:cNvSpPr/>
          <p:nvPr/>
        </p:nvSpPr>
        <p:spPr>
          <a:xfrm>
            <a:off x="9262872" y="1444752"/>
            <a:ext cx="914400" cy="329184"/>
          </a:xfrm>
          <a:prstGeom prst="roundRect">
            <a:avLst>
              <a:gd name="adj" fmla="val 50000"/>
            </a:avLst>
          </a:prstGeom>
          <a:solidFill>
            <a:schemeClr val="accent1"/>
          </a:solidFill>
          <a:ln/>
        </p:spPr>
      </p:sp>
      <p:sp>
        <p:nvSpPr>
          <p:cNvPr id="25" name="Text 22"/>
          <p:cNvSpPr txBox="1"/>
          <p:nvPr/>
        </p:nvSpPr>
        <p:spPr>
          <a:xfrm>
            <a:off x="9262872" y="1444752"/>
            <a:ext cx="914400" cy="329184"/>
          </a:xfrm>
          <a:prstGeom prst="rect">
            <a:avLst/>
          </a:prstGeom>
          <a:noFill/>
          <a:ln/>
        </p:spPr>
        <p:txBody>
          <a:bodyPr wrap="square" lIns="0" tIns="0" rIns="0" bIns="0" rtlCol="0" anchor="ctr"/>
          <a:lstStyle/>
          <a:p>
            <a:pPr algn="ctr" indent="0" marL="0">
              <a:lnSpc>
                <a:spcPct val="110000"/>
              </a:lnSpc>
              <a:buNone/>
            </a:pPr>
            <a:r>
              <a:rPr lang="en-US" sz="1200" b="1" dirty="0">
                <a:solidFill>
                  <a:schemeClr val="bg1"/>
                </a:solidFill>
              </a:rPr>
              <a:t>제6장</a:t>
            </a:r>
            <a:endParaRPr lang="en-US" sz="1200" dirty="0"/>
          </a:p>
        </p:txBody>
      </p:sp>
      <p:sp>
        <p:nvSpPr>
          <p:cNvPr id="26" name="Text 23"/>
          <p:cNvSpPr txBox="1"/>
          <p:nvPr/>
        </p:nvSpPr>
        <p:spPr>
          <a:xfrm>
            <a:off x="9262872" y="1874520"/>
            <a:ext cx="2194560" cy="594360"/>
          </a:xfrm>
          <a:prstGeom prst="rect">
            <a:avLst/>
          </a:prstGeom>
          <a:noFill/>
          <a:ln/>
        </p:spPr>
        <p:txBody>
          <a:bodyPr wrap="square" lIns="0" tIns="0" rIns="0" bIns="0" rtlCol="0" anchor="t"/>
          <a:lstStyle/>
          <a:p>
            <a:pPr algn="l" indent="0" marL="0">
              <a:lnSpc>
                <a:spcPct val="110000"/>
              </a:lnSpc>
              <a:buNone/>
            </a:pPr>
            <a:r>
              <a:rPr lang="en-US" sz="1500" b="1" dirty="0">
                <a:solidFill>
                  <a:schemeClr val="accent1"/>
                </a:solidFill>
              </a:rPr>
              <a:t>도메인 특화 문맥 인지 생성</a:t>
            </a:r>
            <a:endParaRPr lang="en-US" sz="1500" dirty="0"/>
          </a:p>
        </p:txBody>
      </p:sp>
      <p:sp>
        <p:nvSpPr>
          <p:cNvPr id="27" name="Text 24"/>
          <p:cNvSpPr txBox="1"/>
          <p:nvPr/>
        </p:nvSpPr>
        <p:spPr>
          <a:xfrm>
            <a:off x="9262872" y="2514600"/>
            <a:ext cx="2194560" cy="123444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200" dirty="0">
                <a:solidFill>
                  <a:schemeClr val="tx1"/>
                </a:solidFill>
              </a:rPr>
              <a:t>CASDA: 철강 특화 호환성 행렬</a:t>
            </a:r>
            <a:endParaRPr lang="en-US" sz="1200" dirty="0"/>
          </a:p>
          <a:p>
            <a:pPr marL="203200" indent="-203200">
              <a:lnSpc>
                <a:spcPct val="110000"/>
              </a:lnSpc>
              <a:spcAft>
                <a:spcPts val="500"/>
              </a:spcAft>
              <a:buSzPct val="100000"/>
              <a:buChar char="•"/>
            </a:pPr>
            <a:r>
              <a:rPr lang="en-US" sz="1200" dirty="0">
                <a:solidFill>
                  <a:schemeClr val="tx1"/>
                </a:solidFill>
              </a:rPr>
              <a:t>힌트·프롬프트를 생성 조건에 반영</a:t>
            </a:r>
            <a:endParaRPr lang="en-US" sz="1200" dirty="0"/>
          </a:p>
        </p:txBody>
      </p:sp>
      <p:sp>
        <p:nvSpPr>
          <p:cNvPr id="28" name="Shape 25"/>
          <p:cNvSpPr/>
          <p:nvPr/>
        </p:nvSpPr>
        <p:spPr>
          <a:xfrm>
            <a:off x="548640" y="4023360"/>
            <a:ext cx="2377440" cy="548640"/>
          </a:xfrm>
          <a:prstGeom prst="roundRect">
            <a:avLst>
              <a:gd name="adj" fmla="val 16667"/>
            </a:avLst>
          </a:prstGeom>
          <a:solidFill>
            <a:schemeClr val="accent1"/>
          </a:solidFill>
          <a:ln/>
        </p:spPr>
      </p:sp>
      <p:sp>
        <p:nvSpPr>
          <p:cNvPr id="29" name="Text 26"/>
          <p:cNvSpPr txBox="1"/>
          <p:nvPr/>
        </p:nvSpPr>
        <p:spPr>
          <a:xfrm>
            <a:off x="548640" y="4023360"/>
            <a:ext cx="2377440" cy="548640"/>
          </a:xfrm>
          <a:prstGeom prst="rect">
            <a:avLst/>
          </a:prstGeom>
          <a:noFill/>
          <a:ln/>
        </p:spPr>
        <p:txBody>
          <a:bodyPr wrap="square" lIns="0" tIns="0" rIns="0" bIns="0" rtlCol="0" anchor="ctr"/>
          <a:lstStyle/>
          <a:p>
            <a:pPr algn="ctr" indent="0" marL="0">
              <a:lnSpc>
                <a:spcPct val="110000"/>
              </a:lnSpc>
              <a:buNone/>
            </a:pPr>
            <a:r>
              <a:rPr lang="en-US" sz="1400" b="1" dirty="0">
                <a:solidFill>
                  <a:schemeClr val="bg1"/>
                </a:solidFill>
              </a:rPr>
              <a:t>P1  What to place</a:t>
            </a:r>
            <a:endParaRPr lang="en-US" sz="1400" dirty="0"/>
          </a:p>
        </p:txBody>
      </p:sp>
      <p:sp>
        <p:nvSpPr>
          <p:cNvPr id="30" name="Text 27"/>
          <p:cNvSpPr txBox="1"/>
          <p:nvPr/>
        </p:nvSpPr>
        <p:spPr>
          <a:xfrm>
            <a:off x="3108960" y="4023360"/>
            <a:ext cx="8503920" cy="548640"/>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제3장 결함 패치 생성 → 제6장 문맥 조건부 결함 생성</a:t>
            </a:r>
            <a:endParaRPr lang="en-US" sz="1400" dirty="0"/>
          </a:p>
        </p:txBody>
      </p:sp>
      <p:sp>
        <p:nvSpPr>
          <p:cNvPr id="31" name="Shape 28"/>
          <p:cNvSpPr/>
          <p:nvPr/>
        </p:nvSpPr>
        <p:spPr>
          <a:xfrm>
            <a:off x="548640" y="4709160"/>
            <a:ext cx="2377440" cy="548640"/>
          </a:xfrm>
          <a:prstGeom prst="roundRect">
            <a:avLst>
              <a:gd name="adj" fmla="val 16667"/>
            </a:avLst>
          </a:prstGeom>
          <a:solidFill>
            <a:schemeClr val="accent2"/>
          </a:solidFill>
          <a:ln/>
        </p:spPr>
      </p:sp>
      <p:sp>
        <p:nvSpPr>
          <p:cNvPr id="32" name="Text 29"/>
          <p:cNvSpPr txBox="1"/>
          <p:nvPr/>
        </p:nvSpPr>
        <p:spPr>
          <a:xfrm>
            <a:off x="548640" y="4709160"/>
            <a:ext cx="2377440" cy="548640"/>
          </a:xfrm>
          <a:prstGeom prst="rect">
            <a:avLst/>
          </a:prstGeom>
          <a:noFill/>
          <a:ln/>
        </p:spPr>
        <p:txBody>
          <a:bodyPr wrap="square" lIns="0" tIns="0" rIns="0" bIns="0" rtlCol="0" anchor="ctr"/>
          <a:lstStyle/>
          <a:p>
            <a:pPr algn="ctr" indent="0" marL="0">
              <a:lnSpc>
                <a:spcPct val="110000"/>
              </a:lnSpc>
              <a:buNone/>
            </a:pPr>
            <a:r>
              <a:rPr lang="en-US" sz="1400" b="1" dirty="0">
                <a:solidFill>
                  <a:schemeClr val="bg1"/>
                </a:solidFill>
              </a:rPr>
              <a:t>P2  Where to place</a:t>
            </a:r>
            <a:endParaRPr lang="en-US" sz="1400" dirty="0"/>
          </a:p>
        </p:txBody>
      </p:sp>
      <p:sp>
        <p:nvSpPr>
          <p:cNvPr id="33" name="Text 30"/>
          <p:cNvSpPr txBox="1"/>
          <p:nvPr/>
        </p:nvSpPr>
        <p:spPr>
          <a:xfrm>
            <a:off x="3108960" y="4709160"/>
            <a:ext cx="8503920" cy="548640"/>
          </a:xfrm>
          <a:prstGeom prst="rect">
            <a:avLst/>
          </a:prstGeom>
          <a:noFill/>
          <a:ln/>
        </p:spPr>
        <p:txBody>
          <a:bodyPr wrap="square" lIns="0" tIns="0" rIns="0" bIns="0" rtlCol="0" anchor="ctr"/>
          <a:lstStyle/>
          <a:p>
            <a:pPr algn="l" indent="0" marL="0">
              <a:lnSpc>
                <a:spcPct val="110000"/>
              </a:lnSpc>
              <a:buNone/>
            </a:pPr>
            <a:r>
              <a:rPr lang="en-US" sz="1400" dirty="0">
                <a:solidFill>
                  <a:schemeClr val="tx1"/>
                </a:solidFill>
              </a:rPr>
              <a:t>제4장 밝기 유사도 탐색 → 제5장 데이터 기반 호환성 자동화 → 제6장 철강 도메인 특화</a:t>
            </a:r>
            <a:endParaRPr lang="en-US" sz="1400" dirty="0"/>
          </a:p>
        </p:txBody>
      </p:sp>
      <p:sp>
        <p:nvSpPr>
          <p:cNvPr id="34" name="Shape 31"/>
          <p:cNvSpPr/>
          <p:nvPr/>
        </p:nvSpPr>
        <p:spPr>
          <a:xfrm>
            <a:off x="548640" y="5440680"/>
            <a:ext cx="11091672" cy="731520"/>
          </a:xfrm>
          <a:prstGeom prst="roundRect">
            <a:avLst>
              <a:gd name="adj" fmla="val 10000"/>
            </a:avLst>
          </a:prstGeom>
          <a:solidFill>
            <a:schemeClr val="accent1"/>
          </a:solidFill>
          <a:ln/>
        </p:spPr>
      </p:sp>
      <p:sp>
        <p:nvSpPr>
          <p:cNvPr id="35" name="Text 32"/>
          <p:cNvSpPr txBox="1"/>
          <p:nvPr/>
        </p:nvSpPr>
        <p:spPr>
          <a:xfrm>
            <a:off x="868680" y="5440680"/>
            <a:ext cx="10424160" cy="731520"/>
          </a:xfrm>
          <a:prstGeom prst="rect">
            <a:avLst/>
          </a:prstGeom>
          <a:noFill/>
          <a:ln/>
        </p:spPr>
        <p:txBody>
          <a:bodyPr wrap="square" lIns="0" tIns="0" rIns="0" bIns="0" rtlCol="0" anchor="ctr"/>
          <a:lstStyle/>
          <a:p>
            <a:pPr algn="l" indent="0" marL="0">
              <a:lnSpc>
                <a:spcPct val="110000"/>
              </a:lnSpc>
              <a:buNone/>
            </a:pPr>
            <a:r>
              <a:rPr lang="en-US" sz="1800" b="1" dirty="0">
                <a:solidFill>
                  <a:schemeClr val="bg1"/>
                </a:solidFill>
              </a:rPr>
              <a:t>결함의 생성 → 배경과 삽입 위치 → 생성 과정의 문맥까지 연구 범위를 확장</a:t>
            </a:r>
            <a:endParaRPr lang="en-US" sz="1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731520" y="2560320"/>
            <a:ext cx="10698480" cy="1188720"/>
          </a:xfrm>
          <a:prstGeom prst="rect">
            <a:avLst/>
          </a:prstGeom>
          <a:noFill/>
          <a:ln/>
        </p:spPr>
        <p:txBody>
          <a:bodyPr wrap="square" lIns="0" tIns="0" rIns="0" bIns="0" rtlCol="0" anchor="t"/>
          <a:lstStyle/>
          <a:p>
            <a:pPr algn="l" indent="0" marL="0">
              <a:buNone/>
            </a:pPr>
            <a:r>
              <a:rPr lang="en-US" sz="3600" b="1" dirty="0">
                <a:solidFill>
                  <a:schemeClr val="bg1"/>
                </a:solidFill>
              </a:rPr>
              <a:t>감사합니다</a:t>
            </a:r>
            <a:endParaRPr lang="en-US" sz="3600" dirty="0"/>
          </a:p>
        </p:txBody>
      </p:sp>
      <p:sp>
        <p:nvSpPr>
          <p:cNvPr id="3" name="Text 0"/>
          <p:cNvSpPr/>
          <p:nvPr>
            <p:ph idx="100" type="body" hasCustomPrompt="1"/>
          </p:nvPr>
        </p:nvSpPr>
        <p:spPr>
          <a:xfrm>
            <a:off x="731520" y="1920240"/>
            <a:ext cx="5486400" cy="548640"/>
          </a:xfrm>
          <a:prstGeom prst="rect">
            <a:avLst/>
          </a:prstGeom>
          <a:noFill/>
          <a:ln/>
        </p:spPr>
        <p:txBody>
          <a:bodyPr wrap="square" lIns="0" tIns="0" rIns="0" bIns="0" rtlCol="0"/>
          <a:lstStyle/>
          <a:p>
            <a:pPr indent="0" marL="0">
              <a:buNone/>
            </a:pPr>
            <a:r>
              <a:rPr lang="en-US" sz="2200" b="1" dirty="0">
                <a:solidFill>
                  <a:schemeClr val="accent2"/>
                </a:solidFill>
              </a:rPr>
              <a:t>질의응답</a:t>
            </a:r>
            <a:endParaRPr lang="en-US" sz="2200" dirty="0"/>
          </a:p>
        </p:txBody>
      </p:sp>
      <p:sp>
        <p:nvSpPr>
          <p:cNvPr id="4" name="Text 0"/>
          <p:cNvSpPr/>
          <p:nvPr>
            <p:ph idx="102" type="body" hasCustomPrompt="1"/>
          </p:nvPr>
        </p:nvSpPr>
        <p:spPr>
          <a:xfrm>
            <a:off x="731520" y="3931920"/>
            <a:ext cx="10698480" cy="731520"/>
          </a:xfrm>
          <a:prstGeom prst="rect">
            <a:avLst/>
          </a:prstGeom>
          <a:noFill/>
          <a:ln/>
        </p:spPr>
        <p:txBody>
          <a:bodyPr wrap="square" lIns="0" tIns="0" rIns="0" bIns="0" rtlCol="0"/>
          <a:lstStyle/>
          <a:p>
            <a:pPr indent="0" marL="0">
              <a:buNone/>
            </a:pPr>
            <a:r>
              <a:rPr lang="en-US" sz="1800" dirty="0">
                <a:solidFill>
                  <a:schemeClr val="accent4"/>
                </a:solidFill>
              </a:rPr>
              <a:t>한호준 · 한국기술교육대학교 일반대학원 컴퓨터공학과</a:t>
            </a:r>
            <a:endParaRPr lang="en-US" sz="1800" dirty="0"/>
          </a:p>
        </p:txBody>
      </p:sp>
    </p:spTree>
  </p:cSld>
  <p:clrMapOvr>
    <a:masterClrMapping/>
  </p:clrMapOvr>
</p:sld>
</file>

<file path=ppt/theme/theme1.xml><?xml version="1.0" encoding="utf-8"?>
<a:theme xmlns:a="http://schemas.openxmlformats.org/drawingml/2006/main" name="AROMA Defense">
  <a:themeElements>
    <a:clrScheme name="AROMA Defense">
      <a:dk1>
        <a:srgbClr val="1F2933"/>
      </a:dk1>
      <a:lt1>
        <a:srgbClr val="FFFFFF"/>
      </a:lt1>
      <a:dk2>
        <a:srgbClr val="143A3C"/>
      </a:dk2>
      <a:lt2>
        <a:srgbClr val="F1F3F5"/>
      </a:lt2>
      <a:accent1>
        <a:srgbClr val="0E7C7B"/>
      </a:accent1>
      <a:accent2>
        <a:srgbClr val="E8833A"/>
      </a:accent2>
      <a:accent3>
        <a:srgbClr val="5B6B7A"/>
      </a:accent3>
      <a:accent4>
        <a:srgbClr val="D3ECE9"/>
      </a:accent4>
      <a:accent5>
        <a:srgbClr val="FCE6D2"/>
      </a:accent5>
      <a:accent6>
        <a:srgbClr val="B54848"/>
      </a:accent6>
      <a:hlink>
        <a:srgbClr val="0E7C7B"/>
      </a:hlink>
      <a:folHlink>
        <a:srgbClr val="5B6B7A"/>
      </a:folHlink>
    </a:clrScheme>
    <a:fontScheme name="AROMA Defens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Context-Aware 데이터 증강 기반 산업용 결함 검출 연구</dc:title>
  <dc:subject>PptxGenJS Presentation</dc:subject>
  <dc:creator>한호준</dc:creator>
  <cp:lastModifiedBy>한호준</cp:lastModifiedBy>
  <cp:revision>1</cp:revision>
  <dcterms:created xsi:type="dcterms:W3CDTF">2026-10-29T23:58:45Z</dcterms:created>
  <dcterms:modified xsi:type="dcterms:W3CDTF">2026-10-29T23:58:45Z</dcterms:modified>
</cp:coreProperties>
</file>